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RegVault</c:v>
                </c:pt>
              </c:strCache>
            </c:strRef>
          </c:tx>
          <c:spPr>
            <a:solidFill>
              <a:srgbClr val="B31B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11418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Point-in-time</c:v>
                  </c:pt>
                  <c:pt idx="1">
                    <c:v>Cross-reference</c:v>
                  </c:pt>
                  <c:pt idx="2">
                    <c:v>Stale policy</c:v>
                  </c:pt>
                  <c:pt idx="3">
                    <c:v>Abstention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Standard RAG</c:v>
                </c:pt>
              </c:strCache>
            </c:strRef>
          </c:tx>
          <c:spPr>
            <a:solidFill>
              <a:srgbClr val="9AA3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11418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Point-in-time</c:v>
                  </c:pt>
                  <c:pt idx="1">
                    <c:v>Cross-reference</c:v>
                  </c:pt>
                  <c:pt idx="2">
                    <c:v>Stale policy</c:v>
                  </c:pt>
                  <c:pt idx="3">
                    <c:v>Abstention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0</c:v>
                </c:pt>
                <c:pt idx="2">
                  <c:v>0</c:v>
                </c:pt>
                <c:pt idx="3">
                  <c:v>86.4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11418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418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F6B76"/>
              </a:solidFill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Paper-style title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02920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VIETNAM AI INNOVATION CHALLENGE 2026  —  PROBLEM SHB1  ·  CHECK-POINT 1: IDEA 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43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B3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RegVault: </a:t>
            </a:r>
            <a:pPr algn="ctr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Verified Regulatory Knowledge Base and Auditable</a:t>
            </a:r>
            <a:endParaRPr lang="en-US" sz="27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Review Platform for Vietnamese Banks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230428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VAIC 2026 competition team — SHB track · July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83080" y="2788920"/>
            <a:ext cx="8622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2871216"/>
            <a:ext cx="8622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11680" y="3200400"/>
            <a:ext cx="8165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compliance officers spend 2–3 hours daily manually cross-checking thousands of documents amended in overlapping ways; ordinary RAG chatbots answer fluently from expired versions. We built RegVault: a temporal knowledge graph with reified ChangeEvents, validity filtering before retrieval, deterministic amendment patching, and human review of every change — the LLM only writes explanations over a filtered evidence package. On a 22-question golden set the system reaches 100% point-in-time accuracy (vs. 75% for standard RAG) and 100% cross-reference recall (vs. 0%), backed by 97 automated tests. Conclusion: AI proposes — the Compliance Officer decides.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783080" y="4956048"/>
            <a:ext cx="8622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5120640"/>
            <a:ext cx="8622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Keywords:  </a:t>
            </a:r>
            <a:pPr algn="ctr" indent="0" marL="0">
              <a:buNone/>
            </a:pPr>
            <a:r>
              <a:rPr lang="en-US" sz="95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knowledge graph · deterministic patching · human-in-the-loop · evidence trace · auditable RAG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3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proposes — the Compliance Officer decides.”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 · THE PROBLEM — FROM THE SHB1 BRIEF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347472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 answer fluently — from regulations that no longer apply.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10908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AT SHB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4140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SBV · Government · Basel — internal &amp; external [1]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3200400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712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REGULATION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Amended ×N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37124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clauses partially superseded across documents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4059936"/>
            <a:ext cx="3200400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696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OFFICER, LOST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44074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h/day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" y="50109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cross-checking [1]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0" y="1554480"/>
            <a:ext cx="7251192" cy="2880360"/>
          </a:xfrm>
          <a:prstGeom prst="rect">
            <a:avLst/>
          </a:prstGeom>
          <a:solidFill>
            <a:srgbClr val="F5F6F8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828800"/>
            <a:ext cx="2971800" cy="685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114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828800"/>
            <a:ext cx="29718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— VND 500,000,000</a:t>
            </a:r>
            <a:endParaRPr lang="en-US" sz="76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[2025-06-01 → 2026-07-01)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8183880" y="1828800"/>
            <a:ext cx="2971800" cy="685800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1828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— VND 700,000,000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[2026-07-01 → ∞)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6492240" cy="0"/>
          </a:xfrm>
          <a:prstGeom prst="line">
            <a:avLst/>
          </a:prstGeom>
          <a:noFill/>
          <a:ln w="15875">
            <a:solidFill>
              <a:srgbClr val="1114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788920"/>
            <a:ext cx="0" cy="182880"/>
          </a:xfrm>
          <a:prstGeom prst="line">
            <a:avLst/>
          </a:prstGeom>
          <a:noFill/>
          <a:ln w="15875">
            <a:solidFill>
              <a:srgbClr val="1114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788920"/>
            <a:ext cx="0" cy="182880"/>
          </a:xfrm>
          <a:prstGeom prst="line">
            <a:avLst/>
          </a:prstGeom>
          <a:noFill/>
          <a:ln w="15875">
            <a:solidFill>
              <a:srgbClr val="1114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2788920"/>
            <a:ext cx="0" cy="182880"/>
          </a:xfrm>
          <a:prstGeom prst="line">
            <a:avLst/>
          </a:prstGeom>
          <a:noFill/>
          <a:ln w="15875">
            <a:solidFill>
              <a:srgbClr val="1114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017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06/2025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818120" y="3017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01/07/2026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515600" y="3017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126480" y="2542032"/>
            <a:ext cx="0" cy="868680"/>
          </a:xfrm>
          <a:prstGeom prst="line">
            <a:avLst/>
          </a:prstGeom>
          <a:noFill/>
          <a:ln w="12700">
            <a:solidFill>
              <a:srgbClr val="B31B1B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66344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standard chatbot cites V1 — the expired version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646920" y="2542032"/>
            <a:ext cx="0" cy="1417320"/>
          </a:xfrm>
          <a:prstGeom prst="line">
            <a:avLst/>
          </a:prstGeom>
          <a:noFill/>
          <a:ln w="12700">
            <a:solidFill>
              <a:srgbClr val="1E7A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RegVault cites V2 — with citation &amp; timeline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97680" y="4590288"/>
            <a:ext cx="72511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4636008"/>
            <a:ext cx="7251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1 — The “500 → 700” trap: one amendment, two versions — standard RAG does not know which one it cites.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541324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“Conventional RAG systems cannot accurately model these relationships, leading to answers based on outdated regulations and significant compliance risk… difficult even for many leading global financial institutions.”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610819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SHB1 Problem Statement, Vietnam AI Innovation Challenge 2026.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40080" y="6455664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— Check-point 1: Idea Evaluation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881360" y="651052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 · PROJECT NAME &amp; DESCRIPTION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347472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RegVault = Regulation + Vault.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10908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RegVault</a:t>
            </a:r>
            <a:pPr algn="just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helps a bank’s Legal &amp; Compliance team build a </a:t>
            </a:r>
            <a:pPr algn="just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repository of regulations</a:t>
            </a:r>
            <a:pPr algn="just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parsed to Article/Clause/Point, versioned over time, every change human-reviewed — then uses that same repository to </a:t>
            </a:r>
            <a:pPr algn="just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the impact of new regulations</a:t>
            </a:r>
            <a:pPr algn="just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pPr algn="just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internal policies and reports for compliance</a:t>
            </a:r>
            <a:pPr algn="just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Every conclusion carries a version, an effective date, evidence and a review status.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 verifies regulations before they enter the vault; a second flow uses the verified vault to review policies and reports.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892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B3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document becomes legal ground truth just because it was uploaded.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23951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700784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1 — LEGAL GROUND TRUTH AT DATE 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5056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is_ground_truth(doc, d) :=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trust_class = AUTHORITY_SOURCE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∧ status      = APPROVED ∧ ACTIVE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∧ valid_from ≤ d &lt; valid_to_exclusive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3127248"/>
            <a:ext cx="5239512" cy="0"/>
          </a:xfrm>
          <a:prstGeom prst="line">
            <a:avLst/>
          </a:prstGeom>
          <a:noFill/>
          <a:ln w="9525">
            <a:solidFill>
              <a:srgbClr val="1114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10128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REGULATORY SOURCE LIFECYCLE (state machine)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0" y="3584448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 → QUARANTINED → EXTRACTED → PARSED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REVIEW_REQUIRED → APPROVED → ACTIVE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0" y="4224528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REVIEW_TARGET documents follow a separate machine — they never enter the legal vault.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4800600"/>
            <a:ext cx="5239512" cy="0"/>
          </a:xfrm>
          <a:prstGeom prst="line">
            <a:avLst/>
          </a:prstGeom>
          <a:noFill/>
          <a:ln w="9525">
            <a:solidFill>
              <a:srgbClr val="1114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983480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“VAULT”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0" y="5257800"/>
            <a:ext cx="5056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vault holds only what has been verified — and can prove what was inside on any given date.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6455664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— Check-point 1: Idea Evaluation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881360" y="651052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2 · PRODUCT CONCEPT — 3 LEVELS OF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347472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product levels: we sell certainty, not answers.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10908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4206240" cy="4206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331720"/>
            <a:ext cx="2926080" cy="2926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F6B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2926080"/>
            <a:ext cx="1737360" cy="1737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4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3337560"/>
            <a:ext cx="914400" cy="91440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3337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7647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AUGMENTED PRODUCT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25880" y="24048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PRODUCT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5989320"/>
            <a:ext cx="4297680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035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2 — Three levels of product (after Kotler).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160020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CORE VALUE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0" y="1856232"/>
            <a:ext cx="5879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provision, in the right version, at the right point in time — with evidence the bank can defend before auditors and SBV inspectors. Gives every officer 2–3 hours/day back.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852928"/>
            <a:ext cx="58795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0175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ACTUAL PRODUCT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0" y="3273552"/>
            <a:ext cx="5879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workflows (add regulatory source · check document compliance) · “why this answer” panel · live head-to-head vs Standard RAG · Compliance-Gap Radar · Vietnamese legal number/date normalizer · knowledge graph &amp; clause timeline · audit log, RBAC. Stack: FastAPI · PostgreSQL · OpenSearch · Neo4j · Docker.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4544568"/>
            <a:ext cx="58795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47091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AUGMENTED PRODUCT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0" y="4965192"/>
            <a:ext cx="5879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human-review inbox · full audit trail for inspections · SBV/VBPL crawler keeps the vault current · Regulatory Impact &amp; Compliance Review reports · on-premise deployment (documents never leave the bank) · onboarding + benchmark-based acceptance.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6455664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— Check-point 1: Idea Evaluation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881360" y="651052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2 · PRODUCT CONCEPT — IN OPERATION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347472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workflows, one hard gate.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10908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A — ADD REGULATORY SOURCE  (the write path)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389888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114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47088"/>
            <a:ext cx="138988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2011680" y="1847088"/>
            <a:ext cx="2514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26564" y="1847088"/>
            <a:ext cx="1389888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114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6564" y="1847088"/>
            <a:ext cx="138988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Injection</a:t>
            </a:r>
            <a:endParaRPr lang="en-US" sz="76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3598164" y="1847088"/>
            <a:ext cx="2514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13048" y="1847088"/>
            <a:ext cx="1389888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114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3048" y="1847088"/>
            <a:ext cx="138988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</a:t>
            </a:r>
            <a:endParaRPr lang="en-US" sz="76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Art./Clause/Pt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5184648" y="1847088"/>
            <a:ext cx="2514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9532" y="1847088"/>
            <a:ext cx="1389888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114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9532" y="1847088"/>
            <a:ext cx="138988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76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6771132" y="1847088"/>
            <a:ext cx="2514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86016" y="1847088"/>
            <a:ext cx="1389888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B31B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1847088"/>
            <a:ext cx="138988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</a:t>
            </a:r>
            <a:endParaRPr lang="en-US" sz="76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409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8357616" y="1847088"/>
            <a:ext cx="2514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72500" y="1847088"/>
            <a:ext cx="1389888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114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72500" y="1847088"/>
            <a:ext cx="138988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+</a:t>
            </a:r>
            <a:endParaRPr lang="en-US" sz="76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ChangeEvent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9944100" y="1847088"/>
            <a:ext cx="2514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58984" y="1847088"/>
            <a:ext cx="1389888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114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58984" y="1847088"/>
            <a:ext cx="138988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6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640080" y="2724912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B — CHECK DOCUMENT COMPLIANCE  (the read path — REVIEW_TARGET never enters the vault)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" y="2999232"/>
            <a:ext cx="2011680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114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999232"/>
            <a:ext cx="20116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</a:t>
            </a:r>
            <a:endParaRPr lang="en-US" sz="76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REVIEW_TARGET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2633472" y="2999232"/>
            <a:ext cx="2514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48356" y="2999232"/>
            <a:ext cx="2011680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114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48356" y="2999232"/>
            <a:ext cx="20116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claims</a:t>
            </a:r>
            <a:endParaRPr lang="en-US" sz="76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(amt · % · deadline)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4841748" y="2999232"/>
            <a:ext cx="2514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56632" y="2999232"/>
            <a:ext cx="2011680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114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6632" y="2999232"/>
            <a:ext cx="20116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 approved</a:t>
            </a:r>
            <a:endParaRPr lang="en-US" sz="76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review date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7050024" y="2999232"/>
            <a:ext cx="2514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64908" y="2999232"/>
            <a:ext cx="2011680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114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4908" y="2999232"/>
            <a:ext cx="20116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</a:t>
            </a:r>
            <a:endParaRPr lang="en-US" sz="76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9258300" y="2999232"/>
            <a:ext cx="2514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473184" y="2999232"/>
            <a:ext cx="2011680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114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73184" y="2999232"/>
            <a:ext cx="20116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76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6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 by claim</a:t>
            </a:r>
            <a:endParaRPr lang="en-US" sz="760" dirty="0"/>
          </a:p>
        </p:txBody>
      </p:sp>
      <p:sp>
        <p:nvSpPr>
          <p:cNvPr id="42" name="Text 40"/>
          <p:cNvSpPr/>
          <p:nvPr/>
        </p:nvSpPr>
        <p:spPr>
          <a:xfrm>
            <a:off x="640080" y="3858768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OUTPUT STATUSES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0080" y="40965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COMPLIANT</a:t>
            </a:r>
            <a:pPr indent="0" marL="0">
              <a:buNone/>
            </a:pPr>
            <a:r>
              <a:rPr lang="en-US" sz="900" dirty="0">
                <a:solidFill>
                  <a:srgbClr val="C9C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indent="0" marL="0">
              <a:buNone/>
            </a:pPr>
            <a:r>
              <a:rPr lang="en-US" sz="90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NON_COMPLIANT</a:t>
            </a:r>
            <a:pPr indent="0" marL="0">
              <a:buNone/>
            </a:pPr>
            <a:r>
              <a:rPr lang="en-US" sz="900" dirty="0">
                <a:solidFill>
                  <a:srgbClr val="C9C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PARTIALLY_COMPLIANT</a:t>
            </a:r>
            <a:pPr indent="0" marL="0">
              <a:buNone/>
            </a:pPr>
            <a:r>
              <a:rPr lang="en-US" sz="900" dirty="0">
                <a:solidFill>
                  <a:srgbClr val="C9C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indent="0" marL="0">
              <a:buNone/>
            </a:pPr>
            <a:r>
              <a:rPr lang="en-US" sz="90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OUTDATED_REFERENCE</a:t>
            </a:r>
            <a:pPr indent="0" marL="0">
              <a:buNone/>
            </a:pPr>
            <a:r>
              <a:rPr lang="en-US" sz="900" dirty="0">
                <a:solidFill>
                  <a:srgbClr val="C9C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MISSING_EVIDENCE</a:t>
            </a:r>
            <a:pPr indent="0" marL="0">
              <a:buNone/>
            </a:pPr>
            <a:r>
              <a:rPr lang="en-US" sz="900" dirty="0">
                <a:solidFill>
                  <a:srgbClr val="C9C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AMBIGUOUS</a:t>
            </a:r>
            <a:pPr indent="0" marL="0">
              <a:buNone/>
            </a:pPr>
            <a:r>
              <a:rPr lang="en-US" sz="900" dirty="0">
                <a:solidFill>
                  <a:srgbClr val="C9C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NEEDS_HUMAN_REVIEW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" y="4526280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572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3 — The two pipelines; the LLM only extracts &amp; explains — it never decides validity, version or citation.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" y="5120640"/>
            <a:ext cx="5349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“WHY” PANEL —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used + excluded sources with reasons (NOT_VALID_AT_QUERY_DATE / SUPERSEDED / NOT_APPROVED)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17920" y="5120640"/>
            <a:ext cx="5349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HEAD-TO-HEAD —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/compare endpoint: Standard RAG fails live next to our cited answer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0080" y="5779008"/>
            <a:ext cx="5349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COMPLIANCE-GAP RADAR —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 changes → internal policies aligned to the old version flagged STALE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17920" y="5779008"/>
            <a:ext cx="5349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VN LEGAL NORMALIZER —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“500 triệu” = “500.000.000” = “0.5 tỷ” + Vietnamese dates — without it every comparison fails silently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0080" y="6455664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— Check-point 1: Idea Evaluation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0881360" y="651052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3 · TARGET CUSTOMER (B2B) — CUSTOMER PERSONA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347472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“My signature is on every compliance opinion.”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10908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898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3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Ms. Thu Hà — Head of Legal &amp; Compliance, joint-stock commercial bank, Hanoi (segment persona).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34015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360273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Female, 41 · LL.M. Banking Law · 15 yrs in banking · leads ~25 officers · ~70M VND/month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1513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INFLUENCE CHANNELS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43525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SBV portal · VBPL · thuvienphapluat · legal-officer Zalo groups · VNBA seminars · Big-4 notes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9011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51023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line for legal tooling; buys when risk reduction is measurable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56509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B2B BUYING UNIT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58521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= officer · Buyer = Head/CCO · Veto = CTO/CISO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1481328"/>
            <a:ext cx="697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1 — Target customer persona.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783080"/>
          <a:ext cx="69768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583387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Dimension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Detail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Hopes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Zero findings in the next SBV inspection · team does judgment, not manual cross-checking · compliance seen as an enabler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Behaviour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Scans new SBV/Gov. documents every morning · assigns impact-tracing on internal policies · signs compliance opinions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B31B1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Fears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31B1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Citing 500M where the rule says 700M · missing one policy when an amendment touches 5 articles/3 documents · conclusions without evidence · AI-invented citations · data leaving the bank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Looking for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Always the in-force version · excluded sources shown with reasons · humans keep the final call · runs inside the bank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Value received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New circular → automatic impact report · drafts → one-click claim-level check · every conclusion → a defensible evidence package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40080" y="6455664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— Check-point 1: Idea Evaluation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0881360" y="651052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4.1 ·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347472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innovation is what the LLM is not allowed to do.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10908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813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2 — Comparison with what exists today (● yes · ○ no).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943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77240"/>
                <a:gridCol w="777240"/>
                <a:gridCol w="777240"/>
                <a:gridCol w="777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Criterion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Legal DBs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Std RAG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Global GRC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RegVault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Automated impact analysis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○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○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●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31B1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●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Point-in-time version correctness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○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○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○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31B1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●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Audit trail + excluded sources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○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○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○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31B1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●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Art./Clause/Pt + Vietnamese legal text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●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○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○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31B1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●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Human keeps the final decision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●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3A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○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●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31B1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●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617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DBs: thuvienphapluat, LuatVietnam — broad but search-only. Global GRC: Thomson Reuters, Wolters Kluwer — costly, cloud-only.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949440" y="1572768"/>
            <a:ext cx="4599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CONTRIBUTIONS (5)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949440" y="1874520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knowledge graph with reified ChangeEvents — amendments as first-class nodes with evidence, before/after, effective dates.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949440" y="2679192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(ii)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Validity filtering BEFORE top-k retrieval — designs out version conflation, RAG’s classic silent failure.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949440" y="3483864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(iii)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patching — the LLM never rewrites legal text; ambiguity forces human review.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49440" y="4288536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(iv)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“caged LLM” + evidence trace: no version choice, no self-made citations; excluded sources shown with reasons.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949440" y="5093208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(v)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Vietnamese legal number/date normalizer + benchmark-in-product (/compare).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60350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 4.0 technologies used: AI · Big Data &amp; Analytics · Knowledge Graph · Cloud · Cybersecurity · Everything-as-a-Service.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0080" y="6455664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— Check-point 1: Idea Evaluation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0881360" y="651052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4.2 · FEASIBILITY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347472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plan — the system runs, and proves itself.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10908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TESTS PASSING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8379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covering the full pipeline (pytest)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29000" y="16002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DATA FROM SBV/VBPL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29000" y="18379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 / 30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24414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NHNN documents · mined amendment relations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64408" y="1645920"/>
            <a:ext cx="0" cy="123444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002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 GATE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17920" y="18379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409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24414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 un-reviewed sources — demonstrable live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53328" y="1645920"/>
            <a:ext cx="0" cy="123444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6002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DEPENDENCIES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006840" y="18379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06840" y="24414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Docker, no API keys — both workflows still run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42248" y="1645920"/>
            <a:ext cx="0" cy="123444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154680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474720"/>
            <a:ext cx="5577840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8444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SELLING PROPOSITION (USP)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3913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i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answer is point-in-time correct and auditable — AI proposes, the Compliance Officer decides.”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" y="4937760"/>
            <a:ext cx="5577840" cy="0"/>
          </a:xfrm>
          <a:prstGeom prst="line">
            <a:avLst/>
          </a:prstGeom>
          <a:noFill/>
          <a:ln w="9525">
            <a:solidFill>
              <a:srgbClr val="1114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1206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need trustworthy, version-correct answers; competitors are either broad but manual (legal DBs) or fluent but untrustworthy (generic AI). RegVault stands alone in the intersection.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0" y="3383280"/>
            <a:ext cx="1783080" cy="1783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33832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4297680"/>
            <a:ext cx="178308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uniquely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well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18972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competitors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well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001000" y="5760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want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394192" y="4352544"/>
            <a:ext cx="310896" cy="310896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34" name="Text 32"/>
          <p:cNvSpPr/>
          <p:nvPr/>
        </p:nvSpPr>
        <p:spPr>
          <a:xfrm>
            <a:off x="8065008" y="46817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58000" y="5989320"/>
            <a:ext cx="469087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603504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4 — The USP winning zone.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6455664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— Check-point 1: Idea Evaluation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881360" y="651052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4.2 · FEASIBILITY — RESOURCES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347472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10908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4475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3 — The nine-block business model.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2112264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9222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PARTNERS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192938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legal data SBV/VBPL · SHB (design partner &amp; pilot) · LLM providers (swappable) · on-prem/cloud infra · mentors, VNBA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862072" y="1737360"/>
            <a:ext cx="2112264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79222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ACTIVITIES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53512" y="2011680"/>
            <a:ext cx="19293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Golden-domain corpus onboarding · parser &amp; VN normalizer upkeep · security, evals · compliance-team success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862072" y="3410712"/>
            <a:ext cx="2112264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3512" y="3465576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RESOURCES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53512" y="3685032"/>
            <a:ext cx="19293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graph + deterministic patch engine (moat) · eval harness + golden set · SBV crawler · 97-test net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084064" y="1737360"/>
            <a:ext cx="2112264" cy="3291840"/>
          </a:xfrm>
          <a:prstGeom prst="rect">
            <a:avLst/>
          </a:prstGeom>
          <a:solidFill>
            <a:srgbClr val="F5F6F8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75504" y="179222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PROPOSITION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175504" y="2011680"/>
            <a:ext cx="192938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Point-in-time-correct, auditable answers · automatic impact reports · claim-level checks · 2–3 h/day saved per officer · inspection-ready evidence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306056" y="1737360"/>
            <a:ext cx="2112264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7496" y="179222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RELATIONSHIPS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397496" y="2011680"/>
            <a:ext cx="19293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1 golden domain (~6 weeks) · annual license + SLA · expand domains, departments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7306056" y="3410712"/>
            <a:ext cx="2112264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7496" y="3465576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397496" y="3685032"/>
            <a:ext cx="19293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B2B to Legal &amp; Compliance · VNBA · VAIC/SHB showcase · Big-4 referrals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9528048" y="1737360"/>
            <a:ext cx="2112264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19488" y="179222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SEGMENTS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619488" y="2011680"/>
            <a:ext cx="192938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Vietnamese credit institutions — start with mid/large JSC banks · next: finance cos. · later: securities, insurance, other regulated industries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640080" y="5084064"/>
            <a:ext cx="550468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138928"/>
            <a:ext cx="5321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STRUCTURE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31520" y="5358384"/>
            <a:ext cx="5321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team · enterprise sales cycle · LLM API (low: LLM only extracts &amp; explains) · infra, security certification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6199632" y="5084064"/>
            <a:ext cx="54406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513892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STREAMS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91072" y="5358384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license per institution (0.5–2 bn VND) · implementation &amp; onboarding fee · usage-based review packs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640080" y="6455664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— Check-point 1: Idea Evaluation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881360" y="651052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4.3 · BIG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347472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mid-size bank gets back ≈19,000 expert hours a year.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10908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B3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≈19,000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 HOURS / YEAR / BANK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340156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officers × 2.5 h/day × 252 working days ≈ 18,900 hours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2.8 bn VND/year of expert time value [2]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redirected from manual cross-checking to judgment — before counting a single avoided fine or inspection finding.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239512" cy="0"/>
          </a:xfrm>
          <a:prstGeom prst="line">
            <a:avLst/>
          </a:prstGeom>
          <a:noFill/>
          <a:ln w="19050">
            <a:solidFill>
              <a:srgbClr val="1114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737360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FINANCIAL-SYSTEM SAFETY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309360" y="1984248"/>
            <a:ext cx="5239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13000"/>
              </a:lnSpc>
              <a:buNone/>
            </a:pPr>
            <a:r>
              <a:rPr lang="en-US" sz="98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 the root cause SHB named: decisions on outdated regulations. Fewer violations and fines; smoother supervision. Bank compliance failures propagate to the whole economy — prevention is systemic impact.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309360" y="3081528"/>
            <a:ext cx="523951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218688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RESPONSIBLE-AI TEMPLATE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09360" y="3465576"/>
            <a:ext cx="5239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13000"/>
              </a:lnSpc>
              <a:buNone/>
            </a:pPr>
            <a:r>
              <a:rPr lang="en-US" sz="98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proposes, human decides” + audit trails form a reusable model for AI in high-stakes public domains (tax, customs, health regulation) — aligned with the national digital-transformation agenda. When evidence is missing, abstain.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309360" y="4562856"/>
            <a:ext cx="523951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700016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SUSTAINABILITY &amp; ESG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09360" y="4946904"/>
            <a:ext cx="5239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13000"/>
              </a:lnSpc>
              <a:buNone/>
            </a:pPr>
            <a:r>
              <a:rPr lang="en-US" sz="98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knowledge stops living in senior officers’ heads: versions, changes and rationale are preserved. Faster onboarding, turnover-resilient; auditable decisions strengthen the “G” in ESG.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Assumptions: 2.5 h/day per SHB estimate (2–3 h); 150,000 VND/expert-hour; 30 officers per mid-size bank.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40080" y="6455664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— Check-point 1: Idea Evaluation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881360" y="651052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4.4 · MARKET SIZE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347472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$22.3B global market to an attainable 15bn-VND ARR in 3 years.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10908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03120"/>
            <a:ext cx="3566160" cy="3566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" y="3063240"/>
            <a:ext cx="2606040" cy="2606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31620" y="3977640"/>
            <a:ext cx="1691640" cy="1691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F6B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4754880"/>
            <a:ext cx="914400" cy="914400"/>
          </a:xfrm>
          <a:prstGeom prst="ellipse">
            <a:avLst/>
          </a:prstGeom>
          <a:solidFill>
            <a:srgbClr val="B31B1B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176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63040" y="31363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63040" y="40325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20240" y="5047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5870448"/>
            <a:ext cx="3749040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916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5 — The four market rings.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481328"/>
            <a:ext cx="6793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4 — Market estimate (formulas shown in full).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793992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011680"/>
                <a:gridCol w="2724912"/>
                <a:gridCol w="1371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Ring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Scope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Formula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Value/yr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PAM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Global RegTech [3]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2026 → 2035, CAGR 16.1%; APAC fastest ~18.5%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$22.3B → $85.5B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TAM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~225 VN financial institutions [4]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(49 banks × 2bn) + (176 NBFIs × 0.5bn VND)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≈190bn VND (~$7.5M)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SAM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 directly reachable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(35 domestic banks + 16 finance cos.) × avg 1.5bn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≈75bn VND (~$3M)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SOM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 customers / 3 years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114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(SHB + 9 institutions) × 1.5bn ≈ 20% of SAM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B31B1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≈15bn VND ARR</a:t>
                      </a:r>
                      <a:endParaRPr lang="en-US" sz="8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114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754880" y="4892040"/>
            <a:ext cx="6793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B3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check: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saved ≈2.8bn VND/yr per bank vs a 1.5bn license → ~1.9× ROI before any avoided fine.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" y="614476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Precedence Research, RegTech Market, 2026.   [4] bankervn.com (49 banks, 07/2026); pricing assumptions stated in CHECKPOINT1.md.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40080" y="6455664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— Check-point 1: Idea Evaluation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0881360" y="651052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4.5 · SCALE-UP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347472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by adding data, not code.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10908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743200"/>
            <a:ext cx="10908792" cy="0"/>
          </a:xfrm>
          <a:prstGeom prst="line">
            <a:avLst/>
          </a:prstGeom>
          <a:noFill/>
          <a:ln w="15875">
            <a:solidFill>
              <a:srgbClr val="1114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633472"/>
            <a:ext cx="0" cy="219456"/>
          </a:xfrm>
          <a:prstGeom prst="line">
            <a:avLst/>
          </a:prstGeom>
          <a:noFill/>
          <a:ln w="15875">
            <a:solidFill>
              <a:srgbClr val="1114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SHB pilot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999232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golden domain (credit), deep · inspection-ready evidence · benchmark-based acceptance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657600" y="2633472"/>
            <a:ext cx="0" cy="219456"/>
          </a:xfrm>
          <a:prstGeom prst="line">
            <a:avLst/>
          </a:prstGeom>
          <a:noFill/>
          <a:ln w="15875">
            <a:solidFill>
              <a:srgbClr val="1114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Vietnamese banking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999232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institutions (SOM target) · new domains: FX, AML, capital · OCR for scans, DOCX/PDF export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355080" y="2633472"/>
            <a:ext cx="0" cy="219456"/>
          </a:xfrm>
          <a:prstGeom prst="line">
            <a:avLst/>
          </a:prstGeom>
          <a:noFill/>
          <a:ln w="15875">
            <a:solidFill>
              <a:srgbClr val="1114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Regulated verticals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2999232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Securities, insurance, pharma, energy · same engine, new corpora · per-document API pricing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052560" y="2633472"/>
            <a:ext cx="0" cy="219456"/>
          </a:xfrm>
          <a:prstGeom prst="line">
            <a:avLst/>
          </a:prstGeom>
          <a:noFill/>
          <a:ln w="15875">
            <a:solidFill>
              <a:srgbClr val="1114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2029+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0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0" y="2999232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Language-agnostic core · swap normalizer + parser patterns · APAC fastest-growing (18.5%)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40080" y="4343400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891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6 — The four-wave expansion roadmap.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4892040"/>
            <a:ext cx="5394960" cy="0"/>
          </a:xfrm>
          <a:prstGeom prst="line">
            <a:avLst/>
          </a:prstGeom>
          <a:noFill/>
          <a:ln w="9525">
            <a:solidFill>
              <a:srgbClr val="1114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0292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SCALES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5285232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a new bank or domain = loading documents through Workflow A — no new code. Separated indexes (authority/policy/workspace), outbox sync, PostgreSQL as source of truth. One codebase → per-bank on-premise or multi-tenant SaaS; no LLM vendor lock-in.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4892040"/>
            <a:ext cx="5148072" cy="0"/>
          </a:xfrm>
          <a:prstGeom prst="line">
            <a:avLst/>
          </a:prstGeom>
          <a:noFill/>
          <a:ln w="9525">
            <a:solidFill>
              <a:srgbClr val="1114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5029200"/>
            <a:ext cx="5148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CORE SCALE-UP PRIORITIES — COVERED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0" y="5321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Strategy: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compliance AI; audit = moat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052560" y="5321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regulated industry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0" y="56692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People: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SMEs + AI engineers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052560" y="56692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Infrastructure: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containerized; no storage/LLM lock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0" y="6016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Execution: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pilot→license playbook ~6 weeks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052560" y="6016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Finance: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 funds growth; low LLM cost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6455664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— Check-point 1: Idea Evaluation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881360" y="651052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5 · EVIDENCE &amp; LIMITS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347472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85216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code decides — true no matter which LLM writes the prose.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1090879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1600200"/>
          <a:ext cx="5943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029200"/>
            <a:ext cx="5943600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074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7 — 22-question golden-set benchmark (%; higher is better). Also: superseded-evidence rate 26.3% vs 52.6% (lower is better). Reproduce: python -m eval.run_eval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9/9 deterministic acceptance checks pass live — point-in-time, citations, abstention, 700/600 conflict flag, policy radar, head-to-head.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949440" y="1600200"/>
            <a:ext cx="4599432" cy="0"/>
          </a:xfrm>
          <a:prstGeom prst="line">
            <a:avLst/>
          </a:prstGeom>
          <a:noFill/>
          <a:ln w="19050">
            <a:solidFill>
              <a:srgbClr val="1114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1737360"/>
            <a:ext cx="4599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3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DO NOT CLAIM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949440" y="2057400"/>
            <a:ext cx="4599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“GraphRAG chatbot” — a compliance workflow platform.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49440" y="2679192"/>
            <a:ext cx="4599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automatic final legal conclusions — AI proposes, the Compliance Officer decides.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949440" y="3300984"/>
            <a:ext cx="4599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Uploaded files are never auto-added to the knowledge base.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49440" y="3922776"/>
            <a:ext cx="4599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&amp; impact outputs are candidates for human review, not verdicts.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49440" y="4544568"/>
            <a:ext cx="4599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Generation-dependent numbers measured with an offline mock LLM — a stated lower bound.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949440" y="5166360"/>
            <a:ext cx="4599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Limits: OCR for old scanned fonts pending · purely semantic claims → human review · DOCX/PDF export on roadmap.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49440" y="5806440"/>
            <a:ext cx="4599432" cy="0"/>
          </a:xfrm>
          <a:prstGeom prst="line">
            <a:avLst/>
          </a:prstGeom>
          <a:noFill/>
          <a:ln w="9525">
            <a:solidFill>
              <a:srgbClr val="11141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5925312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3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about limits is itself a compliance feature.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0080" y="6455664"/>
            <a:ext cx="10908792" cy="0"/>
          </a:xfrm>
          <a:prstGeom prst="line">
            <a:avLst/>
          </a:prstGeom>
          <a:noFill/>
          <a:ln w="6350">
            <a:solidFill>
              <a:srgbClr val="C9CF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— Check-point 1: Idea Evaluation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0881360" y="6510528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REGVAULT · VAIC 2026 · SHB1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194560" y="1874520"/>
            <a:ext cx="779983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2148840"/>
            <a:ext cx="96286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 verifies regulations before they enter the vault.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 uses the verified vault to check every policy and report.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37360" y="3520440"/>
            <a:ext cx="8714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document becomes ground truth just because it was uploaded — and every answer can face an auditor.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94560" y="4160520"/>
            <a:ext cx="7799832" cy="0"/>
          </a:xfrm>
          <a:prstGeom prst="line">
            <a:avLst/>
          </a:prstGeom>
          <a:noFill/>
          <a:ln w="22225">
            <a:solidFill>
              <a:srgbClr val="1114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466344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pilot with SHB: one golden domain, inspection-ready, in six weeks.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demo: runs offline — no Docker, no API keys   ·   97 tests   ·   python -m eval.run_eval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2026-07-18T11:46:12Z</dcterms:created>
  <dcterms:modified xsi:type="dcterms:W3CDTF">2026-07-18T11:46:12Z</dcterms:modified>
</cp:coreProperties>
</file>