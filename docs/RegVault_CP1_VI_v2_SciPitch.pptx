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RegVault</c:v>
                </c:pt>
              </c:strCache>
            </c:strRef>
          </c:tx>
          <c:spPr>
            <a:solidFill>
              <a:srgbClr val="B31B1B"/>
            </a:solidFill>
            <a:effectLst/>
          </c:spPr>
          <c:invertIfNegative val="0"/>
          <c:dLbls>
            <c:numFmt formatCode="#,##0" sourceLinked="0"/>
            <c:txPr>
              <a:bodyPr/>
              <a:lstStyle/>
              <a:p>
                <a:pPr>
                  <a:defRPr b="0" i="0" strike="noStrike" sz="800" u="none">
                    <a:solidFill>
                      <a:srgbClr val="111418"/>
                    </a:solidFill>
                    <a:latin typeface="Courier New"/>
                  </a:defRPr>
                </a:pPr>
              </a:p>
            </c:txPr>
            <c:showLegendKey val="0"/>
            <c:showVal val="1"/>
            <c:showCatName val="0"/>
            <c:showSerName val="0"/>
            <c:showPercent val="0"/>
            <c:showBubbleSize val="0"/>
            <c:showLeaderLines val="0"/>
          </c:dLbls>
          <c:cat>
            <c:multiLvlStrRef>
              <c:f>Sheet1!$A$2:$A$5</c:f>
              <c:multiLvlStrCache>
                <c:ptCount val="4"/>
                <c:lvl>
                  <c:pt idx="0">
                    <c:v>Đúng thời điểm</c:v>
                  </c:pt>
                  <c:pt idx="1">
                    <c:v>Tham chiếu chéo</c:v>
                  </c:pt>
                  <c:pt idx="2">
                    <c:v>Policy lỗi thời</c:v>
                  </c:pt>
                  <c:pt idx="3">
                    <c:v>Từ chối đúng</c:v>
                  </c:pt>
                </c:lvl>
              </c:multiLvlStrCache>
            </c:multiLvlStrRef>
          </c:cat>
          <c:val>
            <c:numRef>
              <c:f>Sheet1!$B$2:$B$5</c:f>
              <c:numCache>
                <c:formatCode>General</c:formatCode>
                <c:ptCount val="4"/>
                <c:pt idx="0">
                  <c:v>100</c:v>
                </c:pt>
                <c:pt idx="1">
                  <c:v>100</c:v>
                </c:pt>
                <c:pt idx="2">
                  <c:v>100</c:v>
                </c:pt>
                <c:pt idx="3">
                  <c:v>90.9</c:v>
                </c:pt>
              </c:numCache>
            </c:numRef>
          </c:val>
        </c:ser>
        <c:ser>
          <c:idx val="1"/>
          <c:order val="1"/>
          <c:tx>
            <c:strRef>
              <c:f>Sheet1!$C$1</c:f>
              <c:strCache>
                <c:ptCount val="1"/>
                <c:pt idx="0">
                  <c:v>Standard RAG</c:v>
                </c:pt>
              </c:strCache>
            </c:strRef>
          </c:tx>
          <c:spPr>
            <a:solidFill>
              <a:srgbClr val="9AA3AE"/>
            </a:solidFill>
            <a:effectLst/>
          </c:spPr>
          <c:invertIfNegative val="0"/>
          <c:dLbls>
            <c:numFmt formatCode="#,##0" sourceLinked="0"/>
            <c:txPr>
              <a:bodyPr/>
              <a:lstStyle/>
              <a:p>
                <a:pPr>
                  <a:defRPr b="0" i="0" strike="noStrike" sz="800" u="none">
                    <a:solidFill>
                      <a:srgbClr val="111418"/>
                    </a:solidFill>
                    <a:latin typeface="Courier New"/>
                  </a:defRPr>
                </a:pPr>
              </a:p>
            </c:txPr>
            <c:showLegendKey val="0"/>
            <c:showVal val="1"/>
            <c:showCatName val="0"/>
            <c:showSerName val="0"/>
            <c:showPercent val="0"/>
            <c:showBubbleSize val="0"/>
            <c:showLeaderLines val="0"/>
          </c:dLbls>
          <c:cat>
            <c:multiLvlStrRef>
              <c:f>Sheet1!$A$2:$A$5</c:f>
              <c:multiLvlStrCache>
                <c:ptCount val="4"/>
                <c:lvl>
                  <c:pt idx="0">
                    <c:v>Đúng thời điểm</c:v>
                  </c:pt>
                  <c:pt idx="1">
                    <c:v>Tham chiếu chéo</c:v>
                  </c:pt>
                  <c:pt idx="2">
                    <c:v>Policy lỗi thời</c:v>
                  </c:pt>
                  <c:pt idx="3">
                    <c:v>Từ chối đúng</c:v>
                  </c:pt>
                </c:lvl>
              </c:multiLvlStrCache>
            </c:multiLvlStrRef>
          </c:cat>
          <c:val>
            <c:numRef>
              <c:f>Sheet1!$C$2:$C$5</c:f>
              <c:numCache>
                <c:formatCode>General</c:formatCode>
                <c:ptCount val="4"/>
                <c:pt idx="0">
                  <c:v>75</c:v>
                </c:pt>
                <c:pt idx="1">
                  <c:v>0</c:v>
                </c:pt>
                <c:pt idx="2">
                  <c:v>0</c:v>
                </c:pt>
                <c:pt idx="3">
                  <c:v>86.4</c:v>
                </c:pt>
              </c:numCache>
            </c:numRef>
          </c:val>
        </c:ser>
        <c:dLbls>
          <c:numFmt formatCode="#,##0" sourceLinked="0"/>
          <c:txPr>
            <a:bodyPr/>
            <a:lstStyle/>
            <a:p>
              <a:pPr>
                <a:defRPr b="0" i="0" strike="noStrike" sz="800" u="none">
                  <a:solidFill>
                    <a:srgbClr val="111418"/>
                  </a:solidFill>
                  <a:latin typeface="Courier New"/>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11418"/>
                </a:solidFill>
                <a:latin typeface="Cambria"/>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F6B76"/>
              </a:solidFill>
              <a:latin typeface="Courier New"/>
              <a:cs typeface="Courier New"/>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kiểu trang bìa bài báo: tiêu đề, tóm tắt, từ khóa. Đọc chậm câu thần chú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vào Hình 1: trục thời gian, hai phiên bản, chatbot thường trích nhầm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1 là trái tim trust model — đọc nguyên văn công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bằng hai câu định vị + lời mời pilot. Cảm ơn BGK.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502920"/>
            <a:ext cx="10360152" cy="256032"/>
          </a:xfrm>
          <a:prstGeom prst="rect">
            <a:avLst/>
          </a:prstGeom>
          <a:noFill/>
          <a:ln/>
        </p:spPr>
        <p:txBody>
          <a:bodyPr wrap="square" lIns="0" tIns="0" rIns="0" bIns="0" rtlCol="0" anchor="ctr"/>
          <a:lstStyle/>
          <a:p>
            <a:pPr algn="ctr" indent="0" marL="0">
              <a:buNone/>
            </a:pPr>
            <a:r>
              <a:rPr lang="en-US" sz="900" spc="100" kern="0" dirty="0">
                <a:solidFill>
                  <a:srgbClr val="5F6B76"/>
                </a:solidFill>
                <a:latin typeface="Courier New" pitchFamily="34" charset="0"/>
                <a:ea typeface="Courier New" pitchFamily="34" charset="-122"/>
                <a:cs typeface="Courier New" pitchFamily="34" charset="-120"/>
              </a:rPr>
              <a:t>VIETNAM AI INNOVATION CHALLENGE 2026  —  ĐỀ BÀI SHB1  ·  CHECK-POINT 1: IDEA EVALUATION</a:t>
            </a:r>
            <a:endParaRPr lang="en-US" sz="900" dirty="0"/>
          </a:p>
        </p:txBody>
      </p:sp>
      <p:sp>
        <p:nvSpPr>
          <p:cNvPr id="3" name="Text 1"/>
          <p:cNvSpPr/>
          <p:nvPr/>
        </p:nvSpPr>
        <p:spPr>
          <a:xfrm>
            <a:off x="822960" y="1051560"/>
            <a:ext cx="10543032" cy="1143000"/>
          </a:xfrm>
          <a:prstGeom prst="rect">
            <a:avLst/>
          </a:prstGeom>
          <a:noFill/>
          <a:ln/>
        </p:spPr>
        <p:txBody>
          <a:bodyPr wrap="square" lIns="0" tIns="0" rIns="0" bIns="0" rtlCol="0" anchor="ctr"/>
          <a:lstStyle/>
          <a:p>
            <a:pPr algn="ctr" indent="0" marL="0">
              <a:lnSpc>
                <a:spcPct val="108000"/>
              </a:lnSpc>
              <a:buNone/>
            </a:pPr>
            <a:r>
              <a:rPr lang="en-US" sz="2700" b="1" dirty="0">
                <a:solidFill>
                  <a:srgbClr val="B31B1B"/>
                </a:solidFill>
                <a:latin typeface="Cambria" pitchFamily="34" charset="0"/>
                <a:ea typeface="Cambria" pitchFamily="34" charset="-122"/>
                <a:cs typeface="Cambria" pitchFamily="34" charset="-120"/>
              </a:rPr>
              <a:t>RegVault: </a:t>
            </a:r>
            <a:pPr algn="ctr" indent="0" marL="0">
              <a:lnSpc>
                <a:spcPct val="108000"/>
              </a:lnSpc>
              <a:buNone/>
            </a:pPr>
            <a:r>
              <a:rPr lang="en-US" sz="2700" b="1" dirty="0">
                <a:solidFill>
                  <a:srgbClr val="111418"/>
                </a:solidFill>
                <a:latin typeface="Cambria" pitchFamily="34" charset="0"/>
                <a:ea typeface="Cambria" pitchFamily="34" charset="-122"/>
                <a:cs typeface="Cambria" pitchFamily="34" charset="-120"/>
              </a:rPr>
              <a:t>Kho quy định đã xác minh và nền tảng kiểm tra</a:t>
            </a:r>
            <a:endParaRPr lang="en-US" sz="2700" dirty="0"/>
          </a:p>
          <a:p>
            <a:pPr algn="ctr" indent="0" marL="0">
              <a:lnSpc>
                <a:spcPct val="108000"/>
              </a:lnSpc>
              <a:buNone/>
            </a:pPr>
            <a:r>
              <a:rPr lang="en-US" sz="2700" b="1" dirty="0">
                <a:solidFill>
                  <a:srgbClr val="111418"/>
                </a:solidFill>
                <a:latin typeface="Cambria" pitchFamily="34" charset="0"/>
                <a:ea typeface="Cambria" pitchFamily="34" charset="-122"/>
                <a:cs typeface="Cambria" pitchFamily="34" charset="-120"/>
              </a:rPr>
              <a:t>tuân thủ có thể kiểm toán cho ngân hàng Việt Nam</a:t>
            </a:r>
            <a:endParaRPr lang="en-US" sz="2700" dirty="0"/>
          </a:p>
        </p:txBody>
      </p:sp>
      <p:sp>
        <p:nvSpPr>
          <p:cNvPr id="4" name="Text 2"/>
          <p:cNvSpPr/>
          <p:nvPr/>
        </p:nvSpPr>
        <p:spPr>
          <a:xfrm>
            <a:off x="914400" y="2304288"/>
            <a:ext cx="10360152" cy="274320"/>
          </a:xfrm>
          <a:prstGeom prst="rect">
            <a:avLst/>
          </a:prstGeom>
          <a:noFill/>
          <a:ln/>
        </p:spPr>
        <p:txBody>
          <a:bodyPr wrap="square" lIns="0" tIns="0" rIns="0" bIns="0" rtlCol="0" anchor="ctr"/>
          <a:lstStyle/>
          <a:p>
            <a:pPr algn="ctr" indent="0" marL="0">
              <a:buNone/>
            </a:pPr>
            <a:r>
              <a:rPr lang="en-US" sz="950" dirty="0">
                <a:solidFill>
                  <a:srgbClr val="5F6B76"/>
                </a:solidFill>
                <a:latin typeface="Courier New" pitchFamily="34" charset="0"/>
                <a:ea typeface="Courier New" pitchFamily="34" charset="-122"/>
                <a:cs typeface="Courier New" pitchFamily="34" charset="-120"/>
              </a:rPr>
              <a:t>Nhóm dự thi VAIC 2026 — Track SHB · Tháng 7/2026</a:t>
            </a:r>
            <a:endParaRPr lang="en-US" sz="950" dirty="0"/>
          </a:p>
        </p:txBody>
      </p:sp>
      <p:sp>
        <p:nvSpPr>
          <p:cNvPr id="5" name="Shape 3"/>
          <p:cNvSpPr/>
          <p:nvPr/>
        </p:nvSpPr>
        <p:spPr>
          <a:xfrm>
            <a:off x="1783080" y="2788920"/>
            <a:ext cx="8622792" cy="0"/>
          </a:xfrm>
          <a:prstGeom prst="line">
            <a:avLst/>
          </a:prstGeom>
          <a:noFill/>
          <a:ln w="22225">
            <a:solidFill>
              <a:srgbClr val="111418"/>
            </a:solidFill>
            <a:prstDash val="solid"/>
          </a:ln>
        </p:spPr>
      </p:sp>
      <p:sp>
        <p:nvSpPr>
          <p:cNvPr id="6" name="Text 4"/>
          <p:cNvSpPr/>
          <p:nvPr/>
        </p:nvSpPr>
        <p:spPr>
          <a:xfrm>
            <a:off x="1783080" y="2871216"/>
            <a:ext cx="8622792" cy="237744"/>
          </a:xfrm>
          <a:prstGeom prst="rect">
            <a:avLst/>
          </a:prstGeom>
          <a:noFill/>
          <a:ln/>
        </p:spPr>
        <p:txBody>
          <a:bodyPr wrap="square" lIns="0" tIns="0" rIns="0" bIns="0" rtlCol="0" anchor="ctr"/>
          <a:lstStyle/>
          <a:p>
            <a:pPr algn="ctr" indent="0" marL="0">
              <a:buNone/>
            </a:pPr>
            <a:r>
              <a:rPr lang="en-US" sz="900" b="1" spc="300" kern="0" dirty="0">
                <a:solidFill>
                  <a:srgbClr val="111418"/>
                </a:solidFill>
                <a:latin typeface="Courier New" pitchFamily="34" charset="0"/>
                <a:ea typeface="Courier New" pitchFamily="34" charset="-122"/>
                <a:cs typeface="Courier New" pitchFamily="34" charset="-120"/>
              </a:rPr>
              <a:t>TÓM TẮT</a:t>
            </a:r>
            <a:endParaRPr lang="en-US" sz="900" dirty="0"/>
          </a:p>
        </p:txBody>
      </p:sp>
      <p:sp>
        <p:nvSpPr>
          <p:cNvPr id="7" name="Text 5"/>
          <p:cNvSpPr/>
          <p:nvPr/>
        </p:nvSpPr>
        <p:spPr>
          <a:xfrm>
            <a:off x="2011680" y="3200400"/>
            <a:ext cx="8165592" cy="1920240"/>
          </a:xfrm>
          <a:prstGeom prst="rect">
            <a:avLst/>
          </a:prstGeom>
          <a:noFill/>
          <a:ln/>
        </p:spPr>
        <p:txBody>
          <a:bodyPr wrap="square" lIns="0" tIns="0" rIns="0" bIns="0" rtlCol="0" anchor="t"/>
          <a:lstStyle/>
          <a:p>
            <a:pPr algn="just" indent="0" marL="0">
              <a:lnSpc>
                <a:spcPct val="118000"/>
              </a:lnSpc>
              <a:buNone/>
            </a:pPr>
            <a:r>
              <a:rPr lang="en-US" sz="1150" dirty="0">
                <a:solidFill>
                  <a:srgbClr val="111418"/>
                </a:solidFill>
                <a:latin typeface="Cambria" pitchFamily="34" charset="0"/>
                <a:ea typeface="Cambria" pitchFamily="34" charset="-122"/>
                <a:cs typeface="Cambria" pitchFamily="34" charset="-120"/>
              </a:rPr>
              <a:t>Cán bộ tuân thủ ngân hàng mất 2–3 giờ mỗi ngày đối chiếu thủ công hàng nghìn văn bản bị sửa đổi chồng chéo; chatbot RAG thông thường trả lời trôi chảy từ phiên bản đã hết hiệu lực. Chúng tôi xây dựng RegVault: đồ thị tri thức thời gian với ChangeEvent tường minh, lọc hiệu lực trước khi truy xuất, patch sửa đổi tất định và con người duyệt mọi thay đổi — LLM chỉ viết giải thích trên gói bằng chứng đã lọc. Trên bộ 22 câu hỏi vàng, hệ đạt 100% chính xác theo thời điểm (so với 75% của RAG thường) và 100% truy hồi tham chiếu chéo (so với 0%), với 97 test tự động. Kết luận: AI đề xuất — cán bộ Tuân thủ quyết định.</a:t>
            </a:r>
            <a:endParaRPr lang="en-US" sz="1150" dirty="0"/>
          </a:p>
        </p:txBody>
      </p:sp>
      <p:sp>
        <p:nvSpPr>
          <p:cNvPr id="8" name="Shape 6"/>
          <p:cNvSpPr/>
          <p:nvPr/>
        </p:nvSpPr>
        <p:spPr>
          <a:xfrm>
            <a:off x="1783080" y="4956048"/>
            <a:ext cx="8622792" cy="0"/>
          </a:xfrm>
          <a:prstGeom prst="line">
            <a:avLst/>
          </a:prstGeom>
          <a:noFill/>
          <a:ln w="22225">
            <a:solidFill>
              <a:srgbClr val="111418"/>
            </a:solidFill>
            <a:prstDash val="solid"/>
          </a:ln>
        </p:spPr>
      </p:sp>
      <p:sp>
        <p:nvSpPr>
          <p:cNvPr id="9" name="Text 7"/>
          <p:cNvSpPr/>
          <p:nvPr/>
        </p:nvSpPr>
        <p:spPr>
          <a:xfrm>
            <a:off x="1783080" y="5120640"/>
            <a:ext cx="8622792" cy="274320"/>
          </a:xfrm>
          <a:prstGeom prst="rect">
            <a:avLst/>
          </a:prstGeom>
          <a:noFill/>
          <a:ln/>
        </p:spPr>
        <p:txBody>
          <a:bodyPr wrap="square" lIns="0" tIns="0" rIns="0" bIns="0" rtlCol="0" anchor="ctr"/>
          <a:lstStyle/>
          <a:p>
            <a:pPr algn="ctr" indent="0" marL="0">
              <a:buNone/>
            </a:pPr>
            <a:r>
              <a:rPr lang="en-US" sz="950" b="1" i="1" dirty="0">
                <a:solidFill>
                  <a:srgbClr val="5F6B76"/>
                </a:solidFill>
                <a:latin typeface="Cambria" pitchFamily="34" charset="0"/>
                <a:ea typeface="Cambria" pitchFamily="34" charset="-122"/>
                <a:cs typeface="Cambria" pitchFamily="34" charset="-120"/>
              </a:rPr>
              <a:t>Từ khóa:  </a:t>
            </a:r>
            <a:pPr algn="ctr" indent="0" marL="0">
              <a:buNone/>
            </a:pPr>
            <a:r>
              <a:rPr lang="en-US" sz="950" i="1" dirty="0">
                <a:solidFill>
                  <a:srgbClr val="5F6B76"/>
                </a:solidFill>
                <a:latin typeface="Cambria" pitchFamily="34" charset="0"/>
                <a:ea typeface="Cambria" pitchFamily="34" charset="-122"/>
                <a:cs typeface="Cambria" pitchFamily="34" charset="-120"/>
              </a:rPr>
              <a:t>đồ thị tri thức thời gian · patch tất định · human-in-the-loop · vết bằng chứng · RAG có kiểm toán</a:t>
            </a:r>
            <a:endParaRPr lang="en-US" sz="950" dirty="0"/>
          </a:p>
        </p:txBody>
      </p:sp>
      <p:sp>
        <p:nvSpPr>
          <p:cNvPr id="10" name="Text 8"/>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b="1" i="1" dirty="0">
                <a:solidFill>
                  <a:srgbClr val="B31B1B"/>
                </a:solidFill>
                <a:latin typeface="Cambria" pitchFamily="34" charset="0"/>
                <a:ea typeface="Cambria" pitchFamily="34" charset="-122"/>
                <a:cs typeface="Cambria" pitchFamily="34" charset="-120"/>
              </a:rPr>
              <a:t>“AI đề xuất — cán bộ Tuân thủ quyết định.”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0 · VẤN ĐỀ — TỪ ĐỀ BÀI SHB1</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Chatbot trả lời trôi chảy — từ quy định đã hết hiệu lực.</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640080" y="1572768"/>
            <a:ext cx="3200400" cy="219456"/>
          </a:xfrm>
          <a:prstGeom prst="rect">
            <a:avLst/>
          </a:prstGeom>
          <a:noFill/>
          <a:ln/>
        </p:spPr>
        <p:txBody>
          <a:bodyPr wrap="square" lIns="0" tIns="0" rIns="0" bIns="0" rtlCol="0" anchor="ctr"/>
          <a:lstStyle/>
          <a:p>
            <a:pPr indent="0" marL="0">
              <a:buNone/>
            </a:pPr>
            <a:r>
              <a:rPr lang="en-US" sz="800" b="1" spc="150" kern="0" dirty="0">
                <a:solidFill>
                  <a:srgbClr val="5F6B76"/>
                </a:solidFill>
                <a:latin typeface="Courier New" pitchFamily="34" charset="0"/>
                <a:ea typeface="Courier New" pitchFamily="34" charset="-122"/>
                <a:cs typeface="Courier New" pitchFamily="34" charset="-120"/>
              </a:rPr>
              <a:t>VĂN BẢN SHB QUẢN LÝ</a:t>
            </a:r>
            <a:endParaRPr lang="en-US" sz="800" dirty="0"/>
          </a:p>
        </p:txBody>
      </p:sp>
      <p:sp>
        <p:nvSpPr>
          <p:cNvPr id="7" name="Text 5"/>
          <p:cNvSpPr/>
          <p:nvPr/>
        </p:nvSpPr>
        <p:spPr>
          <a:xfrm>
            <a:off x="640080" y="1810512"/>
            <a:ext cx="3200400" cy="566928"/>
          </a:xfrm>
          <a:prstGeom prst="rect">
            <a:avLst/>
          </a:prstGeom>
          <a:noFill/>
          <a:ln/>
        </p:spPr>
        <p:txBody>
          <a:bodyPr wrap="square" lIns="0" tIns="0" rIns="0" bIns="0" rtlCol="0" anchor="ctr"/>
          <a:lstStyle/>
          <a:p>
            <a:pPr indent="0" marL="0">
              <a:buNone/>
            </a:pPr>
            <a:r>
              <a:rPr lang="en-US" sz="3000" b="1" dirty="0">
                <a:solidFill>
                  <a:srgbClr val="111418"/>
                </a:solidFill>
                <a:latin typeface="Cambria" pitchFamily="34" charset="0"/>
                <a:ea typeface="Cambria" pitchFamily="34" charset="-122"/>
                <a:cs typeface="Cambria" pitchFamily="34" charset="-120"/>
              </a:rPr>
              <a:t>Hàng nghìn</a:t>
            </a:r>
            <a:endParaRPr lang="en-US" sz="3000" dirty="0"/>
          </a:p>
        </p:txBody>
      </p:sp>
      <p:sp>
        <p:nvSpPr>
          <p:cNvPr id="8" name="Text 6"/>
          <p:cNvSpPr/>
          <p:nvPr/>
        </p:nvSpPr>
        <p:spPr>
          <a:xfrm>
            <a:off x="640080" y="2414016"/>
            <a:ext cx="3200400" cy="566928"/>
          </a:xfrm>
          <a:prstGeom prst="rect">
            <a:avLst/>
          </a:prstGeom>
          <a:noFill/>
          <a:ln/>
        </p:spPr>
        <p:txBody>
          <a:bodyPr wrap="square" lIns="0" tIns="0" rIns="0" bIns="0" rtlCol="0" anchor="t"/>
          <a:lstStyle/>
          <a:p>
            <a:pPr indent="0" marL="0">
              <a:lnSpc>
                <a:spcPct val="108000"/>
              </a:lnSpc>
              <a:buNone/>
            </a:pPr>
            <a:r>
              <a:rPr lang="en-US" sz="950" dirty="0">
                <a:solidFill>
                  <a:srgbClr val="5F6B76"/>
                </a:solidFill>
                <a:latin typeface="Cambria" pitchFamily="34" charset="0"/>
                <a:ea typeface="Cambria" pitchFamily="34" charset="-122"/>
                <a:cs typeface="Cambria" pitchFamily="34" charset="-120"/>
              </a:rPr>
              <a:t>NHNN · Chính phủ · Basel — nội bộ &amp; bên ngoài [1]</a:t>
            </a:r>
            <a:endParaRPr lang="en-US" sz="950" dirty="0"/>
          </a:p>
        </p:txBody>
      </p:sp>
      <p:sp>
        <p:nvSpPr>
          <p:cNvPr id="9" name="Shape 7"/>
          <p:cNvSpPr/>
          <p:nvPr/>
        </p:nvSpPr>
        <p:spPr>
          <a:xfrm>
            <a:off x="640080" y="2761488"/>
            <a:ext cx="3200400" cy="0"/>
          </a:xfrm>
          <a:prstGeom prst="line">
            <a:avLst/>
          </a:prstGeom>
          <a:noFill/>
          <a:ln w="6350">
            <a:solidFill>
              <a:srgbClr val="C9CFD6"/>
            </a:solidFill>
            <a:prstDash val="solid"/>
          </a:ln>
        </p:spPr>
      </p:sp>
      <p:sp>
        <p:nvSpPr>
          <p:cNvPr id="10" name="Text 8"/>
          <p:cNvSpPr/>
          <p:nvPr/>
        </p:nvSpPr>
        <p:spPr>
          <a:xfrm>
            <a:off x="640080" y="2871216"/>
            <a:ext cx="3200400" cy="219456"/>
          </a:xfrm>
          <a:prstGeom prst="rect">
            <a:avLst/>
          </a:prstGeom>
          <a:noFill/>
          <a:ln/>
        </p:spPr>
        <p:txBody>
          <a:bodyPr wrap="square" lIns="0" tIns="0" rIns="0" bIns="0" rtlCol="0" anchor="ctr"/>
          <a:lstStyle/>
          <a:p>
            <a:pPr indent="0" marL="0">
              <a:buNone/>
            </a:pPr>
            <a:r>
              <a:rPr lang="en-US" sz="800" b="1" spc="150" kern="0" dirty="0">
                <a:solidFill>
                  <a:srgbClr val="5F6B76"/>
                </a:solidFill>
                <a:latin typeface="Courier New" pitchFamily="34" charset="0"/>
                <a:ea typeface="Courier New" pitchFamily="34" charset="-122"/>
                <a:cs typeface="Courier New" pitchFamily="34" charset="-120"/>
              </a:rPr>
              <a:t>MỘT QUY ĐỊNH</a:t>
            </a:r>
            <a:endParaRPr lang="en-US" sz="800" dirty="0"/>
          </a:p>
        </p:txBody>
      </p:sp>
      <p:sp>
        <p:nvSpPr>
          <p:cNvPr id="11" name="Text 9"/>
          <p:cNvSpPr/>
          <p:nvPr/>
        </p:nvSpPr>
        <p:spPr>
          <a:xfrm>
            <a:off x="640080" y="3108960"/>
            <a:ext cx="3200400" cy="566928"/>
          </a:xfrm>
          <a:prstGeom prst="rect">
            <a:avLst/>
          </a:prstGeom>
          <a:noFill/>
          <a:ln/>
        </p:spPr>
        <p:txBody>
          <a:bodyPr wrap="square" lIns="0" tIns="0" rIns="0" bIns="0" rtlCol="0" anchor="ctr"/>
          <a:lstStyle/>
          <a:p>
            <a:pPr indent="0" marL="0">
              <a:buNone/>
            </a:pPr>
            <a:r>
              <a:rPr lang="en-US" sz="3000" b="1" dirty="0">
                <a:solidFill>
                  <a:srgbClr val="111418"/>
                </a:solidFill>
                <a:latin typeface="Cambria" pitchFamily="34" charset="0"/>
                <a:ea typeface="Cambria" pitchFamily="34" charset="-122"/>
                <a:cs typeface="Cambria" pitchFamily="34" charset="-120"/>
              </a:rPr>
              <a:t>Sửa ×N lần</a:t>
            </a:r>
            <a:endParaRPr lang="en-US" sz="3000" dirty="0"/>
          </a:p>
        </p:txBody>
      </p:sp>
      <p:sp>
        <p:nvSpPr>
          <p:cNvPr id="12" name="Text 10"/>
          <p:cNvSpPr/>
          <p:nvPr/>
        </p:nvSpPr>
        <p:spPr>
          <a:xfrm>
            <a:off x="640080" y="3712464"/>
            <a:ext cx="3200400" cy="566928"/>
          </a:xfrm>
          <a:prstGeom prst="rect">
            <a:avLst/>
          </a:prstGeom>
          <a:noFill/>
          <a:ln/>
        </p:spPr>
        <p:txBody>
          <a:bodyPr wrap="square" lIns="0" tIns="0" rIns="0" bIns="0" rtlCol="0" anchor="t"/>
          <a:lstStyle/>
          <a:p>
            <a:pPr indent="0" marL="0">
              <a:lnSpc>
                <a:spcPct val="108000"/>
              </a:lnSpc>
              <a:buNone/>
            </a:pPr>
            <a:r>
              <a:rPr lang="en-US" sz="950" dirty="0">
                <a:solidFill>
                  <a:srgbClr val="5F6B76"/>
                </a:solidFill>
                <a:latin typeface="Cambria" pitchFamily="34" charset="0"/>
                <a:ea typeface="Cambria" pitchFamily="34" charset="-122"/>
                <a:cs typeface="Cambria" pitchFamily="34" charset="-120"/>
              </a:rPr>
              <a:t>từng khoản bị thay thế một phần, rải rác nhiều văn bản</a:t>
            </a:r>
            <a:endParaRPr lang="en-US" sz="950" dirty="0"/>
          </a:p>
        </p:txBody>
      </p:sp>
      <p:sp>
        <p:nvSpPr>
          <p:cNvPr id="13" name="Shape 11"/>
          <p:cNvSpPr/>
          <p:nvPr/>
        </p:nvSpPr>
        <p:spPr>
          <a:xfrm>
            <a:off x="640080" y="4059936"/>
            <a:ext cx="3200400" cy="0"/>
          </a:xfrm>
          <a:prstGeom prst="line">
            <a:avLst/>
          </a:prstGeom>
          <a:noFill/>
          <a:ln w="6350">
            <a:solidFill>
              <a:srgbClr val="C9CFD6"/>
            </a:solidFill>
            <a:prstDash val="solid"/>
          </a:ln>
        </p:spPr>
      </p:sp>
      <p:sp>
        <p:nvSpPr>
          <p:cNvPr id="14" name="Text 12"/>
          <p:cNvSpPr/>
          <p:nvPr/>
        </p:nvSpPr>
        <p:spPr>
          <a:xfrm>
            <a:off x="640080" y="4169664"/>
            <a:ext cx="3200400" cy="219456"/>
          </a:xfrm>
          <a:prstGeom prst="rect">
            <a:avLst/>
          </a:prstGeom>
          <a:noFill/>
          <a:ln/>
        </p:spPr>
        <p:txBody>
          <a:bodyPr wrap="square" lIns="0" tIns="0" rIns="0" bIns="0" rtlCol="0" anchor="ctr"/>
          <a:lstStyle/>
          <a:p>
            <a:pPr indent="0" marL="0">
              <a:buNone/>
            </a:pPr>
            <a:r>
              <a:rPr lang="en-US" sz="800" b="1" spc="150" kern="0" dirty="0">
                <a:solidFill>
                  <a:srgbClr val="5F6B76"/>
                </a:solidFill>
                <a:latin typeface="Courier New" pitchFamily="34" charset="0"/>
                <a:ea typeface="Courier New" pitchFamily="34" charset="-122"/>
                <a:cs typeface="Courier New" pitchFamily="34" charset="-120"/>
              </a:rPr>
              <a:t>MỖI CÁN BỘ MẤT</a:t>
            </a:r>
            <a:endParaRPr lang="en-US" sz="800" dirty="0"/>
          </a:p>
        </p:txBody>
      </p:sp>
      <p:sp>
        <p:nvSpPr>
          <p:cNvPr id="15" name="Text 13"/>
          <p:cNvSpPr/>
          <p:nvPr/>
        </p:nvSpPr>
        <p:spPr>
          <a:xfrm>
            <a:off x="640080" y="4407408"/>
            <a:ext cx="3200400" cy="566928"/>
          </a:xfrm>
          <a:prstGeom prst="rect">
            <a:avLst/>
          </a:prstGeom>
          <a:noFill/>
          <a:ln/>
        </p:spPr>
        <p:txBody>
          <a:bodyPr wrap="square" lIns="0" tIns="0" rIns="0" bIns="0" rtlCol="0" anchor="ctr"/>
          <a:lstStyle/>
          <a:p>
            <a:pPr indent="0" marL="0">
              <a:buNone/>
            </a:pPr>
            <a:r>
              <a:rPr lang="en-US" sz="3000" b="1" dirty="0">
                <a:solidFill>
                  <a:srgbClr val="111418"/>
                </a:solidFill>
                <a:latin typeface="Cambria" pitchFamily="34" charset="0"/>
                <a:ea typeface="Cambria" pitchFamily="34" charset="-122"/>
                <a:cs typeface="Cambria" pitchFamily="34" charset="-120"/>
              </a:rPr>
              <a:t>2–3 giờ/ngày</a:t>
            </a:r>
            <a:endParaRPr lang="en-US" sz="3000" dirty="0"/>
          </a:p>
        </p:txBody>
      </p:sp>
      <p:sp>
        <p:nvSpPr>
          <p:cNvPr id="16" name="Text 14"/>
          <p:cNvSpPr/>
          <p:nvPr/>
        </p:nvSpPr>
        <p:spPr>
          <a:xfrm>
            <a:off x="640080" y="5010912"/>
            <a:ext cx="3200400" cy="566928"/>
          </a:xfrm>
          <a:prstGeom prst="rect">
            <a:avLst/>
          </a:prstGeom>
          <a:noFill/>
          <a:ln/>
        </p:spPr>
        <p:txBody>
          <a:bodyPr wrap="square" lIns="0" tIns="0" rIns="0" bIns="0" rtlCol="0" anchor="t"/>
          <a:lstStyle/>
          <a:p>
            <a:pPr indent="0" marL="0">
              <a:lnSpc>
                <a:spcPct val="108000"/>
              </a:lnSpc>
              <a:buNone/>
            </a:pPr>
            <a:r>
              <a:rPr lang="en-US" sz="950" dirty="0">
                <a:solidFill>
                  <a:srgbClr val="5F6B76"/>
                </a:solidFill>
                <a:latin typeface="Cambria" pitchFamily="34" charset="0"/>
                <a:ea typeface="Cambria" pitchFamily="34" charset="-122"/>
                <a:cs typeface="Cambria" pitchFamily="34" charset="-120"/>
              </a:rPr>
              <a:t>đối chiếu thủ công [1]</a:t>
            </a:r>
            <a:endParaRPr lang="en-US" sz="950" dirty="0"/>
          </a:p>
        </p:txBody>
      </p:sp>
      <p:sp>
        <p:nvSpPr>
          <p:cNvPr id="17" name="Shape 15"/>
          <p:cNvSpPr/>
          <p:nvPr/>
        </p:nvSpPr>
        <p:spPr>
          <a:xfrm>
            <a:off x="4297680" y="1554480"/>
            <a:ext cx="7251192" cy="2880360"/>
          </a:xfrm>
          <a:prstGeom prst="rect">
            <a:avLst/>
          </a:prstGeom>
          <a:solidFill>
            <a:srgbClr val="F5F6F8"/>
          </a:solidFill>
          <a:ln w="9525">
            <a:solidFill>
              <a:srgbClr val="C9CFD6"/>
            </a:solidFill>
            <a:prstDash val="solid"/>
          </a:ln>
        </p:spPr>
      </p:sp>
      <p:sp>
        <p:nvSpPr>
          <p:cNvPr id="18" name="Shape 16"/>
          <p:cNvSpPr/>
          <p:nvPr/>
        </p:nvSpPr>
        <p:spPr>
          <a:xfrm>
            <a:off x="4663440" y="1828800"/>
            <a:ext cx="2971800" cy="685800"/>
          </a:xfrm>
          <a:prstGeom prst="rect">
            <a:avLst/>
          </a:prstGeom>
          <a:solidFill>
            <a:srgbClr val="FFFFFF"/>
          </a:solidFill>
          <a:ln w="11430">
            <a:solidFill>
              <a:srgbClr val="111418"/>
            </a:solidFill>
            <a:prstDash val="solid"/>
          </a:ln>
        </p:spPr>
      </p:sp>
      <p:sp>
        <p:nvSpPr>
          <p:cNvPr id="19" name="Text 17"/>
          <p:cNvSpPr/>
          <p:nvPr/>
        </p:nvSpPr>
        <p:spPr>
          <a:xfrm>
            <a:off x="4663440" y="1828800"/>
            <a:ext cx="2971800" cy="685800"/>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V1 — 500.000.000 đ</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[01/06/2025 → 01/07/2026)</a:t>
            </a:r>
            <a:endParaRPr lang="en-US" sz="760" dirty="0"/>
          </a:p>
        </p:txBody>
      </p:sp>
      <p:sp>
        <p:nvSpPr>
          <p:cNvPr id="20" name="Shape 18"/>
          <p:cNvSpPr/>
          <p:nvPr/>
        </p:nvSpPr>
        <p:spPr>
          <a:xfrm>
            <a:off x="8183880" y="1828800"/>
            <a:ext cx="2971800" cy="685800"/>
          </a:xfrm>
          <a:prstGeom prst="rect">
            <a:avLst/>
          </a:prstGeom>
          <a:solidFill>
            <a:srgbClr val="111418"/>
          </a:solidFill>
          <a:ln w="12700">
            <a:solidFill>
              <a:srgbClr val="111418"/>
            </a:solidFill>
            <a:prstDash val="solid"/>
          </a:ln>
        </p:spPr>
      </p:sp>
      <p:sp>
        <p:nvSpPr>
          <p:cNvPr id="21" name="Text 19"/>
          <p:cNvSpPr/>
          <p:nvPr/>
        </p:nvSpPr>
        <p:spPr>
          <a:xfrm>
            <a:off x="8183880" y="1828800"/>
            <a:ext cx="2971800" cy="685800"/>
          </a:xfrm>
          <a:prstGeom prst="rect">
            <a:avLst/>
          </a:prstGeom>
          <a:noFill/>
          <a:ln/>
        </p:spPr>
        <p:txBody>
          <a:bodyPr wrap="square" lIns="0" tIns="0" rIns="0" bIns="0" rtlCol="0" anchor="ctr"/>
          <a:lstStyle/>
          <a:p>
            <a:pPr algn="ctr" indent="0" marL="0">
              <a:buNone/>
            </a:pPr>
            <a:r>
              <a:rPr lang="en-US" sz="760" b="1" dirty="0">
                <a:solidFill>
                  <a:srgbClr val="FFFFFF"/>
                </a:solidFill>
                <a:latin typeface="Courier New" pitchFamily="34" charset="0"/>
                <a:ea typeface="Courier New" pitchFamily="34" charset="-122"/>
                <a:cs typeface="Courier New" pitchFamily="34" charset="-120"/>
              </a:rPr>
              <a:t>V2 — 700.000.000 đ</a:t>
            </a:r>
            <a:endParaRPr lang="en-US" sz="760" dirty="0"/>
          </a:p>
          <a:p>
            <a:pPr algn="ctr" indent="0" marL="0">
              <a:buNone/>
            </a:pPr>
            <a:r>
              <a:rPr lang="en-US" sz="760" b="1" dirty="0">
                <a:solidFill>
                  <a:srgbClr val="FFFFFF"/>
                </a:solidFill>
                <a:latin typeface="Courier New" pitchFamily="34" charset="0"/>
                <a:ea typeface="Courier New" pitchFamily="34" charset="-122"/>
                <a:cs typeface="Courier New" pitchFamily="34" charset="-120"/>
              </a:rPr>
              <a:t>[01/07/2026 → ∞)</a:t>
            </a:r>
            <a:endParaRPr lang="en-US" sz="760" dirty="0"/>
          </a:p>
        </p:txBody>
      </p:sp>
      <p:sp>
        <p:nvSpPr>
          <p:cNvPr id="22" name="Shape 20"/>
          <p:cNvSpPr/>
          <p:nvPr/>
        </p:nvSpPr>
        <p:spPr>
          <a:xfrm>
            <a:off x="4663440" y="2880360"/>
            <a:ext cx="6492240" cy="0"/>
          </a:xfrm>
          <a:prstGeom prst="line">
            <a:avLst/>
          </a:prstGeom>
          <a:noFill/>
          <a:ln w="15875">
            <a:solidFill>
              <a:srgbClr val="111418"/>
            </a:solidFill>
            <a:prstDash val="solid"/>
          </a:ln>
        </p:spPr>
      </p:sp>
      <p:sp>
        <p:nvSpPr>
          <p:cNvPr id="23" name="Shape 21"/>
          <p:cNvSpPr/>
          <p:nvPr/>
        </p:nvSpPr>
        <p:spPr>
          <a:xfrm>
            <a:off x="4800600" y="2788920"/>
            <a:ext cx="0" cy="182880"/>
          </a:xfrm>
          <a:prstGeom prst="line">
            <a:avLst/>
          </a:prstGeom>
          <a:noFill/>
          <a:ln w="15875">
            <a:solidFill>
              <a:srgbClr val="111418"/>
            </a:solidFill>
            <a:prstDash val="solid"/>
          </a:ln>
        </p:spPr>
      </p:sp>
      <p:sp>
        <p:nvSpPr>
          <p:cNvPr id="24" name="Shape 22"/>
          <p:cNvSpPr/>
          <p:nvPr/>
        </p:nvSpPr>
        <p:spPr>
          <a:xfrm>
            <a:off x="8321040" y="2788920"/>
            <a:ext cx="0" cy="182880"/>
          </a:xfrm>
          <a:prstGeom prst="line">
            <a:avLst/>
          </a:prstGeom>
          <a:noFill/>
          <a:ln w="15875">
            <a:solidFill>
              <a:srgbClr val="111418"/>
            </a:solidFill>
            <a:prstDash val="solid"/>
          </a:ln>
        </p:spPr>
      </p:sp>
      <p:sp>
        <p:nvSpPr>
          <p:cNvPr id="25" name="Shape 23"/>
          <p:cNvSpPr/>
          <p:nvPr/>
        </p:nvSpPr>
        <p:spPr>
          <a:xfrm>
            <a:off x="10835640" y="2788920"/>
            <a:ext cx="0" cy="182880"/>
          </a:xfrm>
          <a:prstGeom prst="line">
            <a:avLst/>
          </a:prstGeom>
          <a:noFill/>
          <a:ln w="15875">
            <a:solidFill>
              <a:srgbClr val="111418"/>
            </a:solidFill>
            <a:prstDash val="solid"/>
          </a:ln>
        </p:spPr>
      </p:sp>
      <p:sp>
        <p:nvSpPr>
          <p:cNvPr id="26" name="Text 24"/>
          <p:cNvSpPr/>
          <p:nvPr/>
        </p:nvSpPr>
        <p:spPr>
          <a:xfrm>
            <a:off x="4480560" y="3017520"/>
            <a:ext cx="914400" cy="182880"/>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06/2025</a:t>
            </a:r>
            <a:endParaRPr lang="en-US" sz="750" dirty="0"/>
          </a:p>
        </p:txBody>
      </p:sp>
      <p:sp>
        <p:nvSpPr>
          <p:cNvPr id="27" name="Text 25"/>
          <p:cNvSpPr/>
          <p:nvPr/>
        </p:nvSpPr>
        <p:spPr>
          <a:xfrm>
            <a:off x="7818120" y="3017520"/>
            <a:ext cx="1097280" cy="182880"/>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01/07/2026</a:t>
            </a:r>
            <a:endParaRPr lang="en-US" sz="750" dirty="0"/>
          </a:p>
        </p:txBody>
      </p:sp>
      <p:sp>
        <p:nvSpPr>
          <p:cNvPr id="28" name="Text 26"/>
          <p:cNvSpPr/>
          <p:nvPr/>
        </p:nvSpPr>
        <p:spPr>
          <a:xfrm>
            <a:off x="10515600" y="3017520"/>
            <a:ext cx="914400" cy="182880"/>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hôm nay</a:t>
            </a:r>
            <a:endParaRPr lang="en-US" sz="750" dirty="0"/>
          </a:p>
        </p:txBody>
      </p:sp>
      <p:sp>
        <p:nvSpPr>
          <p:cNvPr id="29" name="Shape 27"/>
          <p:cNvSpPr/>
          <p:nvPr/>
        </p:nvSpPr>
        <p:spPr>
          <a:xfrm>
            <a:off x="6126480" y="2542032"/>
            <a:ext cx="0" cy="868680"/>
          </a:xfrm>
          <a:prstGeom prst="line">
            <a:avLst/>
          </a:prstGeom>
          <a:noFill/>
          <a:ln w="12700">
            <a:solidFill>
              <a:srgbClr val="B31B1B"/>
            </a:solidFill>
            <a:prstDash val="dash"/>
          </a:ln>
        </p:spPr>
      </p:sp>
      <p:sp>
        <p:nvSpPr>
          <p:cNvPr id="30" name="Text 28"/>
          <p:cNvSpPr/>
          <p:nvPr/>
        </p:nvSpPr>
        <p:spPr>
          <a:xfrm>
            <a:off x="4663440" y="3456432"/>
            <a:ext cx="3931920" cy="274320"/>
          </a:xfrm>
          <a:prstGeom prst="rect">
            <a:avLst/>
          </a:prstGeom>
          <a:noFill/>
          <a:ln/>
        </p:spPr>
        <p:txBody>
          <a:bodyPr wrap="square" lIns="0" tIns="0" rIns="0" bIns="0" rtlCol="0" anchor="ctr"/>
          <a:lstStyle/>
          <a:p>
            <a:pPr indent="0" marL="0">
              <a:buNone/>
            </a:pPr>
            <a:r>
              <a:rPr lang="en-US" sz="850" b="1" dirty="0">
                <a:solidFill>
                  <a:srgbClr val="B31B1B"/>
                </a:solidFill>
                <a:latin typeface="Courier New" pitchFamily="34" charset="0"/>
                <a:ea typeface="Courier New" pitchFamily="34" charset="-122"/>
                <a:cs typeface="Courier New" pitchFamily="34" charset="-120"/>
              </a:rPr>
              <a:t>✗  chatbot thường trích V1 — bản đã hết hiệu lực</a:t>
            </a:r>
            <a:endParaRPr lang="en-US" sz="850" dirty="0"/>
          </a:p>
        </p:txBody>
      </p:sp>
      <p:sp>
        <p:nvSpPr>
          <p:cNvPr id="31" name="Shape 29"/>
          <p:cNvSpPr/>
          <p:nvPr/>
        </p:nvSpPr>
        <p:spPr>
          <a:xfrm>
            <a:off x="9646920" y="2542032"/>
            <a:ext cx="0" cy="1417320"/>
          </a:xfrm>
          <a:prstGeom prst="line">
            <a:avLst/>
          </a:prstGeom>
          <a:noFill/>
          <a:ln w="12700">
            <a:solidFill>
              <a:srgbClr val="1E7A46"/>
            </a:solidFill>
            <a:prstDash val="solid"/>
          </a:ln>
        </p:spPr>
      </p:sp>
      <p:sp>
        <p:nvSpPr>
          <p:cNvPr id="32" name="Text 30"/>
          <p:cNvSpPr/>
          <p:nvPr/>
        </p:nvSpPr>
        <p:spPr>
          <a:xfrm>
            <a:off x="7498080" y="3986784"/>
            <a:ext cx="4023360" cy="274320"/>
          </a:xfrm>
          <a:prstGeom prst="rect">
            <a:avLst/>
          </a:prstGeom>
          <a:noFill/>
          <a:ln/>
        </p:spPr>
        <p:txBody>
          <a:bodyPr wrap="square" lIns="0" tIns="0" rIns="0" bIns="0" rtlCol="0" anchor="ctr"/>
          <a:lstStyle/>
          <a:p>
            <a:pPr indent="0" marL="0">
              <a:buNone/>
            </a:pPr>
            <a:r>
              <a:rPr lang="en-US" sz="850" b="1" dirty="0">
                <a:solidFill>
                  <a:srgbClr val="1E7A46"/>
                </a:solidFill>
                <a:latin typeface="Courier New" pitchFamily="34" charset="0"/>
                <a:ea typeface="Courier New" pitchFamily="34" charset="-122"/>
                <a:cs typeface="Courier New" pitchFamily="34" charset="-120"/>
              </a:rPr>
              <a:t>✓  RegVault trích V2 — kèm trích dẫn &amp; dòng thời gian</a:t>
            </a:r>
            <a:endParaRPr lang="en-US" sz="850" dirty="0"/>
          </a:p>
        </p:txBody>
      </p:sp>
      <p:sp>
        <p:nvSpPr>
          <p:cNvPr id="33" name="Shape 31"/>
          <p:cNvSpPr/>
          <p:nvPr/>
        </p:nvSpPr>
        <p:spPr>
          <a:xfrm>
            <a:off x="4297680" y="4590288"/>
            <a:ext cx="7251192" cy="0"/>
          </a:xfrm>
          <a:prstGeom prst="line">
            <a:avLst/>
          </a:prstGeom>
          <a:noFill/>
          <a:ln w="6350">
            <a:solidFill>
              <a:srgbClr val="C9CFD6"/>
            </a:solidFill>
            <a:prstDash val="solid"/>
          </a:ln>
        </p:spPr>
      </p:sp>
      <p:sp>
        <p:nvSpPr>
          <p:cNvPr id="34" name="Text 32"/>
          <p:cNvSpPr/>
          <p:nvPr/>
        </p:nvSpPr>
        <p:spPr>
          <a:xfrm>
            <a:off x="4297680" y="4636008"/>
            <a:ext cx="7251192" cy="457200"/>
          </a:xfrm>
          <a:prstGeom prst="rect">
            <a:avLst/>
          </a:prstGeom>
          <a:noFill/>
          <a:ln/>
        </p:spPr>
        <p:txBody>
          <a:bodyPr wrap="square" lIns="0" tIns="0" rIns="0" bIns="0" rtlCol="0" anchor="t"/>
          <a:lstStyle/>
          <a:p>
            <a:pPr indent="0" marL="0">
              <a:lnSpc>
                <a:spcPct val="105000"/>
              </a:lnSpc>
              <a:buNone/>
            </a:pPr>
            <a:r>
              <a:rPr lang="en-US" sz="900" i="1" dirty="0">
                <a:solidFill>
                  <a:srgbClr val="5F6B76"/>
                </a:solidFill>
                <a:latin typeface="Cambria" pitchFamily="34" charset="0"/>
                <a:ea typeface="Cambria" pitchFamily="34" charset="-122"/>
                <a:cs typeface="Cambria" pitchFamily="34" charset="-120"/>
              </a:rPr>
              <a:t>Hình 1 — Cái bẫy “500 → 700”: một sửa đổi, hai phiên bản — RAG thường không biết mình đang trích bản nào.</a:t>
            </a:r>
            <a:endParaRPr lang="en-US" sz="900" dirty="0"/>
          </a:p>
        </p:txBody>
      </p:sp>
      <p:sp>
        <p:nvSpPr>
          <p:cNvPr id="35" name="Text 33"/>
          <p:cNvSpPr/>
          <p:nvPr/>
        </p:nvSpPr>
        <p:spPr>
          <a:xfrm>
            <a:off x="640080" y="5413248"/>
            <a:ext cx="10908792" cy="566928"/>
          </a:xfrm>
          <a:prstGeom prst="rect">
            <a:avLst/>
          </a:prstGeom>
          <a:noFill/>
          <a:ln/>
        </p:spPr>
        <p:txBody>
          <a:bodyPr wrap="square" lIns="0" tIns="0" rIns="0" bIns="0" rtlCol="0" anchor="t"/>
          <a:lstStyle/>
          <a:p>
            <a:pPr indent="0" marL="0">
              <a:lnSpc>
                <a:spcPct val="110000"/>
              </a:lnSpc>
              <a:buNone/>
            </a:pPr>
            <a:r>
              <a:rPr lang="en-US" sz="1100" i="1" dirty="0">
                <a:solidFill>
                  <a:srgbClr val="111418"/>
                </a:solidFill>
                <a:latin typeface="Cambria" pitchFamily="34" charset="0"/>
                <a:ea typeface="Cambria" pitchFamily="34" charset="-122"/>
                <a:cs typeface="Cambria" pitchFamily="34" charset="-120"/>
              </a:rPr>
              <a:t>“RAG thông thường không thể mô hình hóa chính xác các quan hệ này, dẫn tới câu trả lời dựa trên quy định lỗi thời và rủi ro tuân thủ đáng kể… khó ngay cả với nhiều định chế tài chính hàng đầu thế giới.”</a:t>
            </a:r>
            <a:endParaRPr lang="en-US" sz="1100" dirty="0"/>
          </a:p>
        </p:txBody>
      </p:sp>
      <p:sp>
        <p:nvSpPr>
          <p:cNvPr id="36" name="Text 34"/>
          <p:cNvSpPr/>
          <p:nvPr/>
        </p:nvSpPr>
        <p:spPr>
          <a:xfrm>
            <a:off x="640080" y="6108192"/>
            <a:ext cx="10908792" cy="320040"/>
          </a:xfrm>
          <a:prstGeom prst="rect">
            <a:avLst/>
          </a:prstGeom>
          <a:noFill/>
          <a:ln/>
        </p:spPr>
        <p:txBody>
          <a:bodyPr wrap="square" lIns="0" tIns="0" rIns="0" bIns="0" rtlCol="0" anchor="t"/>
          <a:lstStyle/>
          <a:p>
            <a:pPr indent="0" marL="0">
              <a:buNone/>
            </a:pPr>
            <a:r>
              <a:rPr lang="en-US" sz="750" dirty="0">
                <a:solidFill>
                  <a:srgbClr val="5F6B76"/>
                </a:solidFill>
                <a:latin typeface="Courier New" pitchFamily="34" charset="0"/>
                <a:ea typeface="Courier New" pitchFamily="34" charset="-122"/>
                <a:cs typeface="Courier New" pitchFamily="34" charset="-120"/>
              </a:rPr>
              <a:t>[1] Đề bài SHB1, Vietnam AI Innovation Challenge 2026.</a:t>
            </a:r>
            <a:endParaRPr lang="en-US" sz="750" dirty="0"/>
          </a:p>
        </p:txBody>
      </p:sp>
      <p:sp>
        <p:nvSpPr>
          <p:cNvPr id="37" name="Shape 35"/>
          <p:cNvSpPr/>
          <p:nvPr/>
        </p:nvSpPr>
        <p:spPr>
          <a:xfrm>
            <a:off x="640080" y="6455664"/>
            <a:ext cx="10908792" cy="0"/>
          </a:xfrm>
          <a:prstGeom prst="line">
            <a:avLst/>
          </a:prstGeom>
          <a:noFill/>
          <a:ln w="6350">
            <a:solidFill>
              <a:srgbClr val="C9CFD6"/>
            </a:solidFill>
            <a:prstDash val="solid"/>
          </a:ln>
        </p:spPr>
      </p:sp>
      <p:sp>
        <p:nvSpPr>
          <p:cNvPr id="38" name="Text 36"/>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39" name="Text 37"/>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1 · TÊN &amp; MÔ TẢ DỰ ÁN</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RegVault = Regulation + Vault.</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640080" y="1600200"/>
            <a:ext cx="5120640" cy="2286000"/>
          </a:xfrm>
          <a:prstGeom prst="rect">
            <a:avLst/>
          </a:prstGeom>
          <a:noFill/>
          <a:ln/>
        </p:spPr>
        <p:txBody>
          <a:bodyPr wrap="square" lIns="0" tIns="0" rIns="0" bIns="0" rtlCol="0" anchor="t"/>
          <a:lstStyle/>
          <a:p>
            <a:pPr algn="just" indent="0" marL="0">
              <a:lnSpc>
                <a:spcPct val="122000"/>
              </a:lnSpc>
              <a:buNone/>
            </a:pPr>
            <a:r>
              <a:rPr lang="en-US" sz="1250" b="1" dirty="0">
                <a:solidFill>
                  <a:srgbClr val="111418"/>
                </a:solidFill>
                <a:latin typeface="Cambria" pitchFamily="34" charset="0"/>
                <a:ea typeface="Cambria" pitchFamily="34" charset="-122"/>
                <a:cs typeface="Cambria" pitchFamily="34" charset="-120"/>
              </a:rPr>
              <a:t>RegVault</a:t>
            </a:r>
            <a:pPr algn="just" indent="0" marL="0">
              <a:lnSpc>
                <a:spcPct val="122000"/>
              </a:lnSpc>
              <a:buNone/>
            </a:pPr>
            <a:r>
              <a:rPr lang="en-US" sz="1250" dirty="0">
                <a:solidFill>
                  <a:srgbClr val="111418"/>
                </a:solidFill>
                <a:latin typeface="Cambria" pitchFamily="34" charset="0"/>
                <a:ea typeface="Cambria" pitchFamily="34" charset="-122"/>
                <a:cs typeface="Cambria" pitchFamily="34" charset="-120"/>
              </a:rPr>
              <a:t> giúp đội Pháp chế &amp; Tuân thủ của ngân hàng xây dựng </a:t>
            </a:r>
            <a:pPr algn="just" indent="0" marL="0">
              <a:lnSpc>
                <a:spcPct val="122000"/>
              </a:lnSpc>
              <a:buNone/>
            </a:pPr>
            <a:r>
              <a:rPr lang="en-US" sz="1250" b="1" dirty="0">
                <a:solidFill>
                  <a:srgbClr val="111418"/>
                </a:solidFill>
                <a:latin typeface="Cambria" pitchFamily="34" charset="0"/>
                <a:ea typeface="Cambria" pitchFamily="34" charset="-122"/>
                <a:cs typeface="Cambria" pitchFamily="34" charset="-120"/>
              </a:rPr>
              <a:t>kho quy định đã được xác minh</a:t>
            </a:r>
            <a:pPr algn="just" indent="0" marL="0">
              <a:lnSpc>
                <a:spcPct val="122000"/>
              </a:lnSpc>
              <a:buNone/>
            </a:pPr>
            <a:r>
              <a:rPr lang="en-US" sz="1250" dirty="0">
                <a:solidFill>
                  <a:srgbClr val="111418"/>
                </a:solidFill>
                <a:latin typeface="Cambria" pitchFamily="34" charset="0"/>
                <a:ea typeface="Cambria" pitchFamily="34" charset="-122"/>
                <a:cs typeface="Cambria" pitchFamily="34" charset="-120"/>
              </a:rPr>
              <a:t> — parse tới Điều/Khoản/Điểm, quản lý phiên bản theo thời gian, mọi thay đổi đều qua con người duyệt — rồi dùng chính kho đó để </a:t>
            </a:r>
            <a:pPr algn="just" indent="0" marL="0">
              <a:lnSpc>
                <a:spcPct val="122000"/>
              </a:lnSpc>
              <a:buNone/>
            </a:pPr>
            <a:r>
              <a:rPr lang="en-US" sz="1250" b="1" dirty="0">
                <a:solidFill>
                  <a:srgbClr val="111418"/>
                </a:solidFill>
                <a:latin typeface="Cambria" pitchFamily="34" charset="0"/>
                <a:ea typeface="Cambria" pitchFamily="34" charset="-122"/>
                <a:cs typeface="Cambria" pitchFamily="34" charset="-120"/>
              </a:rPr>
              <a:t>đánh giá tác động của quy định mới</a:t>
            </a:r>
            <a:pPr algn="just" indent="0" marL="0">
              <a:lnSpc>
                <a:spcPct val="122000"/>
              </a:lnSpc>
              <a:buNone/>
            </a:pPr>
            <a:r>
              <a:rPr lang="en-US" sz="1250" dirty="0">
                <a:solidFill>
                  <a:srgbClr val="111418"/>
                </a:solidFill>
                <a:latin typeface="Cambria" pitchFamily="34" charset="0"/>
                <a:ea typeface="Cambria" pitchFamily="34" charset="-122"/>
                <a:cs typeface="Cambria" pitchFamily="34" charset="-120"/>
              </a:rPr>
              <a:t> và </a:t>
            </a:r>
            <a:pPr algn="just" indent="0" marL="0">
              <a:lnSpc>
                <a:spcPct val="122000"/>
              </a:lnSpc>
              <a:buNone/>
            </a:pPr>
            <a:r>
              <a:rPr lang="en-US" sz="1250" b="1" dirty="0">
                <a:solidFill>
                  <a:srgbClr val="111418"/>
                </a:solidFill>
                <a:latin typeface="Cambria" pitchFamily="34" charset="0"/>
                <a:ea typeface="Cambria" pitchFamily="34" charset="-122"/>
                <a:cs typeface="Cambria" pitchFamily="34" charset="-120"/>
              </a:rPr>
              <a:t>kiểm tra mức độ phù hợp của policy, báo cáo nội bộ</a:t>
            </a:r>
            <a:pPr algn="just" indent="0" marL="0">
              <a:lnSpc>
                <a:spcPct val="122000"/>
              </a:lnSpc>
              <a:buNone/>
            </a:pPr>
            <a:r>
              <a:rPr lang="en-US" sz="1250" dirty="0">
                <a:solidFill>
                  <a:srgbClr val="111418"/>
                </a:solidFill>
                <a:latin typeface="Cambria" pitchFamily="34" charset="0"/>
                <a:ea typeface="Cambria" pitchFamily="34" charset="-122"/>
                <a:cs typeface="Cambria" pitchFamily="34" charset="-120"/>
              </a:rPr>
              <a:t>. Mọi kết luận đều kèm phiên bản, ngày hiệu lực, bằng chứng và trạng thái duyệt.</a:t>
            </a:r>
            <a:endParaRPr lang="en-US" sz="1250" dirty="0"/>
          </a:p>
        </p:txBody>
      </p:sp>
      <p:sp>
        <p:nvSpPr>
          <p:cNvPr id="7" name="Text 5"/>
          <p:cNvSpPr/>
          <p:nvPr/>
        </p:nvSpPr>
        <p:spPr>
          <a:xfrm>
            <a:off x="640080" y="3977640"/>
            <a:ext cx="5120640" cy="777240"/>
          </a:xfrm>
          <a:prstGeom prst="rect">
            <a:avLst/>
          </a:prstGeom>
          <a:noFill/>
          <a:ln/>
        </p:spPr>
        <p:txBody>
          <a:bodyPr wrap="square" lIns="0" tIns="0" rIns="0" bIns="0" rtlCol="0" anchor="t"/>
          <a:lstStyle/>
          <a:p>
            <a:pPr indent="0" marL="0">
              <a:lnSpc>
                <a:spcPct val="115000"/>
              </a:lnSpc>
              <a:buNone/>
            </a:pPr>
            <a:r>
              <a:rPr lang="en-US" sz="1150" i="1" dirty="0">
                <a:solidFill>
                  <a:srgbClr val="5F6B76"/>
                </a:solidFill>
                <a:latin typeface="Cambria" pitchFamily="34" charset="0"/>
                <a:ea typeface="Cambria" pitchFamily="34" charset="-122"/>
                <a:cs typeface="Cambria" pitchFamily="34" charset="-120"/>
              </a:rPr>
              <a:t>Một luồng xác minh quy định trước khi vào két; một luồng dùng két đã xác minh để rà soát policy và báo cáo.</a:t>
            </a:r>
            <a:endParaRPr lang="en-US" sz="1150" dirty="0"/>
          </a:p>
        </p:txBody>
      </p:sp>
      <p:sp>
        <p:nvSpPr>
          <p:cNvPr id="8" name="Text 6"/>
          <p:cNvSpPr/>
          <p:nvPr/>
        </p:nvSpPr>
        <p:spPr>
          <a:xfrm>
            <a:off x="640080" y="4892040"/>
            <a:ext cx="5120640" cy="1005840"/>
          </a:xfrm>
          <a:prstGeom prst="rect">
            <a:avLst/>
          </a:prstGeom>
          <a:noFill/>
          <a:ln/>
        </p:spPr>
        <p:txBody>
          <a:bodyPr wrap="square" lIns="0" tIns="0" rIns="0" bIns="0" rtlCol="0" anchor="t"/>
          <a:lstStyle/>
          <a:p>
            <a:pPr indent="0" marL="0">
              <a:lnSpc>
                <a:spcPct val="112000"/>
              </a:lnSpc>
              <a:buNone/>
            </a:pPr>
            <a:r>
              <a:rPr lang="en-US" sz="1600" b="1" dirty="0">
                <a:solidFill>
                  <a:srgbClr val="B31B1B"/>
                </a:solidFill>
                <a:latin typeface="Cambria" pitchFamily="34" charset="0"/>
                <a:ea typeface="Cambria" pitchFamily="34" charset="-122"/>
                <a:cs typeface="Cambria" pitchFamily="34" charset="-120"/>
              </a:rPr>
              <a:t>Không tài liệu nào trở thành căn cứ pháp lý chỉ vì được upload.</a:t>
            </a:r>
            <a:endParaRPr lang="en-US" sz="1600" dirty="0"/>
          </a:p>
        </p:txBody>
      </p:sp>
      <p:sp>
        <p:nvSpPr>
          <p:cNvPr id="9" name="Shape 7"/>
          <p:cNvSpPr/>
          <p:nvPr/>
        </p:nvSpPr>
        <p:spPr>
          <a:xfrm>
            <a:off x="6309360" y="1600200"/>
            <a:ext cx="5239512" cy="0"/>
          </a:xfrm>
          <a:prstGeom prst="line">
            <a:avLst/>
          </a:prstGeom>
          <a:noFill/>
          <a:ln w="22225">
            <a:solidFill>
              <a:srgbClr val="111418"/>
            </a:solidFill>
            <a:prstDash val="solid"/>
          </a:ln>
        </p:spPr>
      </p:sp>
      <p:sp>
        <p:nvSpPr>
          <p:cNvPr id="10" name="Text 8"/>
          <p:cNvSpPr/>
          <p:nvPr/>
        </p:nvSpPr>
        <p:spPr>
          <a:xfrm>
            <a:off x="6309360" y="1700784"/>
            <a:ext cx="5239512" cy="219456"/>
          </a:xfrm>
          <a:prstGeom prst="rect">
            <a:avLst/>
          </a:prstGeom>
          <a:noFill/>
          <a:ln/>
        </p:spPr>
        <p:txBody>
          <a:bodyPr wrap="square" lIns="0" tIns="0" rIns="0" bIns="0" rtlCol="0" anchor="ctr"/>
          <a:lstStyle/>
          <a:p>
            <a:pPr indent="0" marL="0">
              <a:buNone/>
            </a:pPr>
            <a:r>
              <a:rPr lang="en-US" sz="850" b="1" spc="150" kern="0" dirty="0">
                <a:solidFill>
                  <a:srgbClr val="B31B1B"/>
                </a:solidFill>
                <a:latin typeface="Courier New" pitchFamily="34" charset="0"/>
                <a:ea typeface="Courier New" pitchFamily="34" charset="-122"/>
                <a:cs typeface="Courier New" pitchFamily="34" charset="-120"/>
              </a:rPr>
              <a:t>ĐỊNH NGHĨA 1 — CĂN CỨ PHÁP LÝ TẠI NGÀY d</a:t>
            </a:r>
            <a:endParaRPr lang="en-US" sz="850" dirty="0"/>
          </a:p>
        </p:txBody>
      </p:sp>
      <p:sp>
        <p:nvSpPr>
          <p:cNvPr id="11" name="Text 9"/>
          <p:cNvSpPr/>
          <p:nvPr/>
        </p:nvSpPr>
        <p:spPr>
          <a:xfrm>
            <a:off x="6400800" y="2011680"/>
            <a:ext cx="5056632" cy="1051560"/>
          </a:xfrm>
          <a:prstGeom prst="rect">
            <a:avLst/>
          </a:prstGeom>
          <a:noFill/>
          <a:ln/>
        </p:spPr>
        <p:txBody>
          <a:bodyPr wrap="square" lIns="0" tIns="0" rIns="0" bIns="0" rtlCol="0" anchor="t"/>
          <a:lstStyle/>
          <a:p>
            <a:pPr indent="0" marL="0">
              <a:lnSpc>
                <a:spcPct val="115000"/>
              </a:lnSpc>
              <a:buNone/>
            </a:pPr>
            <a:r>
              <a:rPr lang="en-US" sz="1000" dirty="0">
                <a:solidFill>
                  <a:srgbClr val="111418"/>
                </a:solidFill>
                <a:latin typeface="Courier New" pitchFamily="34" charset="0"/>
                <a:ea typeface="Courier New" pitchFamily="34" charset="-122"/>
                <a:cs typeface="Courier New" pitchFamily="34" charset="-120"/>
              </a:rPr>
              <a:t>is_ground_truth(doc, d) :=</a:t>
            </a:r>
            <a:endParaRPr lang="en-US" sz="1000" dirty="0"/>
          </a:p>
          <a:p>
            <a:pPr indent="0" marL="0">
              <a:lnSpc>
                <a:spcPct val="115000"/>
              </a:lnSpc>
              <a:buNone/>
            </a:pPr>
            <a:r>
              <a:rPr lang="en-US" sz="1000" dirty="0">
                <a:solidFill>
                  <a:srgbClr val="111418"/>
                </a:solidFill>
                <a:latin typeface="Courier New" pitchFamily="34" charset="0"/>
                <a:ea typeface="Courier New" pitchFamily="34" charset="-122"/>
                <a:cs typeface="Courier New" pitchFamily="34" charset="-120"/>
              </a:rPr>
              <a:t>     trust_class = AUTHORITY_SOURCE</a:t>
            </a:r>
            <a:endParaRPr lang="en-US" sz="1000" dirty="0"/>
          </a:p>
          <a:p>
            <a:pPr indent="0" marL="0">
              <a:lnSpc>
                <a:spcPct val="115000"/>
              </a:lnSpc>
              <a:buNone/>
            </a:pPr>
            <a:r>
              <a:rPr lang="en-US" sz="1000" dirty="0">
                <a:solidFill>
                  <a:srgbClr val="111418"/>
                </a:solidFill>
                <a:latin typeface="Courier New" pitchFamily="34" charset="0"/>
                <a:ea typeface="Courier New" pitchFamily="34" charset="-122"/>
                <a:cs typeface="Courier New" pitchFamily="34" charset="-120"/>
              </a:rPr>
              <a:t>   ∧ status      = APPROVED ∧ ACTIVE</a:t>
            </a:r>
            <a:endParaRPr lang="en-US" sz="1000" dirty="0"/>
          </a:p>
          <a:p>
            <a:pPr indent="0" marL="0">
              <a:lnSpc>
                <a:spcPct val="115000"/>
              </a:lnSpc>
              <a:buNone/>
            </a:pPr>
            <a:r>
              <a:rPr lang="en-US" sz="1000" dirty="0">
                <a:solidFill>
                  <a:srgbClr val="111418"/>
                </a:solidFill>
                <a:latin typeface="Courier New" pitchFamily="34" charset="0"/>
                <a:ea typeface="Courier New" pitchFamily="34" charset="-122"/>
                <a:cs typeface="Courier New" pitchFamily="34" charset="-120"/>
              </a:rPr>
              <a:t>   ∧ valid_from ≤ d &lt; valid_to_exclusive</a:t>
            </a:r>
            <a:endParaRPr lang="en-US" sz="1000" dirty="0"/>
          </a:p>
        </p:txBody>
      </p:sp>
      <p:sp>
        <p:nvSpPr>
          <p:cNvPr id="12" name="Shape 10"/>
          <p:cNvSpPr/>
          <p:nvPr/>
        </p:nvSpPr>
        <p:spPr>
          <a:xfrm>
            <a:off x="6309360" y="3127248"/>
            <a:ext cx="5239512" cy="0"/>
          </a:xfrm>
          <a:prstGeom prst="line">
            <a:avLst/>
          </a:prstGeom>
          <a:noFill/>
          <a:ln w="9525">
            <a:solidFill>
              <a:srgbClr val="111418"/>
            </a:solidFill>
            <a:prstDash val="solid"/>
          </a:ln>
        </p:spPr>
      </p:sp>
      <p:sp>
        <p:nvSpPr>
          <p:cNvPr id="13" name="Text 11"/>
          <p:cNvSpPr/>
          <p:nvPr/>
        </p:nvSpPr>
        <p:spPr>
          <a:xfrm>
            <a:off x="6309360" y="3310128"/>
            <a:ext cx="5239512"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VÒNG ĐỜI NGUỒN PHÁP LÝ (máy trạng thái)</a:t>
            </a:r>
            <a:endParaRPr lang="en-US" sz="850" dirty="0"/>
          </a:p>
        </p:txBody>
      </p:sp>
      <p:sp>
        <p:nvSpPr>
          <p:cNvPr id="14" name="Text 12"/>
          <p:cNvSpPr/>
          <p:nvPr/>
        </p:nvSpPr>
        <p:spPr>
          <a:xfrm>
            <a:off x="6400800" y="3584448"/>
            <a:ext cx="5056632" cy="548640"/>
          </a:xfrm>
          <a:prstGeom prst="rect">
            <a:avLst/>
          </a:prstGeom>
          <a:noFill/>
          <a:ln/>
        </p:spPr>
        <p:txBody>
          <a:bodyPr wrap="square" lIns="0" tIns="0" rIns="0" bIns="0" rtlCol="0" anchor="t"/>
          <a:lstStyle/>
          <a:p>
            <a:pPr indent="0" marL="0">
              <a:lnSpc>
                <a:spcPct val="120000"/>
              </a:lnSpc>
              <a:buNone/>
            </a:pPr>
            <a:r>
              <a:rPr lang="en-US" sz="950" dirty="0">
                <a:solidFill>
                  <a:srgbClr val="111418"/>
                </a:solidFill>
                <a:latin typeface="Courier New" pitchFamily="34" charset="0"/>
                <a:ea typeface="Courier New" pitchFamily="34" charset="-122"/>
                <a:cs typeface="Courier New" pitchFamily="34" charset="-120"/>
              </a:rPr>
              <a:t>RECEIVED → QUARANTINED → EXTRACTED → PARSED</a:t>
            </a:r>
            <a:endParaRPr lang="en-US" sz="950" dirty="0"/>
          </a:p>
          <a:p>
            <a:pPr indent="0" marL="0">
              <a:lnSpc>
                <a:spcPct val="120000"/>
              </a:lnSpc>
              <a:buNone/>
            </a:pPr>
            <a:r>
              <a:rPr lang="en-US" sz="950" dirty="0">
                <a:solidFill>
                  <a:srgbClr val="111418"/>
                </a:solidFill>
                <a:latin typeface="Courier New" pitchFamily="34" charset="0"/>
                <a:ea typeface="Courier New" pitchFamily="34" charset="-122"/>
                <a:cs typeface="Courier New" pitchFamily="34" charset="-120"/>
              </a:rPr>
              <a:t>→ REVIEW_REQUIRED → APPROVED → ACTIVE</a:t>
            </a:r>
            <a:endParaRPr lang="en-US" sz="950" dirty="0"/>
          </a:p>
        </p:txBody>
      </p:sp>
      <p:sp>
        <p:nvSpPr>
          <p:cNvPr id="15" name="Text 13"/>
          <p:cNvSpPr/>
          <p:nvPr/>
        </p:nvSpPr>
        <p:spPr>
          <a:xfrm>
            <a:off x="6400800" y="4224528"/>
            <a:ext cx="5056632" cy="457200"/>
          </a:xfrm>
          <a:prstGeom prst="rect">
            <a:avLst/>
          </a:prstGeom>
          <a:noFill/>
          <a:ln/>
        </p:spPr>
        <p:txBody>
          <a:bodyPr wrap="square" lIns="0" tIns="0" rIns="0" bIns="0" rtlCol="0" anchor="t"/>
          <a:lstStyle/>
          <a:p>
            <a:pPr indent="0" marL="0">
              <a:buNone/>
            </a:pPr>
            <a:r>
              <a:rPr lang="en-US" sz="950" i="1" dirty="0">
                <a:solidFill>
                  <a:srgbClr val="5F6B76"/>
                </a:solidFill>
                <a:latin typeface="Cambria" pitchFamily="34" charset="0"/>
                <a:ea typeface="Cambria" pitchFamily="34" charset="-122"/>
                <a:cs typeface="Cambria" pitchFamily="34" charset="-120"/>
              </a:rPr>
              <a:t>REVIEW_TARGET (tài liệu cần kiểm) đi máy trạng thái riêng — không bao giờ nhập vào kho pháp lý.</a:t>
            </a:r>
            <a:endParaRPr lang="en-US" sz="950" dirty="0"/>
          </a:p>
        </p:txBody>
      </p:sp>
      <p:sp>
        <p:nvSpPr>
          <p:cNvPr id="16" name="Shape 14"/>
          <p:cNvSpPr/>
          <p:nvPr/>
        </p:nvSpPr>
        <p:spPr>
          <a:xfrm>
            <a:off x="6309360" y="4800600"/>
            <a:ext cx="5239512" cy="0"/>
          </a:xfrm>
          <a:prstGeom prst="line">
            <a:avLst/>
          </a:prstGeom>
          <a:noFill/>
          <a:ln w="9525">
            <a:solidFill>
              <a:srgbClr val="111418"/>
            </a:solidFill>
            <a:prstDash val="solid"/>
          </a:ln>
        </p:spPr>
      </p:sp>
      <p:sp>
        <p:nvSpPr>
          <p:cNvPr id="17" name="Text 15"/>
          <p:cNvSpPr/>
          <p:nvPr/>
        </p:nvSpPr>
        <p:spPr>
          <a:xfrm>
            <a:off x="6309360" y="4983480"/>
            <a:ext cx="5239512"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VÌ SAO GỌI LÀ “KÉT SẮT”</a:t>
            </a:r>
            <a:endParaRPr lang="en-US" sz="850" dirty="0"/>
          </a:p>
        </p:txBody>
      </p:sp>
      <p:sp>
        <p:nvSpPr>
          <p:cNvPr id="18" name="Text 16"/>
          <p:cNvSpPr/>
          <p:nvPr/>
        </p:nvSpPr>
        <p:spPr>
          <a:xfrm>
            <a:off x="6400800" y="5257800"/>
            <a:ext cx="5056632" cy="731520"/>
          </a:xfrm>
          <a:prstGeom prst="rect">
            <a:avLst/>
          </a:prstGeom>
          <a:noFill/>
          <a:ln/>
        </p:spPr>
        <p:txBody>
          <a:bodyPr wrap="square" lIns="0" tIns="0" rIns="0" bIns="0" rtlCol="0" anchor="t"/>
          <a:lstStyle/>
          <a:p>
            <a:pPr indent="0" marL="0">
              <a:lnSpc>
                <a:spcPct val="115000"/>
              </a:lnSpc>
              <a:buNone/>
            </a:pPr>
            <a:r>
              <a:rPr lang="en-US" sz="1100" dirty="0">
                <a:solidFill>
                  <a:srgbClr val="111418"/>
                </a:solidFill>
                <a:latin typeface="Cambria" pitchFamily="34" charset="0"/>
                <a:ea typeface="Cambria" pitchFamily="34" charset="-122"/>
                <a:cs typeface="Cambria" pitchFamily="34" charset="-120"/>
              </a:rPr>
              <a:t>Két sắt chỉ chứa những gì đã được xác minh — và chứng minh được tại bất kỳ ngày nào bên trong có gì.</a:t>
            </a:r>
            <a:endParaRPr lang="en-US" sz="1100" dirty="0"/>
          </a:p>
        </p:txBody>
      </p:sp>
      <p:sp>
        <p:nvSpPr>
          <p:cNvPr id="19" name="Shape 17"/>
          <p:cNvSpPr/>
          <p:nvPr/>
        </p:nvSpPr>
        <p:spPr>
          <a:xfrm>
            <a:off x="640080" y="6455664"/>
            <a:ext cx="10908792" cy="0"/>
          </a:xfrm>
          <a:prstGeom prst="line">
            <a:avLst/>
          </a:prstGeom>
          <a:noFill/>
          <a:ln w="6350">
            <a:solidFill>
              <a:srgbClr val="C9CFD6"/>
            </a:solidFill>
            <a:prstDash val="solid"/>
          </a:ln>
        </p:spPr>
      </p:sp>
      <p:sp>
        <p:nvSpPr>
          <p:cNvPr id="20" name="Text 18"/>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21" name="Text 19"/>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2 · PRODUCT CONCEPT — 3 LEVELS OF PRODUCT</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Ba tầng sản phẩm: bán sự chắc chắn, không bán câu trả lời.</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Shape 4"/>
          <p:cNvSpPr/>
          <p:nvPr/>
        </p:nvSpPr>
        <p:spPr>
          <a:xfrm>
            <a:off x="685800" y="1691640"/>
            <a:ext cx="4206240" cy="4206240"/>
          </a:xfrm>
          <a:prstGeom prst="ellipse">
            <a:avLst/>
          </a:prstGeom>
          <a:solidFill>
            <a:srgbClr val="FFFFFF"/>
          </a:solidFill>
          <a:ln w="12700">
            <a:solidFill>
              <a:srgbClr val="C9CFD6"/>
            </a:solidFill>
            <a:prstDash val="solid"/>
          </a:ln>
        </p:spPr>
      </p:sp>
      <p:sp>
        <p:nvSpPr>
          <p:cNvPr id="7" name="Shape 5"/>
          <p:cNvSpPr/>
          <p:nvPr/>
        </p:nvSpPr>
        <p:spPr>
          <a:xfrm>
            <a:off x="1325880" y="2331720"/>
            <a:ext cx="2926080" cy="2926080"/>
          </a:xfrm>
          <a:prstGeom prst="ellipse">
            <a:avLst/>
          </a:prstGeom>
          <a:solidFill>
            <a:srgbClr val="FFFFFF"/>
          </a:solidFill>
          <a:ln w="12700">
            <a:solidFill>
              <a:srgbClr val="5F6B76"/>
            </a:solidFill>
            <a:prstDash val="solid"/>
          </a:ln>
        </p:spPr>
      </p:sp>
      <p:sp>
        <p:nvSpPr>
          <p:cNvPr id="8" name="Shape 6"/>
          <p:cNvSpPr/>
          <p:nvPr/>
        </p:nvSpPr>
        <p:spPr>
          <a:xfrm>
            <a:off x="1920240" y="2926080"/>
            <a:ext cx="1737360" cy="1737360"/>
          </a:xfrm>
          <a:prstGeom prst="ellipse">
            <a:avLst/>
          </a:prstGeom>
          <a:solidFill>
            <a:srgbClr val="FFFFFF"/>
          </a:solidFill>
          <a:ln w="15875">
            <a:solidFill>
              <a:srgbClr val="111418"/>
            </a:solidFill>
            <a:prstDash val="solid"/>
          </a:ln>
        </p:spPr>
      </p:sp>
      <p:sp>
        <p:nvSpPr>
          <p:cNvPr id="9" name="Shape 7"/>
          <p:cNvSpPr/>
          <p:nvPr/>
        </p:nvSpPr>
        <p:spPr>
          <a:xfrm>
            <a:off x="2331720" y="3337560"/>
            <a:ext cx="914400" cy="914400"/>
          </a:xfrm>
          <a:prstGeom prst="ellipse">
            <a:avLst/>
          </a:prstGeom>
          <a:solidFill>
            <a:srgbClr val="B31B1B"/>
          </a:solidFill>
          <a:ln/>
        </p:spPr>
      </p:sp>
      <p:sp>
        <p:nvSpPr>
          <p:cNvPr id="10" name="Text 8"/>
          <p:cNvSpPr/>
          <p:nvPr/>
        </p:nvSpPr>
        <p:spPr>
          <a:xfrm>
            <a:off x="2331720" y="3337560"/>
            <a:ext cx="914400" cy="91440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LÕI</a:t>
            </a:r>
            <a:endParaRPr lang="en-US" sz="900" dirty="0"/>
          </a:p>
        </p:txBody>
      </p:sp>
      <p:sp>
        <p:nvSpPr>
          <p:cNvPr id="11" name="Text 9"/>
          <p:cNvSpPr/>
          <p:nvPr/>
        </p:nvSpPr>
        <p:spPr>
          <a:xfrm>
            <a:off x="1325880" y="1764792"/>
            <a:ext cx="2926080" cy="201168"/>
          </a:xfrm>
          <a:prstGeom prst="rect">
            <a:avLst/>
          </a:prstGeom>
          <a:noFill/>
          <a:ln/>
        </p:spPr>
        <p:txBody>
          <a:bodyPr wrap="square" lIns="0" tIns="0" rIns="0" bIns="0" rtlCol="0" anchor="ctr"/>
          <a:lstStyle/>
          <a:p>
            <a:pPr algn="ctr" indent="0" marL="0">
              <a:buNone/>
            </a:pPr>
            <a:r>
              <a:rPr lang="en-US" sz="800" b="1" dirty="0">
                <a:solidFill>
                  <a:srgbClr val="5F6B76"/>
                </a:solidFill>
                <a:latin typeface="Courier New" pitchFamily="34" charset="0"/>
                <a:ea typeface="Courier New" pitchFamily="34" charset="-122"/>
                <a:cs typeface="Courier New" pitchFamily="34" charset="-120"/>
              </a:rPr>
              <a:t>SẢN PHẨM GIA TĂNG</a:t>
            </a:r>
            <a:endParaRPr lang="en-US" sz="800" dirty="0"/>
          </a:p>
        </p:txBody>
      </p:sp>
      <p:sp>
        <p:nvSpPr>
          <p:cNvPr id="12" name="Text 10"/>
          <p:cNvSpPr/>
          <p:nvPr/>
        </p:nvSpPr>
        <p:spPr>
          <a:xfrm>
            <a:off x="1325880" y="2404872"/>
            <a:ext cx="2926080" cy="201168"/>
          </a:xfrm>
          <a:prstGeom prst="rect">
            <a:avLst/>
          </a:prstGeom>
          <a:noFill/>
          <a:ln/>
        </p:spPr>
        <p:txBody>
          <a:bodyPr wrap="square" lIns="0" tIns="0" rIns="0" bIns="0" rtlCol="0" anchor="ctr"/>
          <a:lstStyle/>
          <a:p>
            <a:pPr algn="ctr" indent="0" marL="0">
              <a:buNone/>
            </a:pPr>
            <a:r>
              <a:rPr lang="en-US" sz="800" b="1" dirty="0">
                <a:solidFill>
                  <a:srgbClr val="5F6B76"/>
                </a:solidFill>
                <a:latin typeface="Courier New" pitchFamily="34" charset="0"/>
                <a:ea typeface="Courier New" pitchFamily="34" charset="-122"/>
                <a:cs typeface="Courier New" pitchFamily="34" charset="-120"/>
              </a:rPr>
              <a:t>SẢN PHẨM HIỆN HỮU</a:t>
            </a:r>
            <a:endParaRPr lang="en-US" sz="800" dirty="0"/>
          </a:p>
        </p:txBody>
      </p:sp>
      <p:sp>
        <p:nvSpPr>
          <p:cNvPr id="13" name="Shape 11"/>
          <p:cNvSpPr/>
          <p:nvPr/>
        </p:nvSpPr>
        <p:spPr>
          <a:xfrm>
            <a:off x="640080" y="5989320"/>
            <a:ext cx="4297680" cy="0"/>
          </a:xfrm>
          <a:prstGeom prst="line">
            <a:avLst/>
          </a:prstGeom>
          <a:noFill/>
          <a:ln w="6350">
            <a:solidFill>
              <a:srgbClr val="C9CFD6"/>
            </a:solidFill>
            <a:prstDash val="solid"/>
          </a:ln>
        </p:spPr>
      </p:sp>
      <p:sp>
        <p:nvSpPr>
          <p:cNvPr id="14" name="Text 12"/>
          <p:cNvSpPr/>
          <p:nvPr/>
        </p:nvSpPr>
        <p:spPr>
          <a:xfrm>
            <a:off x="640080" y="6035040"/>
            <a:ext cx="4297680" cy="457200"/>
          </a:xfrm>
          <a:prstGeom prst="rect">
            <a:avLst/>
          </a:prstGeom>
          <a:noFill/>
          <a:ln/>
        </p:spPr>
        <p:txBody>
          <a:bodyPr wrap="square" lIns="0" tIns="0" rIns="0" bIns="0" rtlCol="0" anchor="t"/>
          <a:lstStyle/>
          <a:p>
            <a:pPr indent="0" marL="0">
              <a:lnSpc>
                <a:spcPct val="105000"/>
              </a:lnSpc>
              <a:buNone/>
            </a:pPr>
            <a:r>
              <a:rPr lang="en-US" sz="900" i="1" dirty="0">
                <a:solidFill>
                  <a:srgbClr val="5F6B76"/>
                </a:solidFill>
                <a:latin typeface="Cambria" pitchFamily="34" charset="0"/>
                <a:ea typeface="Cambria" pitchFamily="34" charset="-122"/>
                <a:cs typeface="Cambria" pitchFamily="34" charset="-120"/>
              </a:rPr>
              <a:t>Hình 2 — Mô hình ba tầng sản phẩm (theo Kotler).</a:t>
            </a:r>
            <a:endParaRPr lang="en-US" sz="900" dirty="0"/>
          </a:p>
        </p:txBody>
      </p:sp>
      <p:sp>
        <p:nvSpPr>
          <p:cNvPr id="15" name="Text 13"/>
          <p:cNvSpPr/>
          <p:nvPr/>
        </p:nvSpPr>
        <p:spPr>
          <a:xfrm>
            <a:off x="5669280" y="1600200"/>
            <a:ext cx="5852160" cy="219456"/>
          </a:xfrm>
          <a:prstGeom prst="rect">
            <a:avLst/>
          </a:prstGeom>
          <a:noFill/>
          <a:ln/>
        </p:spPr>
        <p:txBody>
          <a:bodyPr wrap="square" lIns="0" tIns="0" rIns="0" bIns="0" rtlCol="0" anchor="ctr"/>
          <a:lstStyle/>
          <a:p>
            <a:pPr indent="0" marL="0">
              <a:buNone/>
            </a:pPr>
            <a:r>
              <a:rPr lang="en-US" sz="850" b="1" spc="150" kern="0" dirty="0">
                <a:solidFill>
                  <a:srgbClr val="B31B1B"/>
                </a:solidFill>
                <a:latin typeface="Courier New" pitchFamily="34" charset="0"/>
                <a:ea typeface="Courier New" pitchFamily="34" charset="-122"/>
                <a:cs typeface="Courier New" pitchFamily="34" charset="-120"/>
              </a:rPr>
              <a:t>01 — GIÁ TRỊ LÕI</a:t>
            </a:r>
            <a:endParaRPr lang="en-US" sz="850" dirty="0"/>
          </a:p>
        </p:txBody>
      </p:sp>
      <p:sp>
        <p:nvSpPr>
          <p:cNvPr id="16" name="Text 14"/>
          <p:cNvSpPr/>
          <p:nvPr/>
        </p:nvSpPr>
        <p:spPr>
          <a:xfrm>
            <a:off x="5669280" y="1856232"/>
            <a:ext cx="5879592" cy="1051560"/>
          </a:xfrm>
          <a:prstGeom prst="rect">
            <a:avLst/>
          </a:prstGeom>
          <a:noFill/>
          <a:ln/>
        </p:spPr>
        <p:txBody>
          <a:bodyPr wrap="square" lIns="0" tIns="0" rIns="0" bIns="0" rtlCol="0" anchor="t"/>
          <a:lstStyle/>
          <a:p>
            <a:pPr algn="just" indent="0" marL="0">
              <a:lnSpc>
                <a:spcPct val="114000"/>
              </a:lnSpc>
              <a:buNone/>
            </a:pPr>
            <a:r>
              <a:rPr lang="en-US" sz="1000" dirty="0">
                <a:solidFill>
                  <a:srgbClr val="111418"/>
                </a:solidFill>
                <a:latin typeface="Cambria" pitchFamily="34" charset="0"/>
                <a:ea typeface="Cambria" pitchFamily="34" charset="-122"/>
                <a:cs typeface="Cambria" pitchFamily="34" charset="-120"/>
              </a:rPr>
              <a:t>Đúng điều khoản, đúng phiên bản, đúng thời điểm — kèm bằng chứng mà ngân hàng bảo vệ được trước kiểm toán và thanh tra NHNN. Trả lại cho mỗi cán bộ 2–3 giờ mỗi ngày.</a:t>
            </a:r>
            <a:endParaRPr lang="en-US" sz="1000" dirty="0"/>
          </a:p>
        </p:txBody>
      </p:sp>
      <p:sp>
        <p:nvSpPr>
          <p:cNvPr id="17" name="Shape 15"/>
          <p:cNvSpPr/>
          <p:nvPr/>
        </p:nvSpPr>
        <p:spPr>
          <a:xfrm>
            <a:off x="5669280" y="2852928"/>
            <a:ext cx="5879592" cy="0"/>
          </a:xfrm>
          <a:prstGeom prst="line">
            <a:avLst/>
          </a:prstGeom>
          <a:noFill/>
          <a:ln w="6350">
            <a:solidFill>
              <a:srgbClr val="C9CFD6"/>
            </a:solidFill>
            <a:prstDash val="solid"/>
          </a:ln>
        </p:spPr>
      </p:sp>
      <p:sp>
        <p:nvSpPr>
          <p:cNvPr id="18" name="Text 16"/>
          <p:cNvSpPr/>
          <p:nvPr/>
        </p:nvSpPr>
        <p:spPr>
          <a:xfrm>
            <a:off x="5669280" y="3017520"/>
            <a:ext cx="5852160"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02 — SẢN PHẨM HIỆN HỮU</a:t>
            </a:r>
            <a:endParaRPr lang="en-US" sz="850" dirty="0"/>
          </a:p>
        </p:txBody>
      </p:sp>
      <p:sp>
        <p:nvSpPr>
          <p:cNvPr id="19" name="Text 17"/>
          <p:cNvSpPr/>
          <p:nvPr/>
        </p:nvSpPr>
        <p:spPr>
          <a:xfrm>
            <a:off x="5669280" y="3273552"/>
            <a:ext cx="5879592" cy="1051560"/>
          </a:xfrm>
          <a:prstGeom prst="rect">
            <a:avLst/>
          </a:prstGeom>
          <a:noFill/>
          <a:ln/>
        </p:spPr>
        <p:txBody>
          <a:bodyPr wrap="square" lIns="0" tIns="0" rIns="0" bIns="0" rtlCol="0" anchor="t"/>
          <a:lstStyle/>
          <a:p>
            <a:pPr algn="just" indent="0" marL="0">
              <a:lnSpc>
                <a:spcPct val="114000"/>
              </a:lnSpc>
              <a:buNone/>
            </a:pPr>
            <a:r>
              <a:rPr lang="en-US" sz="1000" dirty="0">
                <a:solidFill>
                  <a:srgbClr val="111418"/>
                </a:solidFill>
                <a:latin typeface="Cambria" pitchFamily="34" charset="0"/>
                <a:ea typeface="Cambria" pitchFamily="34" charset="-122"/>
                <a:cs typeface="Cambria" pitchFamily="34" charset="-120"/>
              </a:rPr>
              <a:t>Hai luồng nghiệp vụ (thêm nguồn pháp lý · kiểm tra tuân thủ tài liệu) · panel “Vì sao có câu trả lời này” · so sánh trực tiếp với Standard RAG · Compliance-Gap Radar · chuẩn hóa số/ngày pháp lý tiếng Việt · đồ thị tri thức &amp; dòng thời gian điều khoản · audit log, RBAC. Stack: FastAPI · PostgreSQL · OpenSearch · Neo4j · Docker.</a:t>
            </a:r>
            <a:endParaRPr lang="en-US" sz="1000" dirty="0"/>
          </a:p>
        </p:txBody>
      </p:sp>
      <p:sp>
        <p:nvSpPr>
          <p:cNvPr id="20" name="Shape 18"/>
          <p:cNvSpPr/>
          <p:nvPr/>
        </p:nvSpPr>
        <p:spPr>
          <a:xfrm>
            <a:off x="5669280" y="4544568"/>
            <a:ext cx="5879592" cy="0"/>
          </a:xfrm>
          <a:prstGeom prst="line">
            <a:avLst/>
          </a:prstGeom>
          <a:noFill/>
          <a:ln w="6350">
            <a:solidFill>
              <a:srgbClr val="C9CFD6"/>
            </a:solidFill>
            <a:prstDash val="solid"/>
          </a:ln>
        </p:spPr>
      </p:sp>
      <p:sp>
        <p:nvSpPr>
          <p:cNvPr id="21" name="Text 19"/>
          <p:cNvSpPr/>
          <p:nvPr/>
        </p:nvSpPr>
        <p:spPr>
          <a:xfrm>
            <a:off x="5669280" y="4709160"/>
            <a:ext cx="5852160"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03 — SẢN PHẨM GIA TĂNG</a:t>
            </a:r>
            <a:endParaRPr lang="en-US" sz="850" dirty="0"/>
          </a:p>
        </p:txBody>
      </p:sp>
      <p:sp>
        <p:nvSpPr>
          <p:cNvPr id="22" name="Text 20"/>
          <p:cNvSpPr/>
          <p:nvPr/>
        </p:nvSpPr>
        <p:spPr>
          <a:xfrm>
            <a:off x="5669280" y="4965192"/>
            <a:ext cx="5879592" cy="1051560"/>
          </a:xfrm>
          <a:prstGeom prst="rect">
            <a:avLst/>
          </a:prstGeom>
          <a:noFill/>
          <a:ln/>
        </p:spPr>
        <p:txBody>
          <a:bodyPr wrap="square" lIns="0" tIns="0" rIns="0" bIns="0" rtlCol="0" anchor="t"/>
          <a:lstStyle/>
          <a:p>
            <a:pPr algn="just" indent="0" marL="0">
              <a:lnSpc>
                <a:spcPct val="114000"/>
              </a:lnSpc>
              <a:buNone/>
            </a:pPr>
            <a:r>
              <a:rPr lang="en-US" sz="1000" dirty="0">
                <a:solidFill>
                  <a:srgbClr val="111418"/>
                </a:solidFill>
                <a:latin typeface="Cambria" pitchFamily="34" charset="0"/>
                <a:ea typeface="Cambria" pitchFamily="34" charset="-122"/>
                <a:cs typeface="Cambria" pitchFamily="34" charset="-120"/>
              </a:rPr>
              <a:t>Hộp duyệt human-review tích hợp · vết kiểm toán đầy đủ phục vụ thanh tra · crawler SBV/VBPL giữ kho luôn mới · báo cáo Tác động quy định &amp; Rà soát tuân thủ · triển khai on-premise (tài liệu không rời ngân hàng) · onboarding + nghiệm thu bằng bộ benchmark.</a:t>
            </a:r>
            <a:endParaRPr lang="en-US" sz="1000" dirty="0"/>
          </a:p>
        </p:txBody>
      </p:sp>
      <p:sp>
        <p:nvSpPr>
          <p:cNvPr id="23" name="Shape 21"/>
          <p:cNvSpPr/>
          <p:nvPr/>
        </p:nvSpPr>
        <p:spPr>
          <a:xfrm>
            <a:off x="640080" y="6455664"/>
            <a:ext cx="10908792" cy="0"/>
          </a:xfrm>
          <a:prstGeom prst="line">
            <a:avLst/>
          </a:prstGeom>
          <a:noFill/>
          <a:ln w="6350">
            <a:solidFill>
              <a:srgbClr val="C9CFD6"/>
            </a:solidFill>
            <a:prstDash val="solid"/>
          </a:ln>
        </p:spPr>
      </p:sp>
      <p:sp>
        <p:nvSpPr>
          <p:cNvPr id="24" name="Text 22"/>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25" name="Text 23"/>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2 · PRODUCT CONCEPT — VẬN HÀNH</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Hai luồng nghiệp vụ, một cổng cứng.</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640080" y="1572768"/>
            <a:ext cx="10908792" cy="219456"/>
          </a:xfrm>
          <a:prstGeom prst="rect">
            <a:avLst/>
          </a:prstGeom>
          <a:noFill/>
          <a:ln/>
        </p:spPr>
        <p:txBody>
          <a:bodyPr wrap="square" lIns="0" tIns="0" rIns="0" bIns="0" rtlCol="0" anchor="ctr"/>
          <a:lstStyle/>
          <a:p>
            <a:pPr indent="0" marL="0">
              <a:buNone/>
            </a:pPr>
            <a:r>
              <a:rPr lang="en-US" sz="850" b="1" spc="150" kern="0" dirty="0">
                <a:solidFill>
                  <a:srgbClr val="111418"/>
                </a:solidFill>
                <a:latin typeface="Courier New" pitchFamily="34" charset="0"/>
                <a:ea typeface="Courier New" pitchFamily="34" charset="-122"/>
                <a:cs typeface="Courier New" pitchFamily="34" charset="-120"/>
              </a:rPr>
              <a:t>LUỒNG A — THÊM NGUỒN PHÁP LÝ  (đường ghi tri thức)</a:t>
            </a:r>
            <a:endParaRPr lang="en-US" sz="850" dirty="0"/>
          </a:p>
        </p:txBody>
      </p:sp>
      <p:sp>
        <p:nvSpPr>
          <p:cNvPr id="7" name="Shape 5"/>
          <p:cNvSpPr/>
          <p:nvPr/>
        </p:nvSpPr>
        <p:spPr>
          <a:xfrm>
            <a:off x="640080" y="1847088"/>
            <a:ext cx="1389888" cy="603504"/>
          </a:xfrm>
          <a:prstGeom prst="rect">
            <a:avLst/>
          </a:prstGeom>
          <a:solidFill>
            <a:srgbClr val="FFFFFF"/>
          </a:solidFill>
          <a:ln w="11430">
            <a:solidFill>
              <a:srgbClr val="111418"/>
            </a:solidFill>
            <a:prstDash val="solid"/>
          </a:ln>
        </p:spPr>
      </p:sp>
      <p:sp>
        <p:nvSpPr>
          <p:cNvPr id="8" name="Text 6"/>
          <p:cNvSpPr/>
          <p:nvPr/>
        </p:nvSpPr>
        <p:spPr>
          <a:xfrm>
            <a:off x="640080" y="1847088"/>
            <a:ext cx="1389888"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Upload</a:t>
            </a:r>
            <a:endParaRPr lang="en-US" sz="760" dirty="0"/>
          </a:p>
        </p:txBody>
      </p:sp>
      <p:sp>
        <p:nvSpPr>
          <p:cNvPr id="9" name="Text 7"/>
          <p:cNvSpPr/>
          <p:nvPr/>
        </p:nvSpPr>
        <p:spPr>
          <a:xfrm>
            <a:off x="2011680" y="1847088"/>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2226564" y="1847088"/>
            <a:ext cx="1389888" cy="603504"/>
          </a:xfrm>
          <a:prstGeom prst="rect">
            <a:avLst/>
          </a:prstGeom>
          <a:solidFill>
            <a:srgbClr val="FFFFFF"/>
          </a:solidFill>
          <a:ln w="11430">
            <a:solidFill>
              <a:srgbClr val="111418"/>
            </a:solidFill>
            <a:prstDash val="solid"/>
          </a:ln>
        </p:spPr>
      </p:sp>
      <p:sp>
        <p:nvSpPr>
          <p:cNvPr id="11" name="Text 9"/>
          <p:cNvSpPr/>
          <p:nvPr/>
        </p:nvSpPr>
        <p:spPr>
          <a:xfrm>
            <a:off x="2226564" y="1847088"/>
            <a:ext cx="1389888"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Quét</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injection</a:t>
            </a:r>
            <a:endParaRPr lang="en-US" sz="760" dirty="0"/>
          </a:p>
        </p:txBody>
      </p:sp>
      <p:sp>
        <p:nvSpPr>
          <p:cNvPr id="12" name="Text 10"/>
          <p:cNvSpPr/>
          <p:nvPr/>
        </p:nvSpPr>
        <p:spPr>
          <a:xfrm>
            <a:off x="3598164" y="1847088"/>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3813048" y="1847088"/>
            <a:ext cx="1389888" cy="603504"/>
          </a:xfrm>
          <a:prstGeom prst="rect">
            <a:avLst/>
          </a:prstGeom>
          <a:solidFill>
            <a:srgbClr val="FFFFFF"/>
          </a:solidFill>
          <a:ln w="11430">
            <a:solidFill>
              <a:srgbClr val="111418"/>
            </a:solidFill>
            <a:prstDash val="solid"/>
          </a:ln>
        </p:spPr>
      </p:sp>
      <p:sp>
        <p:nvSpPr>
          <p:cNvPr id="14" name="Text 12"/>
          <p:cNvSpPr/>
          <p:nvPr/>
        </p:nvSpPr>
        <p:spPr>
          <a:xfrm>
            <a:off x="3813048" y="1847088"/>
            <a:ext cx="1389888"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Parse</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Điều/Khoản/Điểm</a:t>
            </a:r>
            <a:endParaRPr lang="en-US" sz="760" dirty="0"/>
          </a:p>
        </p:txBody>
      </p:sp>
      <p:sp>
        <p:nvSpPr>
          <p:cNvPr id="15" name="Text 13"/>
          <p:cNvSpPr/>
          <p:nvPr/>
        </p:nvSpPr>
        <p:spPr>
          <a:xfrm>
            <a:off x="5184648" y="1847088"/>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16" name="Shape 14"/>
          <p:cNvSpPr/>
          <p:nvPr/>
        </p:nvSpPr>
        <p:spPr>
          <a:xfrm>
            <a:off x="5399532" y="1847088"/>
            <a:ext cx="1389888" cy="603504"/>
          </a:xfrm>
          <a:prstGeom prst="rect">
            <a:avLst/>
          </a:prstGeom>
          <a:solidFill>
            <a:srgbClr val="FFFFFF"/>
          </a:solidFill>
          <a:ln w="11430">
            <a:solidFill>
              <a:srgbClr val="111418"/>
            </a:solidFill>
            <a:prstDash val="solid"/>
          </a:ln>
        </p:spPr>
      </p:sp>
      <p:sp>
        <p:nvSpPr>
          <p:cNvPr id="17" name="Text 15"/>
          <p:cNvSpPr/>
          <p:nvPr/>
        </p:nvSpPr>
        <p:spPr>
          <a:xfrm>
            <a:off x="5399532" y="1847088"/>
            <a:ext cx="1389888"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Human</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Review</a:t>
            </a:r>
            <a:endParaRPr lang="en-US" sz="760" dirty="0"/>
          </a:p>
        </p:txBody>
      </p:sp>
      <p:sp>
        <p:nvSpPr>
          <p:cNvPr id="18" name="Text 16"/>
          <p:cNvSpPr/>
          <p:nvPr/>
        </p:nvSpPr>
        <p:spPr>
          <a:xfrm>
            <a:off x="6771132" y="1847088"/>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19" name="Shape 17"/>
          <p:cNvSpPr/>
          <p:nvPr/>
        </p:nvSpPr>
        <p:spPr>
          <a:xfrm>
            <a:off x="6986016" y="1847088"/>
            <a:ext cx="1389888" cy="603504"/>
          </a:xfrm>
          <a:prstGeom prst="rect">
            <a:avLst/>
          </a:prstGeom>
          <a:solidFill>
            <a:srgbClr val="FFFFFF"/>
          </a:solidFill>
          <a:ln w="19050">
            <a:solidFill>
              <a:srgbClr val="B31B1B"/>
            </a:solidFill>
            <a:prstDash val="solid"/>
          </a:ln>
        </p:spPr>
      </p:sp>
      <p:sp>
        <p:nvSpPr>
          <p:cNvPr id="20" name="Text 18"/>
          <p:cNvSpPr/>
          <p:nvPr/>
        </p:nvSpPr>
        <p:spPr>
          <a:xfrm>
            <a:off x="6986016" y="1847088"/>
            <a:ext cx="1389888" cy="603504"/>
          </a:xfrm>
          <a:prstGeom prst="rect">
            <a:avLst/>
          </a:prstGeom>
          <a:noFill/>
          <a:ln/>
        </p:spPr>
        <p:txBody>
          <a:bodyPr wrap="square" lIns="254" tIns="254" rIns="254" bIns="254" rtlCol="0" anchor="ctr"/>
          <a:lstStyle/>
          <a:p>
            <a:pPr algn="ctr" indent="0" marL="0">
              <a:lnSpc>
                <a:spcPct val="98000"/>
              </a:lnSpc>
              <a:buNone/>
            </a:pPr>
            <a:r>
              <a:rPr lang="en-US" sz="760" b="1" dirty="0">
                <a:solidFill>
                  <a:srgbClr val="B31B1B"/>
                </a:solidFill>
                <a:latin typeface="Courier New" pitchFamily="34" charset="0"/>
                <a:ea typeface="Courier New" pitchFamily="34" charset="-122"/>
                <a:cs typeface="Courier New" pitchFamily="34" charset="-120"/>
              </a:rPr>
              <a:t>GATE</a:t>
            </a:r>
            <a:endParaRPr lang="en-US" sz="760" dirty="0"/>
          </a:p>
          <a:p>
            <a:pPr algn="ctr" indent="0" marL="0">
              <a:lnSpc>
                <a:spcPct val="98000"/>
              </a:lnSpc>
              <a:buNone/>
            </a:pPr>
            <a:r>
              <a:rPr lang="en-US" sz="760" b="1" dirty="0">
                <a:solidFill>
                  <a:srgbClr val="B31B1B"/>
                </a:solidFill>
                <a:latin typeface="Courier New" pitchFamily="34" charset="0"/>
                <a:ea typeface="Courier New" pitchFamily="34" charset="-122"/>
                <a:cs typeface="Courier New" pitchFamily="34" charset="-120"/>
              </a:rPr>
              <a:t>HTTP 409</a:t>
            </a:r>
            <a:endParaRPr lang="en-US" sz="760" dirty="0"/>
          </a:p>
        </p:txBody>
      </p:sp>
      <p:sp>
        <p:nvSpPr>
          <p:cNvPr id="21" name="Text 19"/>
          <p:cNvSpPr/>
          <p:nvPr/>
        </p:nvSpPr>
        <p:spPr>
          <a:xfrm>
            <a:off x="8357616" y="1847088"/>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22" name="Shape 20"/>
          <p:cNvSpPr/>
          <p:nvPr/>
        </p:nvSpPr>
        <p:spPr>
          <a:xfrm>
            <a:off x="8572500" y="1847088"/>
            <a:ext cx="1389888" cy="603504"/>
          </a:xfrm>
          <a:prstGeom prst="rect">
            <a:avLst/>
          </a:prstGeom>
          <a:solidFill>
            <a:srgbClr val="FFFFFF"/>
          </a:solidFill>
          <a:ln w="11430">
            <a:solidFill>
              <a:srgbClr val="111418"/>
            </a:solidFill>
            <a:prstDash val="solid"/>
          </a:ln>
        </p:spPr>
      </p:sp>
      <p:sp>
        <p:nvSpPr>
          <p:cNvPr id="23" name="Text 21"/>
          <p:cNvSpPr/>
          <p:nvPr/>
        </p:nvSpPr>
        <p:spPr>
          <a:xfrm>
            <a:off x="8572500" y="1847088"/>
            <a:ext cx="1389888"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Version +</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ChangeEvent</a:t>
            </a:r>
            <a:endParaRPr lang="en-US" sz="760" dirty="0"/>
          </a:p>
        </p:txBody>
      </p:sp>
      <p:sp>
        <p:nvSpPr>
          <p:cNvPr id="24" name="Text 22"/>
          <p:cNvSpPr/>
          <p:nvPr/>
        </p:nvSpPr>
        <p:spPr>
          <a:xfrm>
            <a:off x="9944100" y="1847088"/>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25" name="Shape 23"/>
          <p:cNvSpPr/>
          <p:nvPr/>
        </p:nvSpPr>
        <p:spPr>
          <a:xfrm>
            <a:off x="10158984" y="1847088"/>
            <a:ext cx="1389888" cy="603504"/>
          </a:xfrm>
          <a:prstGeom prst="rect">
            <a:avLst/>
          </a:prstGeom>
          <a:solidFill>
            <a:srgbClr val="FFFFFF"/>
          </a:solidFill>
          <a:ln w="11430">
            <a:solidFill>
              <a:srgbClr val="111418"/>
            </a:solidFill>
            <a:prstDash val="solid"/>
          </a:ln>
        </p:spPr>
      </p:sp>
      <p:sp>
        <p:nvSpPr>
          <p:cNvPr id="26" name="Text 24"/>
          <p:cNvSpPr/>
          <p:nvPr/>
        </p:nvSpPr>
        <p:spPr>
          <a:xfrm>
            <a:off x="10158984" y="1847088"/>
            <a:ext cx="1389888"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Impact</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Report</a:t>
            </a:r>
            <a:endParaRPr lang="en-US" sz="760" dirty="0"/>
          </a:p>
        </p:txBody>
      </p:sp>
      <p:sp>
        <p:nvSpPr>
          <p:cNvPr id="27" name="Text 25"/>
          <p:cNvSpPr/>
          <p:nvPr/>
        </p:nvSpPr>
        <p:spPr>
          <a:xfrm>
            <a:off x="640080" y="2724912"/>
            <a:ext cx="10908792" cy="219456"/>
          </a:xfrm>
          <a:prstGeom prst="rect">
            <a:avLst/>
          </a:prstGeom>
          <a:noFill/>
          <a:ln/>
        </p:spPr>
        <p:txBody>
          <a:bodyPr wrap="square" lIns="0" tIns="0" rIns="0" bIns="0" rtlCol="0" anchor="ctr"/>
          <a:lstStyle/>
          <a:p>
            <a:pPr indent="0" marL="0">
              <a:buNone/>
            </a:pPr>
            <a:r>
              <a:rPr lang="en-US" sz="850" b="1" spc="150" kern="0" dirty="0">
                <a:solidFill>
                  <a:srgbClr val="111418"/>
                </a:solidFill>
                <a:latin typeface="Courier New" pitchFamily="34" charset="0"/>
                <a:ea typeface="Courier New" pitchFamily="34" charset="-122"/>
                <a:cs typeface="Courier New" pitchFamily="34" charset="-120"/>
              </a:rPr>
              <a:t>LUỒNG B — KIỂM TRA TUÂN THỦ TÀI LIỆU  (đường đọc — REVIEW_TARGET không bao giờ vào kho)</a:t>
            </a:r>
            <a:endParaRPr lang="en-US" sz="850" dirty="0"/>
          </a:p>
        </p:txBody>
      </p:sp>
      <p:sp>
        <p:nvSpPr>
          <p:cNvPr id="28" name="Shape 26"/>
          <p:cNvSpPr/>
          <p:nvPr/>
        </p:nvSpPr>
        <p:spPr>
          <a:xfrm>
            <a:off x="640080" y="2999232"/>
            <a:ext cx="2011680" cy="603504"/>
          </a:xfrm>
          <a:prstGeom prst="rect">
            <a:avLst/>
          </a:prstGeom>
          <a:solidFill>
            <a:srgbClr val="FFFFFF"/>
          </a:solidFill>
          <a:ln w="11430">
            <a:solidFill>
              <a:srgbClr val="111418"/>
            </a:solidFill>
            <a:prstDash val="solid"/>
          </a:ln>
        </p:spPr>
      </p:sp>
      <p:sp>
        <p:nvSpPr>
          <p:cNvPr id="29" name="Text 27"/>
          <p:cNvSpPr/>
          <p:nvPr/>
        </p:nvSpPr>
        <p:spPr>
          <a:xfrm>
            <a:off x="640080" y="2999232"/>
            <a:ext cx="2011680"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Upload</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REVIEW_TARGET</a:t>
            </a:r>
            <a:endParaRPr lang="en-US" sz="760" dirty="0"/>
          </a:p>
        </p:txBody>
      </p:sp>
      <p:sp>
        <p:nvSpPr>
          <p:cNvPr id="30" name="Text 28"/>
          <p:cNvSpPr/>
          <p:nvPr/>
        </p:nvSpPr>
        <p:spPr>
          <a:xfrm>
            <a:off x="2633472" y="2999232"/>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31" name="Shape 29"/>
          <p:cNvSpPr/>
          <p:nvPr/>
        </p:nvSpPr>
        <p:spPr>
          <a:xfrm>
            <a:off x="2848356" y="2999232"/>
            <a:ext cx="2011680" cy="603504"/>
          </a:xfrm>
          <a:prstGeom prst="rect">
            <a:avLst/>
          </a:prstGeom>
          <a:solidFill>
            <a:srgbClr val="FFFFFF"/>
          </a:solidFill>
          <a:ln w="11430">
            <a:solidFill>
              <a:srgbClr val="111418"/>
            </a:solidFill>
            <a:prstDash val="solid"/>
          </a:ln>
        </p:spPr>
      </p:sp>
      <p:sp>
        <p:nvSpPr>
          <p:cNvPr id="32" name="Text 30"/>
          <p:cNvSpPr/>
          <p:nvPr/>
        </p:nvSpPr>
        <p:spPr>
          <a:xfrm>
            <a:off x="2848356" y="2999232"/>
            <a:ext cx="2011680"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Trích claim</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(số · % · deadline)</a:t>
            </a:r>
            <a:endParaRPr lang="en-US" sz="760" dirty="0"/>
          </a:p>
        </p:txBody>
      </p:sp>
      <p:sp>
        <p:nvSpPr>
          <p:cNvPr id="33" name="Text 31"/>
          <p:cNvSpPr/>
          <p:nvPr/>
        </p:nvSpPr>
        <p:spPr>
          <a:xfrm>
            <a:off x="4841748" y="2999232"/>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34" name="Shape 32"/>
          <p:cNvSpPr/>
          <p:nvPr/>
        </p:nvSpPr>
        <p:spPr>
          <a:xfrm>
            <a:off x="5056632" y="2999232"/>
            <a:ext cx="2011680" cy="603504"/>
          </a:xfrm>
          <a:prstGeom prst="rect">
            <a:avLst/>
          </a:prstGeom>
          <a:solidFill>
            <a:srgbClr val="FFFFFF"/>
          </a:solidFill>
          <a:ln w="11430">
            <a:solidFill>
              <a:srgbClr val="111418"/>
            </a:solidFill>
            <a:prstDash val="solid"/>
          </a:ln>
        </p:spPr>
      </p:sp>
      <p:sp>
        <p:nvSpPr>
          <p:cNvPr id="35" name="Text 33"/>
          <p:cNvSpPr/>
          <p:nvPr/>
        </p:nvSpPr>
        <p:spPr>
          <a:xfrm>
            <a:off x="5056632" y="2999232"/>
            <a:ext cx="2011680"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Truy xuất kho duyệt</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 ngày review</a:t>
            </a:r>
            <a:endParaRPr lang="en-US" sz="760" dirty="0"/>
          </a:p>
        </p:txBody>
      </p:sp>
      <p:sp>
        <p:nvSpPr>
          <p:cNvPr id="36" name="Text 34"/>
          <p:cNvSpPr/>
          <p:nvPr/>
        </p:nvSpPr>
        <p:spPr>
          <a:xfrm>
            <a:off x="7050024" y="2999232"/>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37" name="Shape 35"/>
          <p:cNvSpPr/>
          <p:nvPr/>
        </p:nvSpPr>
        <p:spPr>
          <a:xfrm>
            <a:off x="7264908" y="2999232"/>
            <a:ext cx="2011680" cy="603504"/>
          </a:xfrm>
          <a:prstGeom prst="rect">
            <a:avLst/>
          </a:prstGeom>
          <a:solidFill>
            <a:srgbClr val="FFFFFF"/>
          </a:solidFill>
          <a:ln w="11430">
            <a:solidFill>
              <a:srgbClr val="111418"/>
            </a:solidFill>
            <a:prstDash val="solid"/>
          </a:ln>
        </p:spPr>
      </p:sp>
      <p:sp>
        <p:nvSpPr>
          <p:cNvPr id="38" name="Text 36"/>
          <p:cNvSpPr/>
          <p:nvPr/>
        </p:nvSpPr>
        <p:spPr>
          <a:xfrm>
            <a:off x="7264908" y="2999232"/>
            <a:ext cx="2011680"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So sánh</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tất định</a:t>
            </a:r>
            <a:endParaRPr lang="en-US" sz="760" dirty="0"/>
          </a:p>
        </p:txBody>
      </p:sp>
      <p:sp>
        <p:nvSpPr>
          <p:cNvPr id="39" name="Text 37"/>
          <p:cNvSpPr/>
          <p:nvPr/>
        </p:nvSpPr>
        <p:spPr>
          <a:xfrm>
            <a:off x="9258300" y="2999232"/>
            <a:ext cx="251460" cy="603504"/>
          </a:xfrm>
          <a:prstGeom prst="rect">
            <a:avLst/>
          </a:prstGeom>
          <a:noFill/>
          <a:ln/>
        </p:spPr>
        <p:txBody>
          <a:bodyPr wrap="square" lIns="0" tIns="0" rIns="0" bIns="0" rtlCol="0" anchor="ctr"/>
          <a:lstStyle/>
          <a:p>
            <a:pPr algn="ctr" indent="0" marL="0">
              <a:buNone/>
            </a:pPr>
            <a:r>
              <a:rPr lang="en-US" sz="1100" dirty="0">
                <a:solidFill>
                  <a:srgbClr val="5F6B76"/>
                </a:solidFill>
                <a:latin typeface="Courier New" pitchFamily="34" charset="0"/>
                <a:ea typeface="Courier New" pitchFamily="34" charset="-122"/>
                <a:cs typeface="Courier New" pitchFamily="34" charset="-120"/>
              </a:rPr>
              <a:t>→</a:t>
            </a:r>
            <a:endParaRPr lang="en-US" sz="1100" dirty="0"/>
          </a:p>
        </p:txBody>
      </p:sp>
      <p:sp>
        <p:nvSpPr>
          <p:cNvPr id="40" name="Shape 38"/>
          <p:cNvSpPr/>
          <p:nvPr/>
        </p:nvSpPr>
        <p:spPr>
          <a:xfrm>
            <a:off x="9473184" y="2999232"/>
            <a:ext cx="2011680" cy="603504"/>
          </a:xfrm>
          <a:prstGeom prst="rect">
            <a:avLst/>
          </a:prstGeom>
          <a:solidFill>
            <a:srgbClr val="FFFFFF"/>
          </a:solidFill>
          <a:ln w="11430">
            <a:solidFill>
              <a:srgbClr val="111418"/>
            </a:solidFill>
            <a:prstDash val="solid"/>
          </a:ln>
        </p:spPr>
      </p:sp>
      <p:sp>
        <p:nvSpPr>
          <p:cNvPr id="41" name="Text 39"/>
          <p:cNvSpPr/>
          <p:nvPr/>
        </p:nvSpPr>
        <p:spPr>
          <a:xfrm>
            <a:off x="9473184" y="2999232"/>
            <a:ext cx="2011680" cy="603504"/>
          </a:xfrm>
          <a:prstGeom prst="rect">
            <a:avLst/>
          </a:prstGeom>
          <a:noFill/>
          <a:ln/>
        </p:spPr>
        <p:txBody>
          <a:bodyPr wrap="square" lIns="254" tIns="254" rIns="254" bIns="254" rtlCol="0" anchor="ctr"/>
          <a:lstStyle/>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Báo cáo</a:t>
            </a:r>
            <a:endParaRPr lang="en-US" sz="760" dirty="0"/>
          </a:p>
          <a:p>
            <a:pPr algn="ctr" indent="0" marL="0">
              <a:lnSpc>
                <a:spcPct val="98000"/>
              </a:lnSpc>
              <a:buNone/>
            </a:pPr>
            <a:r>
              <a:rPr lang="en-US" sz="760" dirty="0">
                <a:solidFill>
                  <a:srgbClr val="111418"/>
                </a:solidFill>
                <a:latin typeface="Courier New" pitchFamily="34" charset="0"/>
                <a:ea typeface="Courier New" pitchFamily="34" charset="-122"/>
                <a:cs typeface="Courier New" pitchFamily="34" charset="-120"/>
              </a:rPr>
              <a:t>theo từng claim</a:t>
            </a:r>
            <a:endParaRPr lang="en-US" sz="760" dirty="0"/>
          </a:p>
        </p:txBody>
      </p:sp>
      <p:sp>
        <p:nvSpPr>
          <p:cNvPr id="42" name="Text 40"/>
          <p:cNvSpPr/>
          <p:nvPr/>
        </p:nvSpPr>
        <p:spPr>
          <a:xfrm>
            <a:off x="640080" y="3858768"/>
            <a:ext cx="10908792"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7 TRẠNG THÁI ĐẦU RA</a:t>
            </a:r>
            <a:endParaRPr lang="en-US" sz="850" dirty="0"/>
          </a:p>
        </p:txBody>
      </p:sp>
      <p:sp>
        <p:nvSpPr>
          <p:cNvPr id="43" name="Text 41"/>
          <p:cNvSpPr/>
          <p:nvPr/>
        </p:nvSpPr>
        <p:spPr>
          <a:xfrm>
            <a:off x="640080" y="4096512"/>
            <a:ext cx="10908792" cy="274320"/>
          </a:xfrm>
          <a:prstGeom prst="rect">
            <a:avLst/>
          </a:prstGeom>
          <a:noFill/>
          <a:ln/>
        </p:spPr>
        <p:txBody>
          <a:bodyPr wrap="square" lIns="0" tIns="0" rIns="0" bIns="0" rtlCol="0" anchor="ctr"/>
          <a:lstStyle/>
          <a:p>
            <a:pPr indent="0" marL="0">
              <a:buNone/>
            </a:pPr>
            <a:r>
              <a:rPr lang="en-US" sz="900" b="1" dirty="0">
                <a:solidFill>
                  <a:srgbClr val="1E7A46"/>
                </a:solidFill>
                <a:latin typeface="Courier New" pitchFamily="34" charset="0"/>
                <a:ea typeface="Courier New" pitchFamily="34" charset="-122"/>
                <a:cs typeface="Courier New" pitchFamily="34" charset="-120"/>
              </a:rPr>
              <a:t>COMPLIANT</a:t>
            </a:r>
            <a:pPr indent="0" marL="0">
              <a:buNone/>
            </a:pPr>
            <a:r>
              <a:rPr lang="en-US" sz="900" dirty="0">
                <a:solidFill>
                  <a:srgbClr val="C9CFD6"/>
                </a:solidFill>
                <a:latin typeface="Courier New" pitchFamily="34" charset="0"/>
                <a:ea typeface="Courier New" pitchFamily="34" charset="-122"/>
                <a:cs typeface="Courier New" pitchFamily="34" charset="-120"/>
              </a:rPr>
              <a:t>  ·  </a:t>
            </a:r>
            <a:pPr indent="0" marL="0">
              <a:buNone/>
            </a:pPr>
            <a:r>
              <a:rPr lang="en-US" sz="900" b="1" dirty="0">
                <a:solidFill>
                  <a:srgbClr val="B31B1B"/>
                </a:solidFill>
                <a:latin typeface="Courier New" pitchFamily="34" charset="0"/>
                <a:ea typeface="Courier New" pitchFamily="34" charset="-122"/>
                <a:cs typeface="Courier New" pitchFamily="34" charset="-120"/>
              </a:rPr>
              <a:t>NON_COMPLIANT</a:t>
            </a:r>
            <a:pPr indent="0" marL="0">
              <a:buNone/>
            </a:pPr>
            <a:r>
              <a:rPr lang="en-US" sz="900" dirty="0">
                <a:solidFill>
                  <a:srgbClr val="C9CFD6"/>
                </a:solidFill>
                <a:latin typeface="Courier New" pitchFamily="34" charset="0"/>
                <a:ea typeface="Courier New" pitchFamily="34" charset="-122"/>
                <a:cs typeface="Courier New" pitchFamily="34" charset="-120"/>
              </a:rPr>
              <a:t>  ·  </a:t>
            </a:r>
            <a:pPr indent="0" marL="0">
              <a:buNone/>
            </a:pPr>
            <a:r>
              <a:rPr lang="en-US" sz="900" dirty="0">
                <a:solidFill>
                  <a:srgbClr val="111418"/>
                </a:solidFill>
                <a:latin typeface="Courier New" pitchFamily="34" charset="0"/>
                <a:ea typeface="Courier New" pitchFamily="34" charset="-122"/>
                <a:cs typeface="Courier New" pitchFamily="34" charset="-120"/>
              </a:rPr>
              <a:t>PARTIALLY_COMPLIANT</a:t>
            </a:r>
            <a:pPr indent="0" marL="0">
              <a:buNone/>
            </a:pPr>
            <a:r>
              <a:rPr lang="en-US" sz="900" dirty="0">
                <a:solidFill>
                  <a:srgbClr val="C9CFD6"/>
                </a:solidFill>
                <a:latin typeface="Courier New" pitchFamily="34" charset="0"/>
                <a:ea typeface="Courier New" pitchFamily="34" charset="-122"/>
                <a:cs typeface="Courier New" pitchFamily="34" charset="-120"/>
              </a:rPr>
              <a:t>  ·  </a:t>
            </a:r>
            <a:pPr indent="0" marL="0">
              <a:buNone/>
            </a:pPr>
            <a:r>
              <a:rPr lang="en-US" sz="900" b="1" dirty="0">
                <a:solidFill>
                  <a:srgbClr val="B31B1B"/>
                </a:solidFill>
                <a:latin typeface="Courier New" pitchFamily="34" charset="0"/>
                <a:ea typeface="Courier New" pitchFamily="34" charset="-122"/>
                <a:cs typeface="Courier New" pitchFamily="34" charset="-120"/>
              </a:rPr>
              <a:t>OUTDATED_REFERENCE</a:t>
            </a:r>
            <a:pPr indent="0" marL="0">
              <a:buNone/>
            </a:pPr>
            <a:r>
              <a:rPr lang="en-US" sz="900" dirty="0">
                <a:solidFill>
                  <a:srgbClr val="C9CFD6"/>
                </a:solidFill>
                <a:latin typeface="Courier New" pitchFamily="34" charset="0"/>
                <a:ea typeface="Courier New" pitchFamily="34" charset="-122"/>
                <a:cs typeface="Courier New" pitchFamily="34" charset="-120"/>
              </a:rPr>
              <a:t>  ·  </a:t>
            </a:r>
            <a:pPr indent="0" marL="0">
              <a:buNone/>
            </a:pPr>
            <a:r>
              <a:rPr lang="en-US" sz="900" dirty="0">
                <a:solidFill>
                  <a:srgbClr val="5F6B76"/>
                </a:solidFill>
                <a:latin typeface="Courier New" pitchFamily="34" charset="0"/>
                <a:ea typeface="Courier New" pitchFamily="34" charset="-122"/>
                <a:cs typeface="Courier New" pitchFamily="34" charset="-120"/>
              </a:rPr>
              <a:t>MISSING_EVIDENCE</a:t>
            </a:r>
            <a:pPr indent="0" marL="0">
              <a:buNone/>
            </a:pPr>
            <a:r>
              <a:rPr lang="en-US" sz="900" dirty="0">
                <a:solidFill>
                  <a:srgbClr val="C9CFD6"/>
                </a:solidFill>
                <a:latin typeface="Courier New" pitchFamily="34" charset="0"/>
                <a:ea typeface="Courier New" pitchFamily="34" charset="-122"/>
                <a:cs typeface="Courier New" pitchFamily="34" charset="-120"/>
              </a:rPr>
              <a:t>  ·  </a:t>
            </a:r>
            <a:pPr indent="0" marL="0">
              <a:buNone/>
            </a:pPr>
            <a:r>
              <a:rPr lang="en-US" sz="900" dirty="0">
                <a:solidFill>
                  <a:srgbClr val="111418"/>
                </a:solidFill>
                <a:latin typeface="Courier New" pitchFamily="34" charset="0"/>
                <a:ea typeface="Courier New" pitchFamily="34" charset="-122"/>
                <a:cs typeface="Courier New" pitchFamily="34" charset="-120"/>
              </a:rPr>
              <a:t>AMBIGUOUS</a:t>
            </a:r>
            <a:pPr indent="0" marL="0">
              <a:buNone/>
            </a:pPr>
            <a:r>
              <a:rPr lang="en-US" sz="900" dirty="0">
                <a:solidFill>
                  <a:srgbClr val="C9CFD6"/>
                </a:solidFill>
                <a:latin typeface="Courier New" pitchFamily="34" charset="0"/>
                <a:ea typeface="Courier New" pitchFamily="34" charset="-122"/>
                <a:cs typeface="Courier New" pitchFamily="34" charset="-120"/>
              </a:rPr>
              <a:t>  ·  </a:t>
            </a:r>
            <a:pPr indent="0" marL="0">
              <a:buNone/>
            </a:pPr>
            <a:r>
              <a:rPr lang="en-US" sz="900" dirty="0">
                <a:solidFill>
                  <a:srgbClr val="1F4E79"/>
                </a:solidFill>
                <a:latin typeface="Courier New" pitchFamily="34" charset="0"/>
                <a:ea typeface="Courier New" pitchFamily="34" charset="-122"/>
                <a:cs typeface="Courier New" pitchFamily="34" charset="-120"/>
              </a:rPr>
              <a:t>NEEDS_HUMAN_REVIEW</a:t>
            </a:r>
            <a:endParaRPr lang="en-US" sz="900" dirty="0"/>
          </a:p>
        </p:txBody>
      </p:sp>
      <p:sp>
        <p:nvSpPr>
          <p:cNvPr id="44" name="Shape 42"/>
          <p:cNvSpPr/>
          <p:nvPr/>
        </p:nvSpPr>
        <p:spPr>
          <a:xfrm>
            <a:off x="640080" y="4526280"/>
            <a:ext cx="10908792" cy="0"/>
          </a:xfrm>
          <a:prstGeom prst="line">
            <a:avLst/>
          </a:prstGeom>
          <a:noFill/>
          <a:ln w="6350">
            <a:solidFill>
              <a:srgbClr val="C9CFD6"/>
            </a:solidFill>
            <a:prstDash val="solid"/>
          </a:ln>
        </p:spPr>
      </p:sp>
      <p:sp>
        <p:nvSpPr>
          <p:cNvPr id="45" name="Text 43"/>
          <p:cNvSpPr/>
          <p:nvPr/>
        </p:nvSpPr>
        <p:spPr>
          <a:xfrm>
            <a:off x="640080" y="4572000"/>
            <a:ext cx="10908792" cy="457200"/>
          </a:xfrm>
          <a:prstGeom prst="rect">
            <a:avLst/>
          </a:prstGeom>
          <a:noFill/>
          <a:ln/>
        </p:spPr>
        <p:txBody>
          <a:bodyPr wrap="square" lIns="0" tIns="0" rIns="0" bIns="0" rtlCol="0" anchor="t"/>
          <a:lstStyle/>
          <a:p>
            <a:pPr indent="0" marL="0">
              <a:lnSpc>
                <a:spcPct val="105000"/>
              </a:lnSpc>
              <a:buNone/>
            </a:pPr>
            <a:r>
              <a:rPr lang="en-US" sz="900" i="1" dirty="0">
                <a:solidFill>
                  <a:srgbClr val="5F6B76"/>
                </a:solidFill>
                <a:latin typeface="Cambria" pitchFamily="34" charset="0"/>
                <a:ea typeface="Cambria" pitchFamily="34" charset="-122"/>
                <a:cs typeface="Cambria" pitchFamily="34" charset="-120"/>
              </a:rPr>
              <a:t>Hình 3 — Pipeline hai luồng; LLM chỉ tham gia trích xuất &amp; viết giải thích — không quyết định hiệu lực, phiên bản hay trích dẫn.</a:t>
            </a:r>
            <a:endParaRPr lang="en-US" sz="900" dirty="0"/>
          </a:p>
        </p:txBody>
      </p:sp>
      <p:sp>
        <p:nvSpPr>
          <p:cNvPr id="46" name="Text 44"/>
          <p:cNvSpPr/>
          <p:nvPr/>
        </p:nvSpPr>
        <p:spPr>
          <a:xfrm>
            <a:off x="640080" y="5120640"/>
            <a:ext cx="5349240" cy="621792"/>
          </a:xfrm>
          <a:prstGeom prst="rect">
            <a:avLst/>
          </a:prstGeom>
          <a:noFill/>
          <a:ln/>
        </p:spPr>
        <p:txBody>
          <a:bodyPr wrap="square" lIns="0" tIns="0" rIns="0" bIns="0" rtlCol="0" anchor="t"/>
          <a:lstStyle/>
          <a:p>
            <a:pPr indent="0" marL="0">
              <a:lnSpc>
                <a:spcPct val="105000"/>
              </a:lnSpc>
              <a:buNone/>
            </a:pPr>
            <a:r>
              <a:rPr lang="en-US" sz="850" b="1" dirty="0">
                <a:solidFill>
                  <a:srgbClr val="B31B1B"/>
                </a:solidFill>
                <a:latin typeface="Courier New" pitchFamily="34" charset="0"/>
                <a:ea typeface="Courier New" pitchFamily="34" charset="-122"/>
                <a:cs typeface="Courier New" pitchFamily="34" charset="-120"/>
              </a:rPr>
              <a:t>PANEL “VÌ SAO” — </a:t>
            </a:r>
            <a:pPr indent="0" marL="0">
              <a:lnSpc>
                <a:spcPct val="105000"/>
              </a:lnSpc>
              <a:buNone/>
            </a:pPr>
            <a:r>
              <a:rPr lang="en-US" sz="950" dirty="0">
                <a:solidFill>
                  <a:srgbClr val="111418"/>
                </a:solidFill>
                <a:latin typeface="Cambria" pitchFamily="34" charset="0"/>
                <a:ea typeface="Cambria" pitchFamily="34" charset="-122"/>
                <a:cs typeface="Cambria" pitchFamily="34" charset="-120"/>
              </a:rPr>
              <a:t>bằng chứng đã dùng + nguồn bị loại kèm lý do (NOT_VALID_AT_QUERY_DATE / SUPERSEDED / NOT_APPROVED)</a:t>
            </a:r>
            <a:endParaRPr lang="en-US" sz="850" dirty="0"/>
          </a:p>
        </p:txBody>
      </p:sp>
      <p:sp>
        <p:nvSpPr>
          <p:cNvPr id="47" name="Text 45"/>
          <p:cNvSpPr/>
          <p:nvPr/>
        </p:nvSpPr>
        <p:spPr>
          <a:xfrm>
            <a:off x="6217920" y="5120640"/>
            <a:ext cx="5349240" cy="621792"/>
          </a:xfrm>
          <a:prstGeom prst="rect">
            <a:avLst/>
          </a:prstGeom>
          <a:noFill/>
          <a:ln/>
        </p:spPr>
        <p:txBody>
          <a:bodyPr wrap="square" lIns="0" tIns="0" rIns="0" bIns="0" rtlCol="0" anchor="t"/>
          <a:lstStyle/>
          <a:p>
            <a:pPr indent="0" marL="0">
              <a:lnSpc>
                <a:spcPct val="105000"/>
              </a:lnSpc>
              <a:buNone/>
            </a:pPr>
            <a:r>
              <a:rPr lang="en-US" sz="850" b="1" dirty="0">
                <a:solidFill>
                  <a:srgbClr val="B31B1B"/>
                </a:solidFill>
                <a:latin typeface="Courier New" pitchFamily="34" charset="0"/>
                <a:ea typeface="Courier New" pitchFamily="34" charset="-122"/>
                <a:cs typeface="Courier New" pitchFamily="34" charset="-120"/>
              </a:rPr>
              <a:t>SO SÁNH TRỰC TIẾP — </a:t>
            </a:r>
            <a:pPr indent="0" marL="0">
              <a:lnSpc>
                <a:spcPct val="105000"/>
              </a:lnSpc>
              <a:buNone/>
            </a:pPr>
            <a:r>
              <a:rPr lang="en-US" sz="950" dirty="0">
                <a:solidFill>
                  <a:srgbClr val="111418"/>
                </a:solidFill>
                <a:latin typeface="Cambria" pitchFamily="34" charset="0"/>
                <a:ea typeface="Cambria" pitchFamily="34" charset="-122"/>
                <a:cs typeface="Cambria" pitchFamily="34" charset="-120"/>
              </a:rPr>
              <a:t>endpoint /compare: Standard RAG sai ngay tại chỗ, cạnh câu trả lời có trích dẫn của hệ thống</a:t>
            </a:r>
            <a:endParaRPr lang="en-US" sz="850" dirty="0"/>
          </a:p>
        </p:txBody>
      </p:sp>
      <p:sp>
        <p:nvSpPr>
          <p:cNvPr id="48" name="Text 46"/>
          <p:cNvSpPr/>
          <p:nvPr/>
        </p:nvSpPr>
        <p:spPr>
          <a:xfrm>
            <a:off x="640080" y="5779008"/>
            <a:ext cx="5349240" cy="621792"/>
          </a:xfrm>
          <a:prstGeom prst="rect">
            <a:avLst/>
          </a:prstGeom>
          <a:noFill/>
          <a:ln/>
        </p:spPr>
        <p:txBody>
          <a:bodyPr wrap="square" lIns="0" tIns="0" rIns="0" bIns="0" rtlCol="0" anchor="t"/>
          <a:lstStyle/>
          <a:p>
            <a:pPr indent="0" marL="0">
              <a:lnSpc>
                <a:spcPct val="105000"/>
              </a:lnSpc>
              <a:buNone/>
            </a:pPr>
            <a:r>
              <a:rPr lang="en-US" sz="850" b="1" dirty="0">
                <a:solidFill>
                  <a:srgbClr val="B31B1B"/>
                </a:solidFill>
                <a:latin typeface="Courier New" pitchFamily="34" charset="0"/>
                <a:ea typeface="Courier New" pitchFamily="34" charset="-122"/>
                <a:cs typeface="Courier New" pitchFamily="34" charset="-120"/>
              </a:rPr>
              <a:t>COMPLIANCE-GAP RADAR — </a:t>
            </a:r>
            <a:pPr indent="0" marL="0">
              <a:lnSpc>
                <a:spcPct val="105000"/>
              </a:lnSpc>
              <a:buNone/>
            </a:pPr>
            <a:r>
              <a:rPr lang="en-US" sz="950" dirty="0">
                <a:solidFill>
                  <a:srgbClr val="111418"/>
                </a:solidFill>
                <a:latin typeface="Cambria" pitchFamily="34" charset="0"/>
                <a:ea typeface="Cambria" pitchFamily="34" charset="-122"/>
                <a:cs typeface="Cambria" pitchFamily="34" charset="-120"/>
              </a:rPr>
              <a:t>quy định đổi → policy nội bộ đang dựa trên bản cũ bị gắn cờ STALE</a:t>
            </a:r>
            <a:endParaRPr lang="en-US" sz="850" dirty="0"/>
          </a:p>
        </p:txBody>
      </p:sp>
      <p:sp>
        <p:nvSpPr>
          <p:cNvPr id="49" name="Text 47"/>
          <p:cNvSpPr/>
          <p:nvPr/>
        </p:nvSpPr>
        <p:spPr>
          <a:xfrm>
            <a:off x="6217920" y="5779008"/>
            <a:ext cx="5349240" cy="621792"/>
          </a:xfrm>
          <a:prstGeom prst="rect">
            <a:avLst/>
          </a:prstGeom>
          <a:noFill/>
          <a:ln/>
        </p:spPr>
        <p:txBody>
          <a:bodyPr wrap="square" lIns="0" tIns="0" rIns="0" bIns="0" rtlCol="0" anchor="t"/>
          <a:lstStyle/>
          <a:p>
            <a:pPr indent="0" marL="0">
              <a:lnSpc>
                <a:spcPct val="105000"/>
              </a:lnSpc>
              <a:buNone/>
            </a:pPr>
            <a:r>
              <a:rPr lang="en-US" sz="850" b="1" dirty="0">
                <a:solidFill>
                  <a:srgbClr val="B31B1B"/>
                </a:solidFill>
                <a:latin typeface="Courier New" pitchFamily="34" charset="0"/>
                <a:ea typeface="Courier New" pitchFamily="34" charset="-122"/>
                <a:cs typeface="Courier New" pitchFamily="34" charset="-120"/>
              </a:rPr>
              <a:t>CHUẨN HÓA PHÁP LÝ VN — </a:t>
            </a:r>
            <a:pPr indent="0" marL="0">
              <a:lnSpc>
                <a:spcPct val="105000"/>
              </a:lnSpc>
              <a:buNone/>
            </a:pPr>
            <a:r>
              <a:rPr lang="en-US" sz="950" dirty="0">
                <a:solidFill>
                  <a:srgbClr val="111418"/>
                </a:solidFill>
                <a:latin typeface="Cambria" pitchFamily="34" charset="0"/>
                <a:ea typeface="Cambria" pitchFamily="34" charset="-122"/>
                <a:cs typeface="Cambria" pitchFamily="34" charset="-120"/>
              </a:rPr>
              <a:t>“500 triệu” = “500.000.000” = “0,5 tỷ” + ngày kiểu Việt Nam — thiếu nó, mọi phép so sánh chết im lặng</a:t>
            </a:r>
            <a:endParaRPr lang="en-US" sz="850" dirty="0"/>
          </a:p>
        </p:txBody>
      </p:sp>
      <p:sp>
        <p:nvSpPr>
          <p:cNvPr id="50" name="Shape 48"/>
          <p:cNvSpPr/>
          <p:nvPr/>
        </p:nvSpPr>
        <p:spPr>
          <a:xfrm>
            <a:off x="640080" y="6455664"/>
            <a:ext cx="10908792" cy="0"/>
          </a:xfrm>
          <a:prstGeom prst="line">
            <a:avLst/>
          </a:prstGeom>
          <a:noFill/>
          <a:ln w="6350">
            <a:solidFill>
              <a:srgbClr val="C9CFD6"/>
            </a:solidFill>
            <a:prstDash val="solid"/>
          </a:ln>
        </p:spPr>
      </p:sp>
      <p:sp>
        <p:nvSpPr>
          <p:cNvPr id="51" name="Text 49"/>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52" name="Text 50"/>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3 · KHÁCH HÀNG MỤC TIÊU (B2B) — CUSTOMER PERSONA</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“Chữ ký của tôi nằm trên từng ý kiến tuân thủ.”</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566928" y="1389888"/>
            <a:ext cx="1097280" cy="1097280"/>
          </a:xfrm>
          <a:prstGeom prst="rect">
            <a:avLst/>
          </a:prstGeom>
          <a:noFill/>
          <a:ln/>
        </p:spPr>
        <p:txBody>
          <a:bodyPr wrap="square" lIns="0" tIns="0" rIns="0" bIns="0" rtlCol="0" anchor="ctr"/>
          <a:lstStyle/>
          <a:p>
            <a:pPr indent="0" marL="0">
              <a:buNone/>
            </a:pPr>
            <a:r>
              <a:rPr lang="en-US" sz="7200" b="1" dirty="0">
                <a:solidFill>
                  <a:srgbClr val="B31B1B"/>
                </a:solidFill>
                <a:latin typeface="Cambria" pitchFamily="34" charset="0"/>
                <a:ea typeface="Cambria" pitchFamily="34" charset="-122"/>
                <a:cs typeface="Cambria" pitchFamily="34" charset="-120"/>
              </a:rPr>
              <a:t>“</a:t>
            </a:r>
            <a:endParaRPr lang="en-US" sz="7200" dirty="0"/>
          </a:p>
        </p:txBody>
      </p:sp>
      <p:sp>
        <p:nvSpPr>
          <p:cNvPr id="7" name="Text 5"/>
          <p:cNvSpPr/>
          <p:nvPr/>
        </p:nvSpPr>
        <p:spPr>
          <a:xfrm>
            <a:off x="640080" y="2395728"/>
            <a:ext cx="3566160" cy="868680"/>
          </a:xfrm>
          <a:prstGeom prst="rect">
            <a:avLst/>
          </a:prstGeom>
          <a:noFill/>
          <a:ln/>
        </p:spPr>
        <p:txBody>
          <a:bodyPr wrap="square" lIns="0" tIns="0" rIns="0" bIns="0" rtlCol="0" anchor="t"/>
          <a:lstStyle/>
          <a:p>
            <a:pPr indent="0" marL="0">
              <a:lnSpc>
                <a:spcPct val="115000"/>
              </a:lnSpc>
              <a:buNone/>
            </a:pPr>
            <a:r>
              <a:rPr lang="en-US" sz="1150" b="1" dirty="0">
                <a:solidFill>
                  <a:srgbClr val="111418"/>
                </a:solidFill>
                <a:latin typeface="Cambria" pitchFamily="34" charset="0"/>
                <a:ea typeface="Cambria" pitchFamily="34" charset="-122"/>
                <a:cs typeface="Cambria" pitchFamily="34" charset="-120"/>
              </a:rPr>
              <a:t>Chị Thu Hà — Trưởng phòng Pháp chế &amp; Tuân thủ, ngân hàng TMCP, Hà Nội (persona đại diện phân khúc).</a:t>
            </a:r>
            <a:endParaRPr lang="en-US" sz="1150" dirty="0"/>
          </a:p>
        </p:txBody>
      </p:sp>
      <p:sp>
        <p:nvSpPr>
          <p:cNvPr id="8" name="Text 6"/>
          <p:cNvSpPr/>
          <p:nvPr/>
        </p:nvSpPr>
        <p:spPr>
          <a:xfrm>
            <a:off x="640080" y="3401568"/>
            <a:ext cx="3566160"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HỒ SƠ</a:t>
            </a:r>
            <a:endParaRPr lang="en-US" sz="850" dirty="0"/>
          </a:p>
        </p:txBody>
      </p:sp>
      <p:sp>
        <p:nvSpPr>
          <p:cNvPr id="9" name="Text 7"/>
          <p:cNvSpPr/>
          <p:nvPr/>
        </p:nvSpPr>
        <p:spPr>
          <a:xfrm>
            <a:off x="640080" y="3602736"/>
            <a:ext cx="3566160" cy="566928"/>
          </a:xfrm>
          <a:prstGeom prst="rect">
            <a:avLst/>
          </a:prstGeom>
          <a:noFill/>
          <a:ln/>
        </p:spPr>
        <p:txBody>
          <a:bodyPr wrap="square" lIns="0" tIns="0" rIns="0" bIns="0" rtlCol="0" anchor="t"/>
          <a:lstStyle/>
          <a:p>
            <a:pPr indent="0" marL="0">
              <a:lnSpc>
                <a:spcPct val="108000"/>
              </a:lnSpc>
              <a:buNone/>
            </a:pPr>
            <a:r>
              <a:rPr lang="en-US" sz="900" dirty="0">
                <a:solidFill>
                  <a:srgbClr val="111418"/>
                </a:solidFill>
                <a:latin typeface="Cambria" pitchFamily="34" charset="0"/>
                <a:ea typeface="Cambria" pitchFamily="34" charset="-122"/>
                <a:cs typeface="Cambria" pitchFamily="34" charset="-120"/>
              </a:rPr>
              <a:t>Nữ, 41 · ThS Luật Ngân hàng · 15 năm nghề · quản lý ~25 cán bộ · thu nhập ~70 tr/tháng</a:t>
            </a:r>
            <a:endParaRPr lang="en-US" sz="900" dirty="0"/>
          </a:p>
        </p:txBody>
      </p:sp>
      <p:sp>
        <p:nvSpPr>
          <p:cNvPr id="10" name="Text 8"/>
          <p:cNvSpPr/>
          <p:nvPr/>
        </p:nvSpPr>
        <p:spPr>
          <a:xfrm>
            <a:off x="640080" y="4151376"/>
            <a:ext cx="3566160"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KÊNH ẢNH HƯỞNG</a:t>
            </a:r>
            <a:endParaRPr lang="en-US" sz="850" dirty="0"/>
          </a:p>
        </p:txBody>
      </p:sp>
      <p:sp>
        <p:nvSpPr>
          <p:cNvPr id="11" name="Text 9"/>
          <p:cNvSpPr/>
          <p:nvPr/>
        </p:nvSpPr>
        <p:spPr>
          <a:xfrm>
            <a:off x="640080" y="4352544"/>
            <a:ext cx="3566160" cy="566928"/>
          </a:xfrm>
          <a:prstGeom prst="rect">
            <a:avLst/>
          </a:prstGeom>
          <a:noFill/>
          <a:ln/>
        </p:spPr>
        <p:txBody>
          <a:bodyPr wrap="square" lIns="0" tIns="0" rIns="0" bIns="0" rtlCol="0" anchor="t"/>
          <a:lstStyle/>
          <a:p>
            <a:pPr indent="0" marL="0">
              <a:lnSpc>
                <a:spcPct val="108000"/>
              </a:lnSpc>
              <a:buNone/>
            </a:pPr>
            <a:r>
              <a:rPr lang="en-US" sz="900" dirty="0">
                <a:solidFill>
                  <a:srgbClr val="111418"/>
                </a:solidFill>
                <a:latin typeface="Cambria" pitchFamily="34" charset="0"/>
                <a:ea typeface="Cambria" pitchFamily="34" charset="-122"/>
                <a:cs typeface="Cambria" pitchFamily="34" charset="-120"/>
              </a:rPr>
              <a:t>Cổng NHNN · VBPL · thuvienphapluat · nhóm Zalo pháp chế · hội thảo VNBA · tư vấn Big-4</a:t>
            </a:r>
            <a:endParaRPr lang="en-US" sz="900" dirty="0"/>
          </a:p>
        </p:txBody>
      </p:sp>
      <p:sp>
        <p:nvSpPr>
          <p:cNvPr id="12" name="Text 10"/>
          <p:cNvSpPr/>
          <p:nvPr/>
        </p:nvSpPr>
        <p:spPr>
          <a:xfrm>
            <a:off x="640080" y="4901184"/>
            <a:ext cx="3566160"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NGÂN SÁCH</a:t>
            </a:r>
            <a:endParaRPr lang="en-US" sz="850" dirty="0"/>
          </a:p>
        </p:txBody>
      </p:sp>
      <p:sp>
        <p:nvSpPr>
          <p:cNvPr id="13" name="Text 11"/>
          <p:cNvSpPr/>
          <p:nvPr/>
        </p:nvSpPr>
        <p:spPr>
          <a:xfrm>
            <a:off x="640080" y="5102352"/>
            <a:ext cx="3566160" cy="566928"/>
          </a:xfrm>
          <a:prstGeom prst="rect">
            <a:avLst/>
          </a:prstGeom>
          <a:noFill/>
          <a:ln/>
        </p:spPr>
        <p:txBody>
          <a:bodyPr wrap="square" lIns="0" tIns="0" rIns="0" bIns="0" rtlCol="0" anchor="t"/>
          <a:lstStyle/>
          <a:p>
            <a:pPr indent="0" marL="0">
              <a:lnSpc>
                <a:spcPct val="108000"/>
              </a:lnSpc>
              <a:buNone/>
            </a:pPr>
            <a:r>
              <a:rPr lang="en-US" sz="900" dirty="0">
                <a:solidFill>
                  <a:srgbClr val="111418"/>
                </a:solidFill>
                <a:latin typeface="Cambria" pitchFamily="34" charset="0"/>
                <a:ea typeface="Cambria" pitchFamily="34" charset="-122"/>
                <a:cs typeface="Cambria" pitchFamily="34" charset="-120"/>
              </a:rPr>
              <a:t>Có dòng ngân sách công cụ pháp lý hằng năm; chi khi rủi ro giảm đo đếm được</a:t>
            </a:r>
            <a:endParaRPr lang="en-US" sz="900" dirty="0"/>
          </a:p>
        </p:txBody>
      </p:sp>
      <p:sp>
        <p:nvSpPr>
          <p:cNvPr id="14" name="Text 12"/>
          <p:cNvSpPr/>
          <p:nvPr/>
        </p:nvSpPr>
        <p:spPr>
          <a:xfrm>
            <a:off x="640080" y="5650992"/>
            <a:ext cx="3566160"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ĐƠN VỊ MUA B2B</a:t>
            </a:r>
            <a:endParaRPr lang="en-US" sz="850" dirty="0"/>
          </a:p>
        </p:txBody>
      </p:sp>
      <p:sp>
        <p:nvSpPr>
          <p:cNvPr id="15" name="Text 13"/>
          <p:cNvSpPr/>
          <p:nvPr/>
        </p:nvSpPr>
        <p:spPr>
          <a:xfrm>
            <a:off x="640080" y="5852160"/>
            <a:ext cx="3566160" cy="566928"/>
          </a:xfrm>
          <a:prstGeom prst="rect">
            <a:avLst/>
          </a:prstGeom>
          <a:noFill/>
          <a:ln/>
        </p:spPr>
        <p:txBody>
          <a:bodyPr wrap="square" lIns="0" tIns="0" rIns="0" bIns="0" rtlCol="0" anchor="t"/>
          <a:lstStyle/>
          <a:p>
            <a:pPr indent="0" marL="0">
              <a:lnSpc>
                <a:spcPct val="108000"/>
              </a:lnSpc>
              <a:buNone/>
            </a:pPr>
            <a:r>
              <a:rPr lang="en-US" sz="900" dirty="0">
                <a:solidFill>
                  <a:srgbClr val="111418"/>
                </a:solidFill>
                <a:latin typeface="Cambria" pitchFamily="34" charset="0"/>
                <a:ea typeface="Cambria" pitchFamily="34" charset="-122"/>
                <a:cs typeface="Cambria" pitchFamily="34" charset="-120"/>
              </a:rPr>
              <a:t>Người dùng = cán bộ · Người mua = Trưởng phòng/CCO · Phủ quyết = CTO/CISO</a:t>
            </a:r>
            <a:endParaRPr lang="en-US" sz="900" dirty="0"/>
          </a:p>
        </p:txBody>
      </p:sp>
      <p:sp>
        <p:nvSpPr>
          <p:cNvPr id="16" name="Text 14"/>
          <p:cNvSpPr/>
          <p:nvPr/>
        </p:nvSpPr>
        <p:spPr>
          <a:xfrm>
            <a:off x="4572000" y="1481328"/>
            <a:ext cx="6976872" cy="237744"/>
          </a:xfrm>
          <a:prstGeom prst="rect">
            <a:avLst/>
          </a:prstGeom>
          <a:noFill/>
          <a:ln/>
        </p:spPr>
        <p:txBody>
          <a:bodyPr wrap="square" lIns="0" tIns="0" rIns="0" bIns="0" rtlCol="0" anchor="ctr"/>
          <a:lstStyle/>
          <a:p>
            <a:pPr indent="0" marL="0">
              <a:buNone/>
            </a:pPr>
            <a:r>
              <a:rPr lang="en-US" sz="900" i="1" dirty="0">
                <a:solidFill>
                  <a:srgbClr val="5F6B76"/>
                </a:solidFill>
                <a:latin typeface="Cambria" pitchFamily="34" charset="0"/>
                <a:ea typeface="Cambria" pitchFamily="34" charset="-122"/>
                <a:cs typeface="Cambria" pitchFamily="34" charset="-120"/>
              </a:rPr>
              <a:t>Bảng 1 — Chân dung khách hàng mục tiêu.</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0" y="1783080"/>
          <a:ext cx="6976872" cy="914400"/>
        </p:xfrm>
        <a:graphic>
          <a:graphicData uri="http://schemas.openxmlformats.org/drawingml/2006/table">
            <a:tbl>
              <a:tblPr/>
              <a:tblGrid>
                <a:gridCol w="1143000"/>
                <a:gridCol w="5833872"/>
              </a:tblGrid>
              <a:tr h="658368">
                <a:tc>
                  <a:txBody>
                    <a:bodyPr/>
                    <a:lstStyle/>
                    <a:p>
                      <a:pPr algn="l" indent="0" marL="0">
                        <a:buNone/>
                      </a:pPr>
                      <a:r>
                        <a:rPr lang="en-US" sz="900" b="1" dirty="0">
                          <a:solidFill>
                            <a:srgbClr val="111418"/>
                          </a:solidFill>
                          <a:latin typeface="Cambria" pitchFamily="34" charset="0"/>
                          <a:ea typeface="Cambria" pitchFamily="34" charset="-122"/>
                          <a:cs typeface="Cambria" pitchFamily="34" charset="-120"/>
                        </a:rPr>
                        <a:t>Chiều</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111418"/>
                          </a:solidFill>
                          <a:latin typeface="Cambria" pitchFamily="34" charset="0"/>
                          <a:ea typeface="Cambria" pitchFamily="34" charset="-122"/>
                          <a:cs typeface="Cambria" pitchFamily="34" charset="-120"/>
                        </a:rPr>
                        <a:t>Chi tiết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r>
              <a:tr h="658368">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Mong muốn</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Không phát hiện nào trong đợt thanh tra NHNN tới · đội làm phán đoán, không đối chiếu tay · pháp chế là bệ phóng, không phải nút thắt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658368">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Hành vi</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Rà văn bản mới NHNN/Chính phủ mỗi sáng · phân công dò tác động lên policy nội bộ · ký ý kiến tuân thủ</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658368">
                <a:tc>
                  <a:txBody>
                    <a:bodyPr/>
                    <a:lstStyle/>
                    <a:p>
                      <a:pPr algn="l" indent="0" marL="0">
                        <a:buNone/>
                      </a:pPr>
                      <a:r>
                        <a:rPr lang="en-US" sz="900" b="1" dirty="0">
                          <a:solidFill>
                            <a:srgbClr val="B31B1B"/>
                          </a:solidFill>
                          <a:latin typeface="Cambria" pitchFamily="34" charset="0"/>
                          <a:ea typeface="Cambria" pitchFamily="34" charset="-122"/>
                          <a:cs typeface="Cambria" pitchFamily="34" charset="-120"/>
                        </a:rPr>
                        <a:t>Nỗi sợ</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00" dirty="0">
                          <a:solidFill>
                            <a:srgbClr val="B31B1B"/>
                          </a:solidFill>
                          <a:latin typeface="Cambria" pitchFamily="34" charset="0"/>
                          <a:ea typeface="Cambria" pitchFamily="34" charset="-122"/>
                          <a:cs typeface="Cambria" pitchFamily="34" charset="-120"/>
                        </a:rPr>
                        <a:t>Trích 500 triệu khi quy định đã 700 · sót 1 policy khi sửa đổi chạm 5 điều/3 văn bản · kết luận không vết bằng chứng · AI bịa trích dẫn · lộ dữ liệu</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658368">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Đang tìm</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Đúng phiên bản đang hiệu lực · thấy cả nguồn bị loại kèm lý do · người giữ quyền quyết · chạy trong hạ tầng ngân hàng</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658368">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Giá trị nhận</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Thông tư mới → báo cáo tác động tự động · dự thảo → kiểm tra một chạm theo claim · mọi kết luận → gói bằng chứng bảo vệ được</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r>
            </a:tbl>
          </a:graphicData>
        </a:graphic>
      </p:graphicFrame>
      <p:sp>
        <p:nvSpPr>
          <p:cNvPr id="18" name="Shape 15"/>
          <p:cNvSpPr/>
          <p:nvPr/>
        </p:nvSpPr>
        <p:spPr>
          <a:xfrm>
            <a:off x="640080" y="6455664"/>
            <a:ext cx="10908792" cy="0"/>
          </a:xfrm>
          <a:prstGeom prst="line">
            <a:avLst/>
          </a:prstGeom>
          <a:noFill/>
          <a:ln w="6350">
            <a:solidFill>
              <a:srgbClr val="C9CFD6"/>
            </a:solidFill>
            <a:prstDash val="solid"/>
          </a:ln>
        </p:spPr>
      </p:sp>
      <p:sp>
        <p:nvSpPr>
          <p:cNvPr id="19" name="Text 16"/>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20" name="Text 17"/>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4.1 · INNOVATION</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Đổi mới nằm ở những gì LLM không được phép làm.</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640080" y="1481328"/>
            <a:ext cx="5943600" cy="237744"/>
          </a:xfrm>
          <a:prstGeom prst="rect">
            <a:avLst/>
          </a:prstGeom>
          <a:noFill/>
          <a:ln/>
        </p:spPr>
        <p:txBody>
          <a:bodyPr wrap="square" lIns="0" tIns="0" rIns="0" bIns="0" rtlCol="0" anchor="ctr"/>
          <a:lstStyle/>
          <a:p>
            <a:pPr indent="0" marL="0">
              <a:buNone/>
            </a:pPr>
            <a:r>
              <a:rPr lang="en-US" sz="900" i="1" dirty="0">
                <a:solidFill>
                  <a:srgbClr val="5F6B76"/>
                </a:solidFill>
                <a:latin typeface="Cambria" pitchFamily="34" charset="0"/>
                <a:ea typeface="Cambria" pitchFamily="34" charset="-122"/>
                <a:cs typeface="Cambria" pitchFamily="34" charset="-120"/>
              </a:rPr>
              <a:t>Bảng 2 — So sánh với các lựa chọn hiện có (● có · ○ không).</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5943600" cy="914400"/>
        </p:xfrm>
        <a:graphic>
          <a:graphicData uri="http://schemas.openxmlformats.org/drawingml/2006/table">
            <a:tbl>
              <a:tblPr/>
              <a:tblGrid>
                <a:gridCol w="2834640"/>
                <a:gridCol w="777240"/>
                <a:gridCol w="777240"/>
                <a:gridCol w="777240"/>
                <a:gridCol w="777240"/>
              </a:tblGrid>
              <a:tr h="457200">
                <a:tc>
                  <a:txBody>
                    <a:bodyPr/>
                    <a:lstStyle/>
                    <a:p>
                      <a:pPr algn="l" indent="0" marL="0">
                        <a:buNone/>
                      </a:pPr>
                      <a:r>
                        <a:rPr lang="en-US" sz="900" b="1" dirty="0">
                          <a:solidFill>
                            <a:srgbClr val="111418"/>
                          </a:solidFill>
                          <a:latin typeface="Cambria" pitchFamily="34" charset="0"/>
                          <a:ea typeface="Cambria" pitchFamily="34" charset="-122"/>
                          <a:cs typeface="Cambria" pitchFamily="34" charset="-120"/>
                        </a:rPr>
                        <a:t>Tiêu chí</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CSDL luật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RAG thường</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GRC ngoại</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RegVault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Tự động đánh giá tác động</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B31B1B"/>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Đúng phiên bản theo thời điểm hỏi</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B31B1B"/>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Vết kiểm toán + nguồn bị loại</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B31B1B"/>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Điều/Khoản/Điểm + tiếng Việt pháp lý</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B31B1B"/>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900" dirty="0">
                          <a:solidFill>
                            <a:srgbClr val="111418"/>
                          </a:solidFill>
                          <a:latin typeface="Cambria" pitchFamily="34" charset="0"/>
                          <a:ea typeface="Cambria" pitchFamily="34" charset="-122"/>
                          <a:cs typeface="Cambria" pitchFamily="34" charset="-120"/>
                        </a:rPr>
                        <a:t>Con người giữ quyền quyết định</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9AA3AE"/>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11418"/>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31B1B"/>
                          </a:solidFill>
                          <a:latin typeface="Cambria" pitchFamily="34" charset="0"/>
                          <a:ea typeface="Cambria" pitchFamily="34" charset="-122"/>
                          <a:cs typeface="Cambria" pitchFamily="34" charset="-120"/>
                        </a:rPr>
                        <a:t>●</a:t>
                      </a:r>
                      <a:endParaRPr lang="en-US" sz="90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r>
            </a:tbl>
          </a:graphicData>
        </a:graphic>
      </p:graphicFrame>
      <p:sp>
        <p:nvSpPr>
          <p:cNvPr id="8" name="Text 5"/>
          <p:cNvSpPr/>
          <p:nvPr/>
        </p:nvSpPr>
        <p:spPr>
          <a:xfrm>
            <a:off x="640080" y="4617720"/>
            <a:ext cx="5943600" cy="502920"/>
          </a:xfrm>
          <a:prstGeom prst="rect">
            <a:avLst/>
          </a:prstGeom>
          <a:noFill/>
          <a:ln/>
        </p:spPr>
        <p:txBody>
          <a:bodyPr wrap="square" lIns="0" tIns="0" rIns="0" bIns="0" rtlCol="0" anchor="t"/>
          <a:lstStyle/>
          <a:p>
            <a:pPr indent="0" marL="0">
              <a:lnSpc>
                <a:spcPct val="110000"/>
              </a:lnSpc>
              <a:buNone/>
            </a:pPr>
            <a:r>
              <a:rPr lang="en-US" sz="850" i="1" dirty="0">
                <a:solidFill>
                  <a:srgbClr val="5F6B76"/>
                </a:solidFill>
                <a:latin typeface="Cambria" pitchFamily="34" charset="0"/>
                <a:ea typeface="Cambria" pitchFamily="34" charset="-122"/>
                <a:cs typeface="Cambria" pitchFamily="34" charset="-120"/>
              </a:rPr>
              <a:t>CSDL luật: thuvienphapluat, LuatVietnam — phủ rộng nhưng chỉ tra cứu. GRC ngoại: Thomson Reuters, Wolters Kluwer — đắt, chỉ cloud.</a:t>
            </a:r>
            <a:endParaRPr lang="en-US" sz="850" dirty="0"/>
          </a:p>
        </p:txBody>
      </p:sp>
      <p:sp>
        <p:nvSpPr>
          <p:cNvPr id="9" name="Text 6"/>
          <p:cNvSpPr/>
          <p:nvPr/>
        </p:nvSpPr>
        <p:spPr>
          <a:xfrm>
            <a:off x="6949440" y="1572768"/>
            <a:ext cx="4599432" cy="219456"/>
          </a:xfrm>
          <a:prstGeom prst="rect">
            <a:avLst/>
          </a:prstGeom>
          <a:noFill/>
          <a:ln/>
        </p:spPr>
        <p:txBody>
          <a:bodyPr wrap="square" lIns="0" tIns="0" rIns="0" bIns="0" rtlCol="0" anchor="ctr"/>
          <a:lstStyle/>
          <a:p>
            <a:pPr indent="0" marL="0">
              <a:buNone/>
            </a:pPr>
            <a:r>
              <a:rPr lang="en-US" sz="850" b="1" spc="150" kern="0" dirty="0">
                <a:solidFill>
                  <a:srgbClr val="B31B1B"/>
                </a:solidFill>
                <a:latin typeface="Courier New" pitchFamily="34" charset="0"/>
                <a:ea typeface="Courier New" pitchFamily="34" charset="-122"/>
                <a:cs typeface="Courier New" pitchFamily="34" charset="-120"/>
              </a:rPr>
              <a:t>ĐÓNG GÓP CHÍNH (5)</a:t>
            </a:r>
            <a:endParaRPr lang="en-US" sz="850" dirty="0"/>
          </a:p>
        </p:txBody>
      </p:sp>
      <p:sp>
        <p:nvSpPr>
          <p:cNvPr id="10" name="Text 7"/>
          <p:cNvSpPr/>
          <p:nvPr/>
        </p:nvSpPr>
        <p:spPr>
          <a:xfrm>
            <a:off x="6949440" y="1874520"/>
            <a:ext cx="4599432" cy="777240"/>
          </a:xfrm>
          <a:prstGeom prst="rect">
            <a:avLst/>
          </a:prstGeom>
          <a:noFill/>
          <a:ln/>
        </p:spPr>
        <p:txBody>
          <a:bodyPr wrap="square" lIns="0" tIns="0" rIns="0" bIns="0" rtlCol="0" anchor="t"/>
          <a:lstStyle/>
          <a:p>
            <a:pPr indent="0" marL="0">
              <a:lnSpc>
                <a:spcPct val="110000"/>
              </a:lnSpc>
              <a:buNone/>
            </a:pPr>
            <a:r>
              <a:rPr lang="en-US" sz="900" b="1" dirty="0">
                <a:solidFill>
                  <a:srgbClr val="B31B1B"/>
                </a:solidFill>
                <a:latin typeface="Courier New" pitchFamily="34" charset="0"/>
                <a:ea typeface="Courier New" pitchFamily="34" charset="-122"/>
                <a:cs typeface="Courier New" pitchFamily="34" charset="-120"/>
              </a:rPr>
              <a:t>(i)  </a:t>
            </a:r>
            <a:pPr indent="0" marL="0">
              <a:lnSpc>
                <a:spcPct val="110000"/>
              </a:lnSpc>
              <a:buNone/>
            </a:pPr>
            <a:r>
              <a:rPr lang="en-US" sz="1000" dirty="0">
                <a:solidFill>
                  <a:srgbClr val="111418"/>
                </a:solidFill>
                <a:latin typeface="Cambria" pitchFamily="34" charset="0"/>
                <a:ea typeface="Cambria" pitchFamily="34" charset="-122"/>
                <a:cs typeface="Cambria" pitchFamily="34" charset="-120"/>
              </a:rPr>
              <a:t>Đồ thị tri thức thời gian với ChangeEvent tường minh — sửa đổi là node hạng nhất kèm bằng chứng, trước/sau, ngày hiệu lực.</a:t>
            </a:r>
            <a:endParaRPr lang="en-US" sz="900" dirty="0"/>
          </a:p>
        </p:txBody>
      </p:sp>
      <p:sp>
        <p:nvSpPr>
          <p:cNvPr id="11" name="Text 8"/>
          <p:cNvSpPr/>
          <p:nvPr/>
        </p:nvSpPr>
        <p:spPr>
          <a:xfrm>
            <a:off x="6949440" y="2679192"/>
            <a:ext cx="4599432" cy="777240"/>
          </a:xfrm>
          <a:prstGeom prst="rect">
            <a:avLst/>
          </a:prstGeom>
          <a:noFill/>
          <a:ln/>
        </p:spPr>
        <p:txBody>
          <a:bodyPr wrap="square" lIns="0" tIns="0" rIns="0" bIns="0" rtlCol="0" anchor="t"/>
          <a:lstStyle/>
          <a:p>
            <a:pPr indent="0" marL="0">
              <a:lnSpc>
                <a:spcPct val="110000"/>
              </a:lnSpc>
              <a:buNone/>
            </a:pPr>
            <a:r>
              <a:rPr lang="en-US" sz="900" b="1" dirty="0">
                <a:solidFill>
                  <a:srgbClr val="B31B1B"/>
                </a:solidFill>
                <a:latin typeface="Courier New" pitchFamily="34" charset="0"/>
                <a:ea typeface="Courier New" pitchFamily="34" charset="-122"/>
                <a:cs typeface="Courier New" pitchFamily="34" charset="-120"/>
              </a:rPr>
              <a:t>(ii)  </a:t>
            </a:r>
            <a:pPr indent="0" marL="0">
              <a:lnSpc>
                <a:spcPct val="110000"/>
              </a:lnSpc>
              <a:buNone/>
            </a:pPr>
            <a:r>
              <a:rPr lang="en-US" sz="1000" dirty="0">
                <a:solidFill>
                  <a:srgbClr val="111418"/>
                </a:solidFill>
                <a:latin typeface="Cambria" pitchFamily="34" charset="0"/>
                <a:ea typeface="Cambria" pitchFamily="34" charset="-122"/>
                <a:cs typeface="Cambria" pitchFamily="34" charset="-120"/>
              </a:rPr>
              <a:t>Lọc hiệu lực TRƯỚC khi lấy top-k — triệt tận gốc lỗi trộn phiên bản, lỗi câm điển hình của RAG.</a:t>
            </a:r>
            <a:endParaRPr lang="en-US" sz="900" dirty="0"/>
          </a:p>
        </p:txBody>
      </p:sp>
      <p:sp>
        <p:nvSpPr>
          <p:cNvPr id="12" name="Text 9"/>
          <p:cNvSpPr/>
          <p:nvPr/>
        </p:nvSpPr>
        <p:spPr>
          <a:xfrm>
            <a:off x="6949440" y="3483864"/>
            <a:ext cx="4599432" cy="777240"/>
          </a:xfrm>
          <a:prstGeom prst="rect">
            <a:avLst/>
          </a:prstGeom>
          <a:noFill/>
          <a:ln/>
        </p:spPr>
        <p:txBody>
          <a:bodyPr wrap="square" lIns="0" tIns="0" rIns="0" bIns="0" rtlCol="0" anchor="t"/>
          <a:lstStyle/>
          <a:p>
            <a:pPr indent="0" marL="0">
              <a:lnSpc>
                <a:spcPct val="110000"/>
              </a:lnSpc>
              <a:buNone/>
            </a:pPr>
            <a:r>
              <a:rPr lang="en-US" sz="900" b="1" dirty="0">
                <a:solidFill>
                  <a:srgbClr val="B31B1B"/>
                </a:solidFill>
                <a:latin typeface="Courier New" pitchFamily="34" charset="0"/>
                <a:ea typeface="Courier New" pitchFamily="34" charset="-122"/>
                <a:cs typeface="Courier New" pitchFamily="34" charset="-120"/>
              </a:rPr>
              <a:t>(iii)  </a:t>
            </a:r>
            <a:pPr indent="0" marL="0">
              <a:lnSpc>
                <a:spcPct val="110000"/>
              </a:lnSpc>
              <a:buNone/>
            </a:pPr>
            <a:r>
              <a:rPr lang="en-US" sz="1000" dirty="0">
                <a:solidFill>
                  <a:srgbClr val="111418"/>
                </a:solidFill>
                <a:latin typeface="Cambria" pitchFamily="34" charset="0"/>
                <a:ea typeface="Cambria" pitchFamily="34" charset="-122"/>
                <a:cs typeface="Cambria" pitchFamily="34" charset="-120"/>
              </a:rPr>
              <a:t>Patch tất định — LLM không bao giờ viết lại điều luật; mơ hồ là buộc con người duyệt.</a:t>
            </a:r>
            <a:endParaRPr lang="en-US" sz="900" dirty="0"/>
          </a:p>
        </p:txBody>
      </p:sp>
      <p:sp>
        <p:nvSpPr>
          <p:cNvPr id="13" name="Text 10"/>
          <p:cNvSpPr/>
          <p:nvPr/>
        </p:nvSpPr>
        <p:spPr>
          <a:xfrm>
            <a:off x="6949440" y="4288536"/>
            <a:ext cx="4599432" cy="777240"/>
          </a:xfrm>
          <a:prstGeom prst="rect">
            <a:avLst/>
          </a:prstGeom>
          <a:noFill/>
          <a:ln/>
        </p:spPr>
        <p:txBody>
          <a:bodyPr wrap="square" lIns="0" tIns="0" rIns="0" bIns="0" rtlCol="0" anchor="t"/>
          <a:lstStyle/>
          <a:p>
            <a:pPr indent="0" marL="0">
              <a:lnSpc>
                <a:spcPct val="110000"/>
              </a:lnSpc>
              <a:buNone/>
            </a:pPr>
            <a:r>
              <a:rPr lang="en-US" sz="900" b="1" dirty="0">
                <a:solidFill>
                  <a:srgbClr val="B31B1B"/>
                </a:solidFill>
                <a:latin typeface="Courier New" pitchFamily="34" charset="0"/>
                <a:ea typeface="Courier New" pitchFamily="34" charset="-122"/>
                <a:cs typeface="Courier New" pitchFamily="34" charset="-120"/>
              </a:rPr>
              <a:t>(iv)  </a:t>
            </a:r>
            <a:pPr indent="0" marL="0">
              <a:lnSpc>
                <a:spcPct val="110000"/>
              </a:lnSpc>
              <a:buNone/>
            </a:pPr>
            <a:r>
              <a:rPr lang="en-US" sz="1000" dirty="0">
                <a:solidFill>
                  <a:srgbClr val="111418"/>
                </a:solidFill>
                <a:latin typeface="Cambria" pitchFamily="34" charset="0"/>
                <a:ea typeface="Cambria" pitchFamily="34" charset="-122"/>
                <a:cs typeface="Cambria" pitchFamily="34" charset="-120"/>
              </a:rPr>
              <a:t>“LLM bị nhốt” + vết bằng chứng: không chọn phiên bản, không tự tạo trích dẫn; hiển thị cả nguồn bị loại kèm lý do.</a:t>
            </a:r>
            <a:endParaRPr lang="en-US" sz="900" dirty="0"/>
          </a:p>
        </p:txBody>
      </p:sp>
      <p:sp>
        <p:nvSpPr>
          <p:cNvPr id="14" name="Text 11"/>
          <p:cNvSpPr/>
          <p:nvPr/>
        </p:nvSpPr>
        <p:spPr>
          <a:xfrm>
            <a:off x="6949440" y="5093208"/>
            <a:ext cx="4599432" cy="777240"/>
          </a:xfrm>
          <a:prstGeom prst="rect">
            <a:avLst/>
          </a:prstGeom>
          <a:noFill/>
          <a:ln/>
        </p:spPr>
        <p:txBody>
          <a:bodyPr wrap="square" lIns="0" tIns="0" rIns="0" bIns="0" rtlCol="0" anchor="t"/>
          <a:lstStyle/>
          <a:p>
            <a:pPr indent="0" marL="0">
              <a:lnSpc>
                <a:spcPct val="110000"/>
              </a:lnSpc>
              <a:buNone/>
            </a:pPr>
            <a:r>
              <a:rPr lang="en-US" sz="900" b="1" dirty="0">
                <a:solidFill>
                  <a:srgbClr val="B31B1B"/>
                </a:solidFill>
                <a:latin typeface="Courier New" pitchFamily="34" charset="0"/>
                <a:ea typeface="Courier New" pitchFamily="34" charset="-122"/>
                <a:cs typeface="Courier New" pitchFamily="34" charset="-120"/>
              </a:rPr>
              <a:t>(v)  </a:t>
            </a:r>
            <a:pPr indent="0" marL="0">
              <a:lnSpc>
                <a:spcPct val="110000"/>
              </a:lnSpc>
              <a:buNone/>
            </a:pPr>
            <a:r>
              <a:rPr lang="en-US" sz="1000" dirty="0">
                <a:solidFill>
                  <a:srgbClr val="111418"/>
                </a:solidFill>
                <a:latin typeface="Cambria" pitchFamily="34" charset="0"/>
                <a:ea typeface="Cambria" pitchFamily="34" charset="-122"/>
                <a:cs typeface="Cambria" pitchFamily="34" charset="-120"/>
              </a:rPr>
              <a:t>Chuẩn hóa số/ngày pháp lý tiếng Việt + benchmark ngay trong sản phẩm (/compare).</a:t>
            </a:r>
            <a:endParaRPr lang="en-US" sz="900" dirty="0"/>
          </a:p>
        </p:txBody>
      </p:sp>
      <p:sp>
        <p:nvSpPr>
          <p:cNvPr id="15" name="Text 12"/>
          <p:cNvSpPr/>
          <p:nvPr/>
        </p:nvSpPr>
        <p:spPr>
          <a:xfrm>
            <a:off x="640080" y="6035040"/>
            <a:ext cx="10908792" cy="320040"/>
          </a:xfrm>
          <a:prstGeom prst="rect">
            <a:avLst/>
          </a:prstGeom>
          <a:noFill/>
          <a:ln/>
        </p:spPr>
        <p:txBody>
          <a:bodyPr wrap="square" lIns="0" tIns="0" rIns="0" bIns="0" rtlCol="0" anchor="t"/>
          <a:lstStyle/>
          <a:p>
            <a:pPr indent="0" marL="0">
              <a:buNone/>
            </a:pPr>
            <a:r>
              <a:rPr lang="en-US" sz="750" dirty="0">
                <a:solidFill>
                  <a:srgbClr val="5F6B76"/>
                </a:solidFill>
                <a:latin typeface="Courier New" pitchFamily="34" charset="0"/>
                <a:ea typeface="Courier New" pitchFamily="34" charset="-122"/>
                <a:cs typeface="Courier New" pitchFamily="34" charset="-120"/>
              </a:rPr>
              <a:t>Công nghệ Industry 4.0 sử dụng: AI · Big Data &amp; Analytics · Knowledge Graph · Cloud · Cybersecurity · Everything-as-a-Service.</a:t>
            </a:r>
            <a:endParaRPr lang="en-US" sz="750" dirty="0"/>
          </a:p>
        </p:txBody>
      </p:sp>
      <p:sp>
        <p:nvSpPr>
          <p:cNvPr id="16" name="Shape 13"/>
          <p:cNvSpPr/>
          <p:nvPr/>
        </p:nvSpPr>
        <p:spPr>
          <a:xfrm>
            <a:off x="640080" y="6455664"/>
            <a:ext cx="10908792" cy="0"/>
          </a:xfrm>
          <a:prstGeom prst="line">
            <a:avLst/>
          </a:prstGeom>
          <a:noFill/>
          <a:ln w="6350">
            <a:solidFill>
              <a:srgbClr val="C9CFD6"/>
            </a:solidFill>
            <a:prstDash val="solid"/>
          </a:ln>
        </p:spPr>
      </p:sp>
      <p:sp>
        <p:nvSpPr>
          <p:cNvPr id="17" name="Text 14"/>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18" name="Text 15"/>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4.2 · FEASIBILITY</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Không phải kế hoạch — hệ thống đã chạy và tự chứng minh.</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640080" y="1600200"/>
            <a:ext cx="2514600" cy="219456"/>
          </a:xfrm>
          <a:prstGeom prst="rect">
            <a:avLst/>
          </a:prstGeom>
          <a:noFill/>
          <a:ln/>
        </p:spPr>
        <p:txBody>
          <a:bodyPr wrap="square" lIns="0" tIns="0" rIns="0" bIns="0" rtlCol="0" anchor="ctr"/>
          <a:lstStyle/>
          <a:p>
            <a:pPr indent="0" marL="0">
              <a:buNone/>
            </a:pPr>
            <a:r>
              <a:rPr lang="en-US" sz="800" b="1" spc="150" kern="0" dirty="0">
                <a:solidFill>
                  <a:srgbClr val="5F6B76"/>
                </a:solidFill>
                <a:latin typeface="Courier New" pitchFamily="34" charset="0"/>
                <a:ea typeface="Courier New" pitchFamily="34" charset="-122"/>
                <a:cs typeface="Courier New" pitchFamily="34" charset="-120"/>
              </a:rPr>
              <a:t>TEST TỰ ĐỘNG PASS</a:t>
            </a:r>
            <a:endParaRPr lang="en-US" sz="800" dirty="0"/>
          </a:p>
        </p:txBody>
      </p:sp>
      <p:sp>
        <p:nvSpPr>
          <p:cNvPr id="7" name="Text 5"/>
          <p:cNvSpPr/>
          <p:nvPr/>
        </p:nvSpPr>
        <p:spPr>
          <a:xfrm>
            <a:off x="640080" y="1837944"/>
            <a:ext cx="2514600" cy="566928"/>
          </a:xfrm>
          <a:prstGeom prst="rect">
            <a:avLst/>
          </a:prstGeom>
          <a:noFill/>
          <a:ln/>
        </p:spPr>
        <p:txBody>
          <a:bodyPr wrap="square" lIns="0" tIns="0" rIns="0" bIns="0" rtlCol="0" anchor="ctr"/>
          <a:lstStyle/>
          <a:p>
            <a:pPr indent="0" marL="0">
              <a:buNone/>
            </a:pPr>
            <a:r>
              <a:rPr lang="en-US" sz="3000" b="1" dirty="0">
                <a:solidFill>
                  <a:srgbClr val="111418"/>
                </a:solidFill>
                <a:latin typeface="Cambria" pitchFamily="34" charset="0"/>
                <a:ea typeface="Cambria" pitchFamily="34" charset="-122"/>
                <a:cs typeface="Cambria" pitchFamily="34" charset="-120"/>
              </a:rPr>
              <a:t>97</a:t>
            </a:r>
            <a:endParaRPr lang="en-US" sz="3000" dirty="0"/>
          </a:p>
        </p:txBody>
      </p:sp>
      <p:sp>
        <p:nvSpPr>
          <p:cNvPr id="8" name="Text 6"/>
          <p:cNvSpPr/>
          <p:nvPr/>
        </p:nvSpPr>
        <p:spPr>
          <a:xfrm>
            <a:off x="640080" y="2441448"/>
            <a:ext cx="2514600" cy="566928"/>
          </a:xfrm>
          <a:prstGeom prst="rect">
            <a:avLst/>
          </a:prstGeom>
          <a:noFill/>
          <a:ln/>
        </p:spPr>
        <p:txBody>
          <a:bodyPr wrap="square" lIns="0" tIns="0" rIns="0" bIns="0" rtlCol="0" anchor="t"/>
          <a:lstStyle/>
          <a:p>
            <a:pPr indent="0" marL="0">
              <a:lnSpc>
                <a:spcPct val="108000"/>
              </a:lnSpc>
              <a:buNone/>
            </a:pPr>
            <a:r>
              <a:rPr lang="en-US" sz="950" dirty="0">
                <a:solidFill>
                  <a:srgbClr val="5F6B76"/>
                </a:solidFill>
                <a:latin typeface="Cambria" pitchFamily="34" charset="0"/>
                <a:ea typeface="Cambria" pitchFamily="34" charset="-122"/>
                <a:cs typeface="Cambria" pitchFamily="34" charset="-120"/>
              </a:rPr>
              <a:t>phủ toàn bộ pipeline (pytest)</a:t>
            </a:r>
            <a:endParaRPr lang="en-US" sz="950" dirty="0"/>
          </a:p>
        </p:txBody>
      </p:sp>
      <p:sp>
        <p:nvSpPr>
          <p:cNvPr id="9" name="Text 7"/>
          <p:cNvSpPr/>
          <p:nvPr/>
        </p:nvSpPr>
        <p:spPr>
          <a:xfrm>
            <a:off x="3429000" y="1600200"/>
            <a:ext cx="2514600" cy="219456"/>
          </a:xfrm>
          <a:prstGeom prst="rect">
            <a:avLst/>
          </a:prstGeom>
          <a:noFill/>
          <a:ln/>
        </p:spPr>
        <p:txBody>
          <a:bodyPr wrap="square" lIns="0" tIns="0" rIns="0" bIns="0" rtlCol="0" anchor="ctr"/>
          <a:lstStyle/>
          <a:p>
            <a:pPr indent="0" marL="0">
              <a:buNone/>
            </a:pPr>
            <a:r>
              <a:rPr lang="en-US" sz="800" b="1" spc="150" kern="0" dirty="0">
                <a:solidFill>
                  <a:srgbClr val="5F6B76"/>
                </a:solidFill>
                <a:latin typeface="Courier New" pitchFamily="34" charset="0"/>
                <a:ea typeface="Courier New" pitchFamily="34" charset="-122"/>
                <a:cs typeface="Courier New" pitchFamily="34" charset="-120"/>
              </a:rPr>
              <a:t>DỮ LIỆU THẬT TỪ SBV/VBPL</a:t>
            </a:r>
            <a:endParaRPr lang="en-US" sz="800" dirty="0"/>
          </a:p>
        </p:txBody>
      </p:sp>
      <p:sp>
        <p:nvSpPr>
          <p:cNvPr id="10" name="Text 8"/>
          <p:cNvSpPr/>
          <p:nvPr/>
        </p:nvSpPr>
        <p:spPr>
          <a:xfrm>
            <a:off x="3429000" y="1837944"/>
            <a:ext cx="2514600" cy="566928"/>
          </a:xfrm>
          <a:prstGeom prst="rect">
            <a:avLst/>
          </a:prstGeom>
          <a:noFill/>
          <a:ln/>
        </p:spPr>
        <p:txBody>
          <a:bodyPr wrap="square" lIns="0" tIns="0" rIns="0" bIns="0" rtlCol="0" anchor="ctr"/>
          <a:lstStyle/>
          <a:p>
            <a:pPr indent="0" marL="0">
              <a:buNone/>
            </a:pPr>
            <a:r>
              <a:rPr lang="en-US" sz="3000" b="1" dirty="0">
                <a:solidFill>
                  <a:srgbClr val="111418"/>
                </a:solidFill>
                <a:latin typeface="Cambria" pitchFamily="34" charset="0"/>
                <a:ea typeface="Cambria" pitchFamily="34" charset="-122"/>
                <a:cs typeface="Cambria" pitchFamily="34" charset="-120"/>
              </a:rPr>
              <a:t>40+ / 30</a:t>
            </a:r>
            <a:endParaRPr lang="en-US" sz="3000" dirty="0"/>
          </a:p>
        </p:txBody>
      </p:sp>
      <p:sp>
        <p:nvSpPr>
          <p:cNvPr id="11" name="Text 9"/>
          <p:cNvSpPr/>
          <p:nvPr/>
        </p:nvSpPr>
        <p:spPr>
          <a:xfrm>
            <a:off x="3429000" y="2441448"/>
            <a:ext cx="2514600" cy="566928"/>
          </a:xfrm>
          <a:prstGeom prst="rect">
            <a:avLst/>
          </a:prstGeom>
          <a:noFill/>
          <a:ln/>
        </p:spPr>
        <p:txBody>
          <a:bodyPr wrap="square" lIns="0" tIns="0" rIns="0" bIns="0" rtlCol="0" anchor="t"/>
          <a:lstStyle/>
          <a:p>
            <a:pPr indent="0" marL="0">
              <a:lnSpc>
                <a:spcPct val="108000"/>
              </a:lnSpc>
              <a:buNone/>
            </a:pPr>
            <a:r>
              <a:rPr lang="en-US" sz="950" dirty="0">
                <a:solidFill>
                  <a:srgbClr val="5F6B76"/>
                </a:solidFill>
                <a:latin typeface="Cambria" pitchFamily="34" charset="0"/>
                <a:ea typeface="Cambria" pitchFamily="34" charset="-122"/>
                <a:cs typeface="Cambria" pitchFamily="34" charset="-120"/>
              </a:rPr>
              <a:t>văn bản NHNN · quan hệ sửa đổi khai thác thật</a:t>
            </a:r>
            <a:endParaRPr lang="en-US" sz="950" dirty="0"/>
          </a:p>
        </p:txBody>
      </p:sp>
      <p:sp>
        <p:nvSpPr>
          <p:cNvPr id="12" name="Shape 10"/>
          <p:cNvSpPr/>
          <p:nvPr/>
        </p:nvSpPr>
        <p:spPr>
          <a:xfrm>
            <a:off x="3264408" y="1645920"/>
            <a:ext cx="0" cy="1234440"/>
          </a:xfrm>
          <a:prstGeom prst="line">
            <a:avLst/>
          </a:prstGeom>
          <a:noFill/>
          <a:ln w="6350">
            <a:solidFill>
              <a:srgbClr val="C9CFD6"/>
            </a:solidFill>
            <a:prstDash val="solid"/>
          </a:ln>
        </p:spPr>
      </p:sp>
      <p:sp>
        <p:nvSpPr>
          <p:cNvPr id="13" name="Text 11"/>
          <p:cNvSpPr/>
          <p:nvPr/>
        </p:nvSpPr>
        <p:spPr>
          <a:xfrm>
            <a:off x="6217920" y="1600200"/>
            <a:ext cx="2514600" cy="219456"/>
          </a:xfrm>
          <a:prstGeom prst="rect">
            <a:avLst/>
          </a:prstGeom>
          <a:noFill/>
          <a:ln/>
        </p:spPr>
        <p:txBody>
          <a:bodyPr wrap="square" lIns="0" tIns="0" rIns="0" bIns="0" rtlCol="0" anchor="ctr"/>
          <a:lstStyle/>
          <a:p>
            <a:pPr indent="0" marL="0">
              <a:buNone/>
            </a:pPr>
            <a:r>
              <a:rPr lang="en-US" sz="800" b="1" spc="150" kern="0" dirty="0">
                <a:solidFill>
                  <a:srgbClr val="5F6B76"/>
                </a:solidFill>
                <a:latin typeface="Courier New" pitchFamily="34" charset="0"/>
                <a:ea typeface="Courier New" pitchFamily="34" charset="-122"/>
                <a:cs typeface="Courier New" pitchFamily="34" charset="-120"/>
              </a:rPr>
              <a:t>CỔNG KÍCH HOẠT</a:t>
            </a:r>
            <a:endParaRPr lang="en-US" sz="800" dirty="0"/>
          </a:p>
        </p:txBody>
      </p:sp>
      <p:sp>
        <p:nvSpPr>
          <p:cNvPr id="14" name="Text 12"/>
          <p:cNvSpPr/>
          <p:nvPr/>
        </p:nvSpPr>
        <p:spPr>
          <a:xfrm>
            <a:off x="6217920" y="1837944"/>
            <a:ext cx="2514600" cy="566928"/>
          </a:xfrm>
          <a:prstGeom prst="rect">
            <a:avLst/>
          </a:prstGeom>
          <a:noFill/>
          <a:ln/>
        </p:spPr>
        <p:txBody>
          <a:bodyPr wrap="square" lIns="0" tIns="0" rIns="0" bIns="0" rtlCol="0" anchor="ctr"/>
          <a:lstStyle/>
          <a:p>
            <a:pPr indent="0" marL="0">
              <a:buNone/>
            </a:pPr>
            <a:r>
              <a:rPr lang="en-US" sz="3000" b="1" dirty="0">
                <a:solidFill>
                  <a:srgbClr val="B31B1B"/>
                </a:solidFill>
                <a:latin typeface="Cambria" pitchFamily="34" charset="0"/>
                <a:ea typeface="Cambria" pitchFamily="34" charset="-122"/>
                <a:cs typeface="Cambria" pitchFamily="34" charset="-120"/>
              </a:rPr>
              <a:t>HTTP 409</a:t>
            </a:r>
            <a:endParaRPr lang="en-US" sz="3000" dirty="0"/>
          </a:p>
        </p:txBody>
      </p:sp>
      <p:sp>
        <p:nvSpPr>
          <p:cNvPr id="15" name="Text 13"/>
          <p:cNvSpPr/>
          <p:nvPr/>
        </p:nvSpPr>
        <p:spPr>
          <a:xfrm>
            <a:off x="6217920" y="2441448"/>
            <a:ext cx="2514600" cy="566928"/>
          </a:xfrm>
          <a:prstGeom prst="rect">
            <a:avLst/>
          </a:prstGeom>
          <a:noFill/>
          <a:ln/>
        </p:spPr>
        <p:txBody>
          <a:bodyPr wrap="square" lIns="0" tIns="0" rIns="0" bIns="0" rtlCol="0" anchor="t"/>
          <a:lstStyle/>
          <a:p>
            <a:pPr indent="0" marL="0">
              <a:lnSpc>
                <a:spcPct val="108000"/>
              </a:lnSpc>
              <a:buNone/>
            </a:pPr>
            <a:r>
              <a:rPr lang="en-US" sz="950" dirty="0">
                <a:solidFill>
                  <a:srgbClr val="5F6B76"/>
                </a:solidFill>
                <a:latin typeface="Cambria" pitchFamily="34" charset="0"/>
                <a:ea typeface="Cambria" pitchFamily="34" charset="-122"/>
                <a:cs typeface="Cambria" pitchFamily="34" charset="-120"/>
              </a:rPr>
              <a:t>chặn nguồn chưa duyệt — demo trực tiếp được</a:t>
            </a:r>
            <a:endParaRPr lang="en-US" sz="950" dirty="0"/>
          </a:p>
        </p:txBody>
      </p:sp>
      <p:sp>
        <p:nvSpPr>
          <p:cNvPr id="16" name="Shape 14"/>
          <p:cNvSpPr/>
          <p:nvPr/>
        </p:nvSpPr>
        <p:spPr>
          <a:xfrm>
            <a:off x="6053328" y="1645920"/>
            <a:ext cx="0" cy="1234440"/>
          </a:xfrm>
          <a:prstGeom prst="line">
            <a:avLst/>
          </a:prstGeom>
          <a:noFill/>
          <a:ln w="6350">
            <a:solidFill>
              <a:srgbClr val="C9CFD6"/>
            </a:solidFill>
            <a:prstDash val="solid"/>
          </a:ln>
        </p:spPr>
      </p:sp>
      <p:sp>
        <p:nvSpPr>
          <p:cNvPr id="17" name="Text 15"/>
          <p:cNvSpPr/>
          <p:nvPr/>
        </p:nvSpPr>
        <p:spPr>
          <a:xfrm>
            <a:off x="9006840" y="1600200"/>
            <a:ext cx="2514600" cy="219456"/>
          </a:xfrm>
          <a:prstGeom prst="rect">
            <a:avLst/>
          </a:prstGeom>
          <a:noFill/>
          <a:ln/>
        </p:spPr>
        <p:txBody>
          <a:bodyPr wrap="square" lIns="0" tIns="0" rIns="0" bIns="0" rtlCol="0" anchor="ctr"/>
          <a:lstStyle/>
          <a:p>
            <a:pPr indent="0" marL="0">
              <a:buNone/>
            </a:pPr>
            <a:r>
              <a:rPr lang="en-US" sz="800" b="1" spc="150" kern="0" dirty="0">
                <a:solidFill>
                  <a:srgbClr val="5F6B76"/>
                </a:solidFill>
                <a:latin typeface="Courier New" pitchFamily="34" charset="0"/>
                <a:ea typeface="Courier New" pitchFamily="34" charset="-122"/>
                <a:cs typeface="Courier New" pitchFamily="34" charset="-120"/>
              </a:rPr>
              <a:t>PHỤ THUỘC KHI DEMO</a:t>
            </a:r>
            <a:endParaRPr lang="en-US" sz="800" dirty="0"/>
          </a:p>
        </p:txBody>
      </p:sp>
      <p:sp>
        <p:nvSpPr>
          <p:cNvPr id="18" name="Text 16"/>
          <p:cNvSpPr/>
          <p:nvPr/>
        </p:nvSpPr>
        <p:spPr>
          <a:xfrm>
            <a:off x="9006840" y="1837944"/>
            <a:ext cx="2514600" cy="566928"/>
          </a:xfrm>
          <a:prstGeom prst="rect">
            <a:avLst/>
          </a:prstGeom>
          <a:noFill/>
          <a:ln/>
        </p:spPr>
        <p:txBody>
          <a:bodyPr wrap="square" lIns="0" tIns="0" rIns="0" bIns="0" rtlCol="0" anchor="ctr"/>
          <a:lstStyle/>
          <a:p>
            <a:pPr indent="0" marL="0">
              <a:buNone/>
            </a:pPr>
            <a:r>
              <a:rPr lang="en-US" sz="3000" b="1" dirty="0">
                <a:solidFill>
                  <a:srgbClr val="111418"/>
                </a:solidFill>
                <a:latin typeface="Cambria" pitchFamily="34" charset="0"/>
                <a:ea typeface="Cambria" pitchFamily="34" charset="-122"/>
                <a:cs typeface="Cambria" pitchFamily="34" charset="-120"/>
              </a:rPr>
              <a:t>0</a:t>
            </a:r>
            <a:endParaRPr lang="en-US" sz="3000" dirty="0"/>
          </a:p>
        </p:txBody>
      </p:sp>
      <p:sp>
        <p:nvSpPr>
          <p:cNvPr id="19" name="Text 17"/>
          <p:cNvSpPr/>
          <p:nvPr/>
        </p:nvSpPr>
        <p:spPr>
          <a:xfrm>
            <a:off x="9006840" y="2441448"/>
            <a:ext cx="2514600" cy="566928"/>
          </a:xfrm>
          <a:prstGeom prst="rect">
            <a:avLst/>
          </a:prstGeom>
          <a:noFill/>
          <a:ln/>
        </p:spPr>
        <p:txBody>
          <a:bodyPr wrap="square" lIns="0" tIns="0" rIns="0" bIns="0" rtlCol="0" anchor="t"/>
          <a:lstStyle/>
          <a:p>
            <a:pPr indent="0" marL="0">
              <a:lnSpc>
                <a:spcPct val="108000"/>
              </a:lnSpc>
              <a:buNone/>
            </a:pPr>
            <a:r>
              <a:rPr lang="en-US" sz="950" dirty="0">
                <a:solidFill>
                  <a:srgbClr val="5F6B76"/>
                </a:solidFill>
                <a:latin typeface="Cambria" pitchFamily="34" charset="0"/>
                <a:ea typeface="Cambria" pitchFamily="34" charset="-122"/>
                <a:cs typeface="Cambria" pitchFamily="34" charset="-120"/>
              </a:rPr>
              <a:t>không Docker, không API key — vẫn chạy đủ 2 luồng</a:t>
            </a:r>
            <a:endParaRPr lang="en-US" sz="950" dirty="0"/>
          </a:p>
        </p:txBody>
      </p:sp>
      <p:sp>
        <p:nvSpPr>
          <p:cNvPr id="20" name="Shape 18"/>
          <p:cNvSpPr/>
          <p:nvPr/>
        </p:nvSpPr>
        <p:spPr>
          <a:xfrm>
            <a:off x="8842248" y="1645920"/>
            <a:ext cx="0" cy="1234440"/>
          </a:xfrm>
          <a:prstGeom prst="line">
            <a:avLst/>
          </a:prstGeom>
          <a:noFill/>
          <a:ln w="6350">
            <a:solidFill>
              <a:srgbClr val="C9CFD6"/>
            </a:solidFill>
            <a:prstDash val="solid"/>
          </a:ln>
        </p:spPr>
      </p:sp>
      <p:sp>
        <p:nvSpPr>
          <p:cNvPr id="21" name="Shape 19"/>
          <p:cNvSpPr/>
          <p:nvPr/>
        </p:nvSpPr>
        <p:spPr>
          <a:xfrm>
            <a:off x="640080" y="3154680"/>
            <a:ext cx="10908792" cy="0"/>
          </a:xfrm>
          <a:prstGeom prst="line">
            <a:avLst/>
          </a:prstGeom>
          <a:noFill/>
          <a:ln w="6350">
            <a:solidFill>
              <a:srgbClr val="C9CFD6"/>
            </a:solidFill>
            <a:prstDash val="solid"/>
          </a:ln>
        </p:spPr>
      </p:sp>
      <p:sp>
        <p:nvSpPr>
          <p:cNvPr id="22" name="Shape 20"/>
          <p:cNvSpPr/>
          <p:nvPr/>
        </p:nvSpPr>
        <p:spPr>
          <a:xfrm>
            <a:off x="640080" y="3474720"/>
            <a:ext cx="5577840" cy="0"/>
          </a:xfrm>
          <a:prstGeom prst="line">
            <a:avLst/>
          </a:prstGeom>
          <a:noFill/>
          <a:ln w="22225">
            <a:solidFill>
              <a:srgbClr val="111418"/>
            </a:solidFill>
            <a:prstDash val="solid"/>
          </a:ln>
        </p:spPr>
      </p:sp>
      <p:sp>
        <p:nvSpPr>
          <p:cNvPr id="23" name="Text 21"/>
          <p:cNvSpPr/>
          <p:nvPr/>
        </p:nvSpPr>
        <p:spPr>
          <a:xfrm>
            <a:off x="640080" y="3584448"/>
            <a:ext cx="5577840" cy="219456"/>
          </a:xfrm>
          <a:prstGeom prst="rect">
            <a:avLst/>
          </a:prstGeom>
          <a:noFill/>
          <a:ln/>
        </p:spPr>
        <p:txBody>
          <a:bodyPr wrap="square" lIns="0" tIns="0" rIns="0" bIns="0" rtlCol="0" anchor="ctr"/>
          <a:lstStyle/>
          <a:p>
            <a:pPr indent="0" marL="0">
              <a:buNone/>
            </a:pPr>
            <a:r>
              <a:rPr lang="en-US" sz="850" b="1" spc="150" kern="0" dirty="0">
                <a:solidFill>
                  <a:srgbClr val="B31B1B"/>
                </a:solidFill>
                <a:latin typeface="Courier New" pitchFamily="34" charset="0"/>
                <a:ea typeface="Courier New" pitchFamily="34" charset="-122"/>
                <a:cs typeface="Courier New" pitchFamily="34" charset="-120"/>
              </a:rPr>
              <a:t>MỆNH ĐỀ GIÁ TRỊ ĐỘC NHẤT (USP)</a:t>
            </a:r>
            <a:endParaRPr lang="en-US" sz="850" dirty="0"/>
          </a:p>
        </p:txBody>
      </p:sp>
      <p:sp>
        <p:nvSpPr>
          <p:cNvPr id="24" name="Text 22"/>
          <p:cNvSpPr/>
          <p:nvPr/>
        </p:nvSpPr>
        <p:spPr>
          <a:xfrm>
            <a:off x="731520" y="3913632"/>
            <a:ext cx="5394960" cy="868680"/>
          </a:xfrm>
          <a:prstGeom prst="rect">
            <a:avLst/>
          </a:prstGeom>
          <a:noFill/>
          <a:ln/>
        </p:spPr>
        <p:txBody>
          <a:bodyPr wrap="square" lIns="0" tIns="0" rIns="0" bIns="0" rtlCol="0" anchor="t"/>
          <a:lstStyle/>
          <a:p>
            <a:pPr indent="0" marL="0">
              <a:lnSpc>
                <a:spcPct val="115000"/>
              </a:lnSpc>
              <a:buNone/>
            </a:pPr>
            <a:r>
              <a:rPr lang="en-US" sz="1450" b="1" i="1" dirty="0">
                <a:solidFill>
                  <a:srgbClr val="111418"/>
                </a:solidFill>
                <a:latin typeface="Cambria" pitchFamily="34" charset="0"/>
                <a:ea typeface="Cambria" pitchFamily="34" charset="-122"/>
                <a:cs typeface="Cambria" pitchFamily="34" charset="-120"/>
              </a:rPr>
              <a:t>“Mọi câu trả lời đều đúng thời điểm và kiểm toán được — AI đề xuất, cán bộ Tuân thủ quyết định.”</a:t>
            </a:r>
            <a:endParaRPr lang="en-US" sz="1450" dirty="0"/>
          </a:p>
        </p:txBody>
      </p:sp>
      <p:sp>
        <p:nvSpPr>
          <p:cNvPr id="25" name="Shape 23"/>
          <p:cNvSpPr/>
          <p:nvPr/>
        </p:nvSpPr>
        <p:spPr>
          <a:xfrm>
            <a:off x="640080" y="4937760"/>
            <a:ext cx="5577840" cy="0"/>
          </a:xfrm>
          <a:prstGeom prst="line">
            <a:avLst/>
          </a:prstGeom>
          <a:noFill/>
          <a:ln w="9525">
            <a:solidFill>
              <a:srgbClr val="111418"/>
            </a:solidFill>
            <a:prstDash val="solid"/>
          </a:ln>
        </p:spPr>
      </p:sp>
      <p:sp>
        <p:nvSpPr>
          <p:cNvPr id="26" name="Text 24"/>
          <p:cNvSpPr/>
          <p:nvPr/>
        </p:nvSpPr>
        <p:spPr>
          <a:xfrm>
            <a:off x="640080" y="5120640"/>
            <a:ext cx="5577840" cy="914400"/>
          </a:xfrm>
          <a:prstGeom prst="rect">
            <a:avLst/>
          </a:prstGeom>
          <a:noFill/>
          <a:ln/>
        </p:spPr>
        <p:txBody>
          <a:bodyPr wrap="square" lIns="0" tIns="0" rIns="0" bIns="0" rtlCol="0" anchor="t"/>
          <a:lstStyle/>
          <a:p>
            <a:pPr indent="0" marL="0">
              <a:lnSpc>
                <a:spcPct val="115000"/>
              </a:lnSpc>
              <a:buNone/>
            </a:pPr>
            <a:r>
              <a:rPr lang="en-US" sz="1000" dirty="0">
                <a:solidFill>
                  <a:srgbClr val="5F6B76"/>
                </a:solidFill>
                <a:latin typeface="Cambria" pitchFamily="34" charset="0"/>
                <a:ea typeface="Cambria" pitchFamily="34" charset="-122"/>
                <a:cs typeface="Cambria" pitchFamily="34" charset="-120"/>
              </a:rPr>
              <a:t>Khách hàng cần câu trả lời đáng tin đúng phiên bản; đối thủ hoặc phủ rộng nhưng không tự động (CSDL luật), hoặc trôi chảy nhưng không đáng tin (AI thường). RegVault đứng một mình trong vùng giao.</a:t>
            </a:r>
            <a:endParaRPr lang="en-US" sz="1000" dirty="0"/>
          </a:p>
        </p:txBody>
      </p:sp>
      <p:sp>
        <p:nvSpPr>
          <p:cNvPr id="27" name="Shape 25"/>
          <p:cNvSpPr/>
          <p:nvPr/>
        </p:nvSpPr>
        <p:spPr>
          <a:xfrm>
            <a:off x="7498080" y="3383280"/>
            <a:ext cx="1783080" cy="1783080"/>
          </a:xfrm>
          <a:prstGeom prst="ellipse">
            <a:avLst/>
          </a:prstGeom>
          <a:solidFill>
            <a:srgbClr val="FFFFFF"/>
          </a:solidFill>
          <a:ln w="12700">
            <a:solidFill>
              <a:srgbClr val="111418"/>
            </a:solidFill>
            <a:prstDash val="solid"/>
          </a:ln>
        </p:spPr>
      </p:sp>
      <p:sp>
        <p:nvSpPr>
          <p:cNvPr id="28" name="Shape 26"/>
          <p:cNvSpPr/>
          <p:nvPr/>
        </p:nvSpPr>
        <p:spPr>
          <a:xfrm>
            <a:off x="8686800" y="3383280"/>
            <a:ext cx="1783080" cy="1783080"/>
          </a:xfrm>
          <a:prstGeom prst="ellipse">
            <a:avLst/>
          </a:prstGeom>
          <a:solidFill>
            <a:srgbClr val="FFFFFF">
              <a:alpha val="0"/>
            </a:srgbClr>
          </a:solidFill>
          <a:ln w="12700">
            <a:solidFill>
              <a:srgbClr val="9AA3AE"/>
            </a:solidFill>
            <a:prstDash val="solid"/>
          </a:ln>
        </p:spPr>
      </p:sp>
      <p:sp>
        <p:nvSpPr>
          <p:cNvPr id="29" name="Shape 27"/>
          <p:cNvSpPr/>
          <p:nvPr/>
        </p:nvSpPr>
        <p:spPr>
          <a:xfrm>
            <a:off x="8092440" y="4297680"/>
            <a:ext cx="1783080" cy="1783080"/>
          </a:xfrm>
          <a:prstGeom prst="ellipse">
            <a:avLst/>
          </a:prstGeom>
          <a:solidFill>
            <a:srgbClr val="FFFFFF">
              <a:alpha val="0"/>
            </a:srgbClr>
          </a:solidFill>
          <a:ln w="12700">
            <a:solidFill>
              <a:srgbClr val="111418"/>
            </a:solidFill>
            <a:prstDash val="solid"/>
          </a:ln>
        </p:spPr>
      </p:sp>
      <p:sp>
        <p:nvSpPr>
          <p:cNvPr id="30" name="Text 28"/>
          <p:cNvSpPr/>
          <p:nvPr/>
        </p:nvSpPr>
        <p:spPr>
          <a:xfrm>
            <a:off x="7360920" y="3749040"/>
            <a:ext cx="1463040" cy="457200"/>
          </a:xfrm>
          <a:prstGeom prst="rect">
            <a:avLst/>
          </a:prstGeom>
          <a:noFill/>
          <a:ln/>
        </p:spPr>
        <p:txBody>
          <a:bodyPr wrap="square" lIns="0" tIns="0" rIns="0" bIns="0" rtlCol="0" anchor="ctr"/>
          <a:lstStyle/>
          <a:p>
            <a:pPr algn="ctr" indent="0" marL="0">
              <a:buNone/>
            </a:pPr>
            <a:r>
              <a:rPr lang="en-US" sz="750" dirty="0">
                <a:solidFill>
                  <a:srgbClr val="111418"/>
                </a:solidFill>
                <a:latin typeface="Courier New" pitchFamily="34" charset="0"/>
                <a:ea typeface="Courier New" pitchFamily="34" charset="-122"/>
                <a:cs typeface="Courier New" pitchFamily="34" charset="-120"/>
              </a:rPr>
              <a:t>ta làm tốt</a:t>
            </a:r>
            <a:endParaRPr lang="en-US" sz="750" dirty="0"/>
          </a:p>
          <a:p>
            <a:pPr algn="ctr" indent="0" marL="0">
              <a:buNone/>
            </a:pPr>
            <a:r>
              <a:rPr lang="en-US" sz="750" dirty="0">
                <a:solidFill>
                  <a:srgbClr val="111418"/>
                </a:solidFill>
                <a:latin typeface="Courier New" pitchFamily="34" charset="0"/>
                <a:ea typeface="Courier New" pitchFamily="34" charset="-122"/>
                <a:cs typeface="Courier New" pitchFamily="34" charset="-120"/>
              </a:rPr>
              <a:t>duy nhất</a:t>
            </a:r>
            <a:endParaRPr lang="en-US" sz="750" dirty="0"/>
          </a:p>
        </p:txBody>
      </p:sp>
      <p:sp>
        <p:nvSpPr>
          <p:cNvPr id="31" name="Text 29"/>
          <p:cNvSpPr/>
          <p:nvPr/>
        </p:nvSpPr>
        <p:spPr>
          <a:xfrm>
            <a:off x="9189720" y="3749040"/>
            <a:ext cx="1463040" cy="457200"/>
          </a:xfrm>
          <a:prstGeom prst="rect">
            <a:avLst/>
          </a:prstGeom>
          <a:noFill/>
          <a:ln/>
        </p:spPr>
        <p:txBody>
          <a:bodyPr wrap="square" lIns="0" tIns="0" rIns="0" bIns="0" rtlCol="0" anchor="ctr"/>
          <a:lstStyle/>
          <a:p>
            <a:pPr algn="ctr" indent="0" marL="0">
              <a:buNone/>
            </a:pPr>
            <a:r>
              <a:rPr lang="en-US" sz="750" dirty="0">
                <a:solidFill>
                  <a:srgbClr val="5F6B76"/>
                </a:solidFill>
                <a:latin typeface="Courier New" pitchFamily="34" charset="0"/>
                <a:ea typeface="Courier New" pitchFamily="34" charset="-122"/>
                <a:cs typeface="Courier New" pitchFamily="34" charset="-120"/>
              </a:rPr>
              <a:t>đối thủ</a:t>
            </a:r>
            <a:endParaRPr lang="en-US" sz="750" dirty="0"/>
          </a:p>
          <a:p>
            <a:pPr algn="ctr" indent="0" marL="0">
              <a:buNone/>
            </a:pPr>
            <a:r>
              <a:rPr lang="en-US" sz="750" dirty="0">
                <a:solidFill>
                  <a:srgbClr val="5F6B76"/>
                </a:solidFill>
                <a:latin typeface="Courier New" pitchFamily="34" charset="0"/>
                <a:ea typeface="Courier New" pitchFamily="34" charset="-122"/>
                <a:cs typeface="Courier New" pitchFamily="34" charset="-120"/>
              </a:rPr>
              <a:t>làm tốt</a:t>
            </a:r>
            <a:endParaRPr lang="en-US" sz="750" dirty="0"/>
          </a:p>
        </p:txBody>
      </p:sp>
      <p:sp>
        <p:nvSpPr>
          <p:cNvPr id="32" name="Text 30"/>
          <p:cNvSpPr/>
          <p:nvPr/>
        </p:nvSpPr>
        <p:spPr>
          <a:xfrm>
            <a:off x="8001000" y="5760720"/>
            <a:ext cx="2011680" cy="228600"/>
          </a:xfrm>
          <a:prstGeom prst="rect">
            <a:avLst/>
          </a:prstGeom>
          <a:noFill/>
          <a:ln/>
        </p:spPr>
        <p:txBody>
          <a:bodyPr wrap="square" lIns="0" tIns="0" rIns="0" bIns="0" rtlCol="0" anchor="ctr"/>
          <a:lstStyle/>
          <a:p>
            <a:pPr algn="ctr" indent="0" marL="0">
              <a:buNone/>
            </a:pPr>
            <a:r>
              <a:rPr lang="en-US" sz="750" dirty="0">
                <a:solidFill>
                  <a:srgbClr val="111418"/>
                </a:solidFill>
                <a:latin typeface="Courier New" pitchFamily="34" charset="0"/>
                <a:ea typeface="Courier New" pitchFamily="34" charset="-122"/>
                <a:cs typeface="Courier New" pitchFamily="34" charset="-120"/>
              </a:rPr>
              <a:t>khách hàng cần</a:t>
            </a:r>
            <a:endParaRPr lang="en-US" sz="750" dirty="0"/>
          </a:p>
        </p:txBody>
      </p:sp>
      <p:sp>
        <p:nvSpPr>
          <p:cNvPr id="33" name="Shape 31"/>
          <p:cNvSpPr/>
          <p:nvPr/>
        </p:nvSpPr>
        <p:spPr>
          <a:xfrm>
            <a:off x="8394192" y="4352544"/>
            <a:ext cx="310896" cy="310896"/>
          </a:xfrm>
          <a:prstGeom prst="ellipse">
            <a:avLst/>
          </a:prstGeom>
          <a:solidFill>
            <a:srgbClr val="B31B1B"/>
          </a:solidFill>
          <a:ln/>
        </p:spPr>
      </p:sp>
      <p:sp>
        <p:nvSpPr>
          <p:cNvPr id="34" name="Text 32"/>
          <p:cNvSpPr/>
          <p:nvPr/>
        </p:nvSpPr>
        <p:spPr>
          <a:xfrm>
            <a:off x="8065008" y="4681728"/>
            <a:ext cx="1005840" cy="219456"/>
          </a:xfrm>
          <a:prstGeom prst="rect">
            <a:avLst/>
          </a:prstGeom>
          <a:noFill/>
          <a:ln/>
        </p:spPr>
        <p:txBody>
          <a:bodyPr wrap="square" lIns="0" tIns="0" rIns="0" bIns="0" rtlCol="0" anchor="ctr"/>
          <a:lstStyle/>
          <a:p>
            <a:pPr algn="ctr" indent="0" marL="0">
              <a:buNone/>
            </a:pPr>
            <a:r>
              <a:rPr lang="en-US" sz="800" b="1" dirty="0">
                <a:solidFill>
                  <a:srgbClr val="B31B1B"/>
                </a:solidFill>
                <a:latin typeface="Courier New" pitchFamily="34" charset="0"/>
                <a:ea typeface="Courier New" pitchFamily="34" charset="-122"/>
                <a:cs typeface="Courier New" pitchFamily="34" charset="-120"/>
              </a:rPr>
              <a:t>USP</a:t>
            </a:r>
            <a:endParaRPr lang="en-US" sz="800" dirty="0"/>
          </a:p>
        </p:txBody>
      </p:sp>
      <p:sp>
        <p:nvSpPr>
          <p:cNvPr id="35" name="Shape 33"/>
          <p:cNvSpPr/>
          <p:nvPr/>
        </p:nvSpPr>
        <p:spPr>
          <a:xfrm>
            <a:off x="6858000" y="5989320"/>
            <a:ext cx="4690872" cy="0"/>
          </a:xfrm>
          <a:prstGeom prst="line">
            <a:avLst/>
          </a:prstGeom>
          <a:noFill/>
          <a:ln w="6350">
            <a:solidFill>
              <a:srgbClr val="C9CFD6"/>
            </a:solidFill>
            <a:prstDash val="solid"/>
          </a:ln>
        </p:spPr>
      </p:sp>
      <p:sp>
        <p:nvSpPr>
          <p:cNvPr id="36" name="Text 34"/>
          <p:cNvSpPr/>
          <p:nvPr/>
        </p:nvSpPr>
        <p:spPr>
          <a:xfrm>
            <a:off x="6858000" y="6035040"/>
            <a:ext cx="4690872" cy="457200"/>
          </a:xfrm>
          <a:prstGeom prst="rect">
            <a:avLst/>
          </a:prstGeom>
          <a:noFill/>
          <a:ln/>
        </p:spPr>
        <p:txBody>
          <a:bodyPr wrap="square" lIns="0" tIns="0" rIns="0" bIns="0" rtlCol="0" anchor="t"/>
          <a:lstStyle/>
          <a:p>
            <a:pPr indent="0" marL="0">
              <a:lnSpc>
                <a:spcPct val="105000"/>
              </a:lnSpc>
              <a:buNone/>
            </a:pPr>
            <a:r>
              <a:rPr lang="en-US" sz="900" i="1" dirty="0">
                <a:solidFill>
                  <a:srgbClr val="5F6B76"/>
                </a:solidFill>
                <a:latin typeface="Cambria" pitchFamily="34" charset="0"/>
                <a:ea typeface="Cambria" pitchFamily="34" charset="-122"/>
                <a:cs typeface="Cambria" pitchFamily="34" charset="-120"/>
              </a:rPr>
              <a:t>Hình 4 — Vùng thắng của USP.</a:t>
            </a:r>
            <a:endParaRPr lang="en-US" sz="900" dirty="0"/>
          </a:p>
        </p:txBody>
      </p:sp>
      <p:sp>
        <p:nvSpPr>
          <p:cNvPr id="37" name="Shape 35"/>
          <p:cNvSpPr/>
          <p:nvPr/>
        </p:nvSpPr>
        <p:spPr>
          <a:xfrm>
            <a:off x="640080" y="6455664"/>
            <a:ext cx="10908792" cy="0"/>
          </a:xfrm>
          <a:prstGeom prst="line">
            <a:avLst/>
          </a:prstGeom>
          <a:noFill/>
          <a:ln w="6350">
            <a:solidFill>
              <a:srgbClr val="C9CFD6"/>
            </a:solidFill>
            <a:prstDash val="solid"/>
          </a:ln>
        </p:spPr>
      </p:sp>
      <p:sp>
        <p:nvSpPr>
          <p:cNvPr id="38" name="Text 36"/>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39" name="Text 37"/>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4.2 · FEASIBILITY — NGUỒN LỰC</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Business Model Canvas.</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640080" y="1444752"/>
            <a:ext cx="10908792" cy="237744"/>
          </a:xfrm>
          <a:prstGeom prst="rect">
            <a:avLst/>
          </a:prstGeom>
          <a:noFill/>
          <a:ln/>
        </p:spPr>
        <p:txBody>
          <a:bodyPr wrap="square" lIns="0" tIns="0" rIns="0" bIns="0" rtlCol="0" anchor="ctr"/>
          <a:lstStyle/>
          <a:p>
            <a:pPr indent="0" marL="0">
              <a:buNone/>
            </a:pPr>
            <a:r>
              <a:rPr lang="en-US" sz="900" i="1" dirty="0">
                <a:solidFill>
                  <a:srgbClr val="5F6B76"/>
                </a:solidFill>
                <a:latin typeface="Cambria" pitchFamily="34" charset="0"/>
                <a:ea typeface="Cambria" pitchFamily="34" charset="-122"/>
                <a:cs typeface="Cambria" pitchFamily="34" charset="-120"/>
              </a:rPr>
              <a:t>Bảng 3 — Mô hình kinh doanh chín khối.</a:t>
            </a:r>
            <a:endParaRPr lang="en-US" sz="900" dirty="0"/>
          </a:p>
        </p:txBody>
      </p:sp>
      <p:sp>
        <p:nvSpPr>
          <p:cNvPr id="7" name="Shape 5"/>
          <p:cNvSpPr/>
          <p:nvPr/>
        </p:nvSpPr>
        <p:spPr>
          <a:xfrm>
            <a:off x="640080" y="1737360"/>
            <a:ext cx="2112264" cy="3291840"/>
          </a:xfrm>
          <a:prstGeom prst="rect">
            <a:avLst/>
          </a:prstGeom>
          <a:solidFill>
            <a:srgbClr val="FFFFFF"/>
          </a:solidFill>
          <a:ln w="9525">
            <a:solidFill>
              <a:srgbClr val="C9CFD6"/>
            </a:solidFill>
            <a:prstDash val="solid"/>
          </a:ln>
        </p:spPr>
      </p:sp>
      <p:sp>
        <p:nvSpPr>
          <p:cNvPr id="8" name="Text 6"/>
          <p:cNvSpPr/>
          <p:nvPr/>
        </p:nvSpPr>
        <p:spPr>
          <a:xfrm>
            <a:off x="731520" y="1792224"/>
            <a:ext cx="1929384"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ĐỐI TÁC CHÍNH</a:t>
            </a:r>
            <a:endParaRPr lang="en-US" sz="750" dirty="0"/>
          </a:p>
        </p:txBody>
      </p:sp>
      <p:sp>
        <p:nvSpPr>
          <p:cNvPr id="9" name="Text 7"/>
          <p:cNvSpPr/>
          <p:nvPr/>
        </p:nvSpPr>
        <p:spPr>
          <a:xfrm>
            <a:off x="731520" y="2011680"/>
            <a:ext cx="1929384" cy="2944368"/>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Dữ liệu pháp lý mở SBV/VBPL · SHB (design partner &amp; pilot) · nhà cung cấp LLM (thay được) · hạ tầng on-prem/cloud · mentor, VNBA</a:t>
            </a:r>
            <a:endParaRPr lang="en-US" sz="830" dirty="0"/>
          </a:p>
        </p:txBody>
      </p:sp>
      <p:sp>
        <p:nvSpPr>
          <p:cNvPr id="10" name="Shape 8"/>
          <p:cNvSpPr/>
          <p:nvPr/>
        </p:nvSpPr>
        <p:spPr>
          <a:xfrm>
            <a:off x="2862072" y="1737360"/>
            <a:ext cx="2112264" cy="1618488"/>
          </a:xfrm>
          <a:prstGeom prst="rect">
            <a:avLst/>
          </a:prstGeom>
          <a:solidFill>
            <a:srgbClr val="FFFFFF"/>
          </a:solidFill>
          <a:ln w="9525">
            <a:solidFill>
              <a:srgbClr val="C9CFD6"/>
            </a:solidFill>
            <a:prstDash val="solid"/>
          </a:ln>
        </p:spPr>
      </p:sp>
      <p:sp>
        <p:nvSpPr>
          <p:cNvPr id="11" name="Text 9"/>
          <p:cNvSpPr/>
          <p:nvPr/>
        </p:nvSpPr>
        <p:spPr>
          <a:xfrm>
            <a:off x="2953512" y="1792224"/>
            <a:ext cx="1929384"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HOẠT ĐỘNG CHÍNH</a:t>
            </a:r>
            <a:endParaRPr lang="en-US" sz="750" dirty="0"/>
          </a:p>
        </p:txBody>
      </p:sp>
      <p:sp>
        <p:nvSpPr>
          <p:cNvPr id="12" name="Text 10"/>
          <p:cNvSpPr/>
          <p:nvPr/>
        </p:nvSpPr>
        <p:spPr>
          <a:xfrm>
            <a:off x="2953512" y="2011680"/>
            <a:ext cx="1929384" cy="1271016"/>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Onboard corpus golden domain · bảo trì parser &amp; chuẩn hóa VN · bảo mật, eval · đồng hành đội tuân thủ</a:t>
            </a:r>
            <a:endParaRPr lang="en-US" sz="830" dirty="0"/>
          </a:p>
        </p:txBody>
      </p:sp>
      <p:sp>
        <p:nvSpPr>
          <p:cNvPr id="13" name="Shape 11"/>
          <p:cNvSpPr/>
          <p:nvPr/>
        </p:nvSpPr>
        <p:spPr>
          <a:xfrm>
            <a:off x="2862072" y="3410712"/>
            <a:ext cx="2112264" cy="1618488"/>
          </a:xfrm>
          <a:prstGeom prst="rect">
            <a:avLst/>
          </a:prstGeom>
          <a:solidFill>
            <a:srgbClr val="FFFFFF"/>
          </a:solidFill>
          <a:ln w="9525">
            <a:solidFill>
              <a:srgbClr val="C9CFD6"/>
            </a:solidFill>
            <a:prstDash val="solid"/>
          </a:ln>
        </p:spPr>
      </p:sp>
      <p:sp>
        <p:nvSpPr>
          <p:cNvPr id="14" name="Text 12"/>
          <p:cNvSpPr/>
          <p:nvPr/>
        </p:nvSpPr>
        <p:spPr>
          <a:xfrm>
            <a:off x="2953512" y="3465576"/>
            <a:ext cx="1929384"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NGUỒN LỰC CHÍNH</a:t>
            </a:r>
            <a:endParaRPr lang="en-US" sz="750" dirty="0"/>
          </a:p>
        </p:txBody>
      </p:sp>
      <p:sp>
        <p:nvSpPr>
          <p:cNvPr id="15" name="Text 13"/>
          <p:cNvSpPr/>
          <p:nvPr/>
        </p:nvSpPr>
        <p:spPr>
          <a:xfrm>
            <a:off x="2953512" y="3685032"/>
            <a:ext cx="1929384" cy="1271016"/>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Engine đồ thị thời gian + patch tất định (moat) · bộ eval + câu hỏi vàng · crawler SBV · lưới 97 test</a:t>
            </a:r>
            <a:endParaRPr lang="en-US" sz="830" dirty="0"/>
          </a:p>
        </p:txBody>
      </p:sp>
      <p:sp>
        <p:nvSpPr>
          <p:cNvPr id="16" name="Shape 14"/>
          <p:cNvSpPr/>
          <p:nvPr/>
        </p:nvSpPr>
        <p:spPr>
          <a:xfrm>
            <a:off x="5084064" y="1737360"/>
            <a:ext cx="2112264" cy="3291840"/>
          </a:xfrm>
          <a:prstGeom prst="rect">
            <a:avLst/>
          </a:prstGeom>
          <a:solidFill>
            <a:srgbClr val="F5F6F8"/>
          </a:solidFill>
          <a:ln w="9525">
            <a:solidFill>
              <a:srgbClr val="C9CFD6"/>
            </a:solidFill>
            <a:prstDash val="solid"/>
          </a:ln>
        </p:spPr>
      </p:sp>
      <p:sp>
        <p:nvSpPr>
          <p:cNvPr id="17" name="Text 15"/>
          <p:cNvSpPr/>
          <p:nvPr/>
        </p:nvSpPr>
        <p:spPr>
          <a:xfrm>
            <a:off x="5175504" y="1792224"/>
            <a:ext cx="1929384" cy="201168"/>
          </a:xfrm>
          <a:prstGeom prst="rect">
            <a:avLst/>
          </a:prstGeom>
          <a:noFill/>
          <a:ln/>
        </p:spPr>
        <p:txBody>
          <a:bodyPr wrap="square" lIns="0" tIns="0" rIns="0" bIns="0" rtlCol="0" anchor="ctr"/>
          <a:lstStyle/>
          <a:p>
            <a:pPr indent="0" marL="0">
              <a:buNone/>
            </a:pPr>
            <a:r>
              <a:rPr lang="en-US" sz="750" b="1" spc="100" kern="0" dirty="0">
                <a:solidFill>
                  <a:srgbClr val="B31B1B"/>
                </a:solidFill>
                <a:latin typeface="Courier New" pitchFamily="34" charset="0"/>
                <a:ea typeface="Courier New" pitchFamily="34" charset="-122"/>
                <a:cs typeface="Courier New" pitchFamily="34" charset="-120"/>
              </a:rPr>
              <a:t>GIÁ TRỊ CỐT LÕI</a:t>
            </a:r>
            <a:endParaRPr lang="en-US" sz="750" dirty="0"/>
          </a:p>
        </p:txBody>
      </p:sp>
      <p:sp>
        <p:nvSpPr>
          <p:cNvPr id="18" name="Text 16"/>
          <p:cNvSpPr/>
          <p:nvPr/>
        </p:nvSpPr>
        <p:spPr>
          <a:xfrm>
            <a:off x="5175504" y="2011680"/>
            <a:ext cx="1929384" cy="2944368"/>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Câu trả lời tuân thủ đúng thời điểm, kiểm toán được · báo cáo tác động tự động · kiểm tra theo claim · tiết kiệm 2–3 giờ/ngày/cán bộ · bằng chứng sẵn sàng thanh tra</a:t>
            </a:r>
            <a:endParaRPr lang="en-US" sz="830" dirty="0"/>
          </a:p>
        </p:txBody>
      </p:sp>
      <p:sp>
        <p:nvSpPr>
          <p:cNvPr id="19" name="Shape 17"/>
          <p:cNvSpPr/>
          <p:nvPr/>
        </p:nvSpPr>
        <p:spPr>
          <a:xfrm>
            <a:off x="7306056" y="1737360"/>
            <a:ext cx="2112264" cy="1618488"/>
          </a:xfrm>
          <a:prstGeom prst="rect">
            <a:avLst/>
          </a:prstGeom>
          <a:solidFill>
            <a:srgbClr val="FFFFFF"/>
          </a:solidFill>
          <a:ln w="9525">
            <a:solidFill>
              <a:srgbClr val="C9CFD6"/>
            </a:solidFill>
            <a:prstDash val="solid"/>
          </a:ln>
        </p:spPr>
      </p:sp>
      <p:sp>
        <p:nvSpPr>
          <p:cNvPr id="20" name="Text 18"/>
          <p:cNvSpPr/>
          <p:nvPr/>
        </p:nvSpPr>
        <p:spPr>
          <a:xfrm>
            <a:off x="7397496" y="1792224"/>
            <a:ext cx="1929384"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QUAN HỆ KHÁCH HÀNG</a:t>
            </a:r>
            <a:endParaRPr lang="en-US" sz="750" dirty="0"/>
          </a:p>
        </p:txBody>
      </p:sp>
      <p:sp>
        <p:nvSpPr>
          <p:cNvPr id="21" name="Text 19"/>
          <p:cNvSpPr/>
          <p:nvPr/>
        </p:nvSpPr>
        <p:spPr>
          <a:xfrm>
            <a:off x="7397496" y="2011680"/>
            <a:ext cx="1929384" cy="1271016"/>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Pilot 1 golden domain (~6 tuần) · license năm + SLA · mở rộng domain, phòng ban</a:t>
            </a:r>
            <a:endParaRPr lang="en-US" sz="830" dirty="0"/>
          </a:p>
        </p:txBody>
      </p:sp>
      <p:sp>
        <p:nvSpPr>
          <p:cNvPr id="22" name="Shape 20"/>
          <p:cNvSpPr/>
          <p:nvPr/>
        </p:nvSpPr>
        <p:spPr>
          <a:xfrm>
            <a:off x="7306056" y="3410712"/>
            <a:ext cx="2112264" cy="1618488"/>
          </a:xfrm>
          <a:prstGeom prst="rect">
            <a:avLst/>
          </a:prstGeom>
          <a:solidFill>
            <a:srgbClr val="FFFFFF"/>
          </a:solidFill>
          <a:ln w="9525">
            <a:solidFill>
              <a:srgbClr val="C9CFD6"/>
            </a:solidFill>
            <a:prstDash val="solid"/>
          </a:ln>
        </p:spPr>
      </p:sp>
      <p:sp>
        <p:nvSpPr>
          <p:cNvPr id="23" name="Text 21"/>
          <p:cNvSpPr/>
          <p:nvPr/>
        </p:nvSpPr>
        <p:spPr>
          <a:xfrm>
            <a:off x="7397496" y="3465576"/>
            <a:ext cx="1929384"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KÊNH BÁN</a:t>
            </a:r>
            <a:endParaRPr lang="en-US" sz="750" dirty="0"/>
          </a:p>
        </p:txBody>
      </p:sp>
      <p:sp>
        <p:nvSpPr>
          <p:cNvPr id="24" name="Text 22"/>
          <p:cNvSpPr/>
          <p:nvPr/>
        </p:nvSpPr>
        <p:spPr>
          <a:xfrm>
            <a:off x="7397496" y="3685032"/>
            <a:ext cx="1929384" cy="1271016"/>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B2B trực tiếp tới Pháp chế · VNBA · showcase VAIC/SHB · giới thiệu Big-4</a:t>
            </a:r>
            <a:endParaRPr lang="en-US" sz="830" dirty="0"/>
          </a:p>
        </p:txBody>
      </p:sp>
      <p:sp>
        <p:nvSpPr>
          <p:cNvPr id="25" name="Shape 23"/>
          <p:cNvSpPr/>
          <p:nvPr/>
        </p:nvSpPr>
        <p:spPr>
          <a:xfrm>
            <a:off x="9528048" y="1737360"/>
            <a:ext cx="2112264" cy="3291840"/>
          </a:xfrm>
          <a:prstGeom prst="rect">
            <a:avLst/>
          </a:prstGeom>
          <a:solidFill>
            <a:srgbClr val="FFFFFF"/>
          </a:solidFill>
          <a:ln w="9525">
            <a:solidFill>
              <a:srgbClr val="C9CFD6"/>
            </a:solidFill>
            <a:prstDash val="solid"/>
          </a:ln>
        </p:spPr>
      </p:sp>
      <p:sp>
        <p:nvSpPr>
          <p:cNvPr id="26" name="Text 24"/>
          <p:cNvSpPr/>
          <p:nvPr/>
        </p:nvSpPr>
        <p:spPr>
          <a:xfrm>
            <a:off x="9619488" y="1792224"/>
            <a:ext cx="1929384"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PHÂN KHÚC KHÁCH HÀNG</a:t>
            </a:r>
            <a:endParaRPr lang="en-US" sz="750" dirty="0"/>
          </a:p>
        </p:txBody>
      </p:sp>
      <p:sp>
        <p:nvSpPr>
          <p:cNvPr id="27" name="Text 25"/>
          <p:cNvSpPr/>
          <p:nvPr/>
        </p:nvSpPr>
        <p:spPr>
          <a:xfrm>
            <a:off x="9619488" y="2011680"/>
            <a:ext cx="1929384" cy="2944368"/>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TCTD Việt Nam — bắt đầu từ NH TMCP vừa &amp; lớn · tiếp: công ty tài chính · sau: chứng khoán, bảo hiểm, ngành được quản lý khác</a:t>
            </a:r>
            <a:endParaRPr lang="en-US" sz="830" dirty="0"/>
          </a:p>
        </p:txBody>
      </p:sp>
      <p:sp>
        <p:nvSpPr>
          <p:cNvPr id="28" name="Shape 26"/>
          <p:cNvSpPr/>
          <p:nvPr/>
        </p:nvSpPr>
        <p:spPr>
          <a:xfrm>
            <a:off x="640080" y="5084064"/>
            <a:ext cx="5504688" cy="1170432"/>
          </a:xfrm>
          <a:prstGeom prst="rect">
            <a:avLst/>
          </a:prstGeom>
          <a:solidFill>
            <a:srgbClr val="FFFFFF"/>
          </a:solidFill>
          <a:ln w="9525">
            <a:solidFill>
              <a:srgbClr val="C9CFD6"/>
            </a:solidFill>
            <a:prstDash val="solid"/>
          </a:ln>
        </p:spPr>
      </p:sp>
      <p:sp>
        <p:nvSpPr>
          <p:cNvPr id="29" name="Text 27"/>
          <p:cNvSpPr/>
          <p:nvPr/>
        </p:nvSpPr>
        <p:spPr>
          <a:xfrm>
            <a:off x="731520" y="5138928"/>
            <a:ext cx="5321808"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CƠ CẤU CHI PHÍ</a:t>
            </a:r>
            <a:endParaRPr lang="en-US" sz="750" dirty="0"/>
          </a:p>
        </p:txBody>
      </p:sp>
      <p:sp>
        <p:nvSpPr>
          <p:cNvPr id="30" name="Text 28"/>
          <p:cNvSpPr/>
          <p:nvPr/>
        </p:nvSpPr>
        <p:spPr>
          <a:xfrm>
            <a:off x="731520" y="5358384"/>
            <a:ext cx="5321808" cy="822960"/>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Đội kỹ sư · chu kỳ bán enterprise · LLM API (thấp: LLM chỉ trích xuất &amp; giải thích) · hạ tầng, chứng nhận bảo mật</a:t>
            </a:r>
            <a:endParaRPr lang="en-US" sz="830" dirty="0"/>
          </a:p>
        </p:txBody>
      </p:sp>
      <p:sp>
        <p:nvSpPr>
          <p:cNvPr id="31" name="Shape 29"/>
          <p:cNvSpPr/>
          <p:nvPr/>
        </p:nvSpPr>
        <p:spPr>
          <a:xfrm>
            <a:off x="6199632" y="5084064"/>
            <a:ext cx="5440680" cy="1170432"/>
          </a:xfrm>
          <a:prstGeom prst="rect">
            <a:avLst/>
          </a:prstGeom>
          <a:solidFill>
            <a:srgbClr val="FFFFFF"/>
          </a:solidFill>
          <a:ln w="9525">
            <a:solidFill>
              <a:srgbClr val="C9CFD6"/>
            </a:solidFill>
            <a:prstDash val="solid"/>
          </a:ln>
        </p:spPr>
      </p:sp>
      <p:sp>
        <p:nvSpPr>
          <p:cNvPr id="32" name="Text 30"/>
          <p:cNvSpPr/>
          <p:nvPr/>
        </p:nvSpPr>
        <p:spPr>
          <a:xfrm>
            <a:off x="6291072" y="5138928"/>
            <a:ext cx="5257800" cy="201168"/>
          </a:xfrm>
          <a:prstGeom prst="rect">
            <a:avLst/>
          </a:prstGeom>
          <a:noFill/>
          <a:ln/>
        </p:spPr>
        <p:txBody>
          <a:bodyPr wrap="square" lIns="0" tIns="0" rIns="0" bIns="0" rtlCol="0" anchor="ctr"/>
          <a:lstStyle/>
          <a:p>
            <a:pPr indent="0" marL="0">
              <a:buNone/>
            </a:pPr>
            <a:r>
              <a:rPr lang="en-US" sz="750" b="1" spc="100" kern="0" dirty="0">
                <a:solidFill>
                  <a:srgbClr val="5F6B76"/>
                </a:solidFill>
                <a:latin typeface="Courier New" pitchFamily="34" charset="0"/>
                <a:ea typeface="Courier New" pitchFamily="34" charset="-122"/>
                <a:cs typeface="Courier New" pitchFamily="34" charset="-120"/>
              </a:rPr>
              <a:t>DÒNG DOANH THU</a:t>
            </a:r>
            <a:endParaRPr lang="en-US" sz="750" dirty="0"/>
          </a:p>
        </p:txBody>
      </p:sp>
      <p:sp>
        <p:nvSpPr>
          <p:cNvPr id="33" name="Text 31"/>
          <p:cNvSpPr/>
          <p:nvPr/>
        </p:nvSpPr>
        <p:spPr>
          <a:xfrm>
            <a:off x="6291072" y="5358384"/>
            <a:ext cx="5257800" cy="822960"/>
          </a:xfrm>
          <a:prstGeom prst="rect">
            <a:avLst/>
          </a:prstGeom>
          <a:noFill/>
          <a:ln/>
        </p:spPr>
        <p:txBody>
          <a:bodyPr wrap="square" lIns="0" tIns="0" rIns="0" bIns="0" rtlCol="0" anchor="t"/>
          <a:lstStyle/>
          <a:p>
            <a:pPr indent="0" marL="0">
              <a:lnSpc>
                <a:spcPct val="108000"/>
              </a:lnSpc>
              <a:buNone/>
            </a:pPr>
            <a:r>
              <a:rPr lang="en-US" sz="830" dirty="0">
                <a:solidFill>
                  <a:srgbClr val="111418"/>
                </a:solidFill>
                <a:latin typeface="Cambria" pitchFamily="34" charset="0"/>
                <a:ea typeface="Cambria" pitchFamily="34" charset="-122"/>
                <a:cs typeface="Cambria" pitchFamily="34" charset="-120"/>
              </a:rPr>
              <a:t>License năm theo tổ chức (0,5–2 tỷ VND) · phí triển khai &amp; onboarding · gói kiểm tra tài liệu theo lượng dùng</a:t>
            </a:r>
            <a:endParaRPr lang="en-US" sz="830" dirty="0"/>
          </a:p>
        </p:txBody>
      </p:sp>
      <p:sp>
        <p:nvSpPr>
          <p:cNvPr id="34" name="Shape 32"/>
          <p:cNvSpPr/>
          <p:nvPr/>
        </p:nvSpPr>
        <p:spPr>
          <a:xfrm>
            <a:off x="640080" y="6455664"/>
            <a:ext cx="10908792" cy="0"/>
          </a:xfrm>
          <a:prstGeom prst="line">
            <a:avLst/>
          </a:prstGeom>
          <a:noFill/>
          <a:ln w="6350">
            <a:solidFill>
              <a:srgbClr val="C9CFD6"/>
            </a:solidFill>
            <a:prstDash val="solid"/>
          </a:ln>
        </p:spPr>
      </p:sp>
      <p:sp>
        <p:nvSpPr>
          <p:cNvPr id="35" name="Text 33"/>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36" name="Text 34"/>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4.3 · BIG IMPACT</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Một ngân hàng cỡ vừa lấy lại ≈19.000 giờ chuyên gia mỗi năm.</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Text 4"/>
          <p:cNvSpPr/>
          <p:nvPr/>
        </p:nvSpPr>
        <p:spPr>
          <a:xfrm>
            <a:off x="640080" y="1691640"/>
            <a:ext cx="5303520" cy="1371600"/>
          </a:xfrm>
          <a:prstGeom prst="rect">
            <a:avLst/>
          </a:prstGeom>
          <a:noFill/>
          <a:ln/>
        </p:spPr>
        <p:txBody>
          <a:bodyPr wrap="square" lIns="0" tIns="0" rIns="0" bIns="0" rtlCol="0" anchor="ctr"/>
          <a:lstStyle/>
          <a:p>
            <a:pPr indent="0" marL="0">
              <a:buNone/>
            </a:pPr>
            <a:r>
              <a:rPr lang="en-US" sz="8400" b="1" dirty="0">
                <a:solidFill>
                  <a:srgbClr val="B31B1B"/>
                </a:solidFill>
                <a:latin typeface="Cambria" pitchFamily="34" charset="0"/>
                <a:ea typeface="Cambria" pitchFamily="34" charset="-122"/>
                <a:cs typeface="Cambria" pitchFamily="34" charset="-120"/>
              </a:rPr>
              <a:t>≈19.000</a:t>
            </a:r>
            <a:endParaRPr lang="en-US" sz="8400" dirty="0"/>
          </a:p>
        </p:txBody>
      </p:sp>
      <p:sp>
        <p:nvSpPr>
          <p:cNvPr id="7" name="Text 5"/>
          <p:cNvSpPr/>
          <p:nvPr/>
        </p:nvSpPr>
        <p:spPr>
          <a:xfrm>
            <a:off x="640080" y="3063240"/>
            <a:ext cx="5303520" cy="237744"/>
          </a:xfrm>
          <a:prstGeom prst="rect">
            <a:avLst/>
          </a:prstGeom>
          <a:noFill/>
          <a:ln/>
        </p:spPr>
        <p:txBody>
          <a:bodyPr wrap="square" lIns="0" tIns="0" rIns="0" bIns="0" rtlCol="0" anchor="ctr"/>
          <a:lstStyle/>
          <a:p>
            <a:pPr indent="0" marL="0">
              <a:buNone/>
            </a:pPr>
            <a:r>
              <a:rPr lang="en-US" sz="950" b="1" spc="200" kern="0" dirty="0">
                <a:solidFill>
                  <a:srgbClr val="5F6B76"/>
                </a:solidFill>
                <a:latin typeface="Courier New" pitchFamily="34" charset="0"/>
                <a:ea typeface="Courier New" pitchFamily="34" charset="-122"/>
                <a:cs typeface="Courier New" pitchFamily="34" charset="-120"/>
              </a:rPr>
              <a:t>GIỜ CHUYÊN GIA / NĂM / NGÂN HÀNG</a:t>
            </a:r>
            <a:endParaRPr lang="en-US" sz="950" dirty="0"/>
          </a:p>
        </p:txBody>
      </p:sp>
      <p:sp>
        <p:nvSpPr>
          <p:cNvPr id="8" name="Text 6"/>
          <p:cNvSpPr/>
          <p:nvPr/>
        </p:nvSpPr>
        <p:spPr>
          <a:xfrm>
            <a:off x="640080" y="3401568"/>
            <a:ext cx="5303520" cy="640080"/>
          </a:xfrm>
          <a:prstGeom prst="rect">
            <a:avLst/>
          </a:prstGeom>
          <a:noFill/>
          <a:ln/>
        </p:spPr>
        <p:txBody>
          <a:bodyPr wrap="square" lIns="0" tIns="0" rIns="0" bIns="0" rtlCol="0" anchor="t"/>
          <a:lstStyle/>
          <a:p>
            <a:pPr indent="0" marL="0">
              <a:lnSpc>
                <a:spcPct val="125000"/>
              </a:lnSpc>
              <a:buNone/>
            </a:pPr>
            <a:r>
              <a:rPr lang="en-US" sz="950" dirty="0">
                <a:solidFill>
                  <a:srgbClr val="111418"/>
                </a:solidFill>
                <a:latin typeface="Courier New" pitchFamily="34" charset="0"/>
                <a:ea typeface="Courier New" pitchFamily="34" charset="-122"/>
                <a:cs typeface="Courier New" pitchFamily="34" charset="-120"/>
              </a:rPr>
              <a:t>30 cán bộ × 2,5 giờ/ngày × 252 ngày làm việc ≈ 18.900 giờ</a:t>
            </a:r>
            <a:endParaRPr lang="en-US" sz="950" dirty="0"/>
          </a:p>
          <a:p>
            <a:pPr indent="0" marL="0">
              <a:lnSpc>
                <a:spcPct val="125000"/>
              </a:lnSpc>
              <a:buNone/>
            </a:pPr>
            <a:r>
              <a:rPr lang="en-US" sz="950" dirty="0">
                <a:solidFill>
                  <a:srgbClr val="111418"/>
                </a:solidFill>
                <a:latin typeface="Courier New" pitchFamily="34" charset="0"/>
                <a:ea typeface="Courier New" pitchFamily="34" charset="-122"/>
                <a:cs typeface="Courier New" pitchFamily="34" charset="-120"/>
              </a:rPr>
              <a:t>≈ 2,8 tỷ VND/năm giá trị thời gian chuyên gia [2]</a:t>
            </a:r>
            <a:endParaRPr lang="en-US" sz="950" dirty="0"/>
          </a:p>
        </p:txBody>
      </p:sp>
      <p:sp>
        <p:nvSpPr>
          <p:cNvPr id="9" name="Text 7"/>
          <p:cNvSpPr/>
          <p:nvPr/>
        </p:nvSpPr>
        <p:spPr>
          <a:xfrm>
            <a:off x="640080" y="4160520"/>
            <a:ext cx="5120640" cy="685800"/>
          </a:xfrm>
          <a:prstGeom prst="rect">
            <a:avLst/>
          </a:prstGeom>
          <a:noFill/>
          <a:ln/>
        </p:spPr>
        <p:txBody>
          <a:bodyPr wrap="square" lIns="0" tIns="0" rIns="0" bIns="0" rtlCol="0" anchor="t"/>
          <a:lstStyle/>
          <a:p>
            <a:pPr indent="0" marL="0">
              <a:lnSpc>
                <a:spcPct val="115000"/>
              </a:lnSpc>
              <a:buNone/>
            </a:pPr>
            <a:r>
              <a:rPr lang="en-US" sz="1100" i="1" dirty="0">
                <a:solidFill>
                  <a:srgbClr val="5F6B76"/>
                </a:solidFill>
                <a:latin typeface="Cambria" pitchFamily="34" charset="0"/>
                <a:ea typeface="Cambria" pitchFamily="34" charset="-122"/>
                <a:cs typeface="Cambria" pitchFamily="34" charset="-120"/>
              </a:rPr>
              <a:t>chuyển từ đối chiếu thủ công sang phán đoán — chưa tính một khoản phạt hay một phát hiện thanh tra nào tránh được.</a:t>
            </a:r>
            <a:endParaRPr lang="en-US" sz="1100" dirty="0"/>
          </a:p>
        </p:txBody>
      </p:sp>
      <p:sp>
        <p:nvSpPr>
          <p:cNvPr id="10" name="Shape 8"/>
          <p:cNvSpPr/>
          <p:nvPr/>
        </p:nvSpPr>
        <p:spPr>
          <a:xfrm>
            <a:off x="6309360" y="1600200"/>
            <a:ext cx="5239512" cy="0"/>
          </a:xfrm>
          <a:prstGeom prst="line">
            <a:avLst/>
          </a:prstGeom>
          <a:noFill/>
          <a:ln w="19050">
            <a:solidFill>
              <a:srgbClr val="111418"/>
            </a:solidFill>
            <a:prstDash val="solid"/>
          </a:ln>
        </p:spPr>
      </p:sp>
      <p:sp>
        <p:nvSpPr>
          <p:cNvPr id="11" name="Text 9"/>
          <p:cNvSpPr/>
          <p:nvPr/>
        </p:nvSpPr>
        <p:spPr>
          <a:xfrm>
            <a:off x="6309360" y="1737360"/>
            <a:ext cx="5239512"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AN TOÀN HỆ THỐNG TÀI CHÍNH</a:t>
            </a:r>
            <a:endParaRPr lang="en-US" sz="850" dirty="0"/>
          </a:p>
        </p:txBody>
      </p:sp>
      <p:sp>
        <p:nvSpPr>
          <p:cNvPr id="12" name="Text 10"/>
          <p:cNvSpPr/>
          <p:nvPr/>
        </p:nvSpPr>
        <p:spPr>
          <a:xfrm>
            <a:off x="6309360" y="1984248"/>
            <a:ext cx="5239512" cy="1051560"/>
          </a:xfrm>
          <a:prstGeom prst="rect">
            <a:avLst/>
          </a:prstGeom>
          <a:noFill/>
          <a:ln/>
        </p:spPr>
        <p:txBody>
          <a:bodyPr wrap="square" lIns="0" tIns="0" rIns="0" bIns="0" rtlCol="0" anchor="t"/>
          <a:lstStyle/>
          <a:p>
            <a:pPr algn="just" indent="0" marL="0">
              <a:lnSpc>
                <a:spcPct val="113000"/>
              </a:lnSpc>
              <a:buNone/>
            </a:pPr>
            <a:r>
              <a:rPr lang="en-US" sz="980" dirty="0">
                <a:solidFill>
                  <a:srgbClr val="111418"/>
                </a:solidFill>
                <a:latin typeface="Cambria" pitchFamily="34" charset="0"/>
                <a:ea typeface="Cambria" pitchFamily="34" charset="-122"/>
                <a:cs typeface="Cambria" pitchFamily="34" charset="-120"/>
              </a:rPr>
              <a:t>Đánh trúng gốc rễ SHB nêu: quyết định dựa trên quy định lỗi thời. Ít vi phạm, ít án phạt; thanh tra thuận lợi hơn. Lỗi tuân thủ ở ngân hàng lan ra cả nền kinh tế — phòng ngừa là tác động hệ thống.</a:t>
            </a:r>
            <a:endParaRPr lang="en-US" sz="980" dirty="0"/>
          </a:p>
        </p:txBody>
      </p:sp>
      <p:sp>
        <p:nvSpPr>
          <p:cNvPr id="13" name="Shape 11"/>
          <p:cNvSpPr/>
          <p:nvPr/>
        </p:nvSpPr>
        <p:spPr>
          <a:xfrm>
            <a:off x="6309360" y="3081528"/>
            <a:ext cx="5239512" cy="0"/>
          </a:xfrm>
          <a:prstGeom prst="line">
            <a:avLst/>
          </a:prstGeom>
          <a:noFill/>
          <a:ln w="6350">
            <a:solidFill>
              <a:srgbClr val="C9CFD6"/>
            </a:solidFill>
            <a:prstDash val="solid"/>
          </a:ln>
        </p:spPr>
      </p:sp>
      <p:sp>
        <p:nvSpPr>
          <p:cNvPr id="14" name="Text 12"/>
          <p:cNvSpPr/>
          <p:nvPr/>
        </p:nvSpPr>
        <p:spPr>
          <a:xfrm>
            <a:off x="6309360" y="3218688"/>
            <a:ext cx="5239512"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KHUÔN MẪU AI CÓ TRÁCH NHIỆM</a:t>
            </a:r>
            <a:endParaRPr lang="en-US" sz="850" dirty="0"/>
          </a:p>
        </p:txBody>
      </p:sp>
      <p:sp>
        <p:nvSpPr>
          <p:cNvPr id="15" name="Text 13"/>
          <p:cNvSpPr/>
          <p:nvPr/>
        </p:nvSpPr>
        <p:spPr>
          <a:xfrm>
            <a:off x="6309360" y="3465576"/>
            <a:ext cx="5239512" cy="1051560"/>
          </a:xfrm>
          <a:prstGeom prst="rect">
            <a:avLst/>
          </a:prstGeom>
          <a:noFill/>
          <a:ln/>
        </p:spPr>
        <p:txBody>
          <a:bodyPr wrap="square" lIns="0" tIns="0" rIns="0" bIns="0" rtlCol="0" anchor="t"/>
          <a:lstStyle/>
          <a:p>
            <a:pPr algn="just" indent="0" marL="0">
              <a:lnSpc>
                <a:spcPct val="113000"/>
              </a:lnSpc>
              <a:buNone/>
            </a:pPr>
            <a:r>
              <a:rPr lang="en-US" sz="980" dirty="0">
                <a:solidFill>
                  <a:srgbClr val="111418"/>
                </a:solidFill>
                <a:latin typeface="Cambria" pitchFamily="34" charset="0"/>
                <a:ea typeface="Cambria" pitchFamily="34" charset="-122"/>
                <a:cs typeface="Cambria" pitchFamily="34" charset="-120"/>
              </a:rPr>
              <a:t>“AI đề xuất, con người quyết định” + vết kiểm toán là mô hình tái dùng cho AI ở lĩnh vực rủi ro cao (thuế, hải quan, y tế) — thuận chương trình chuyển đổi số quốc gia. Thiếu bằng chứng thì từ chối, không đoán.</a:t>
            </a:r>
            <a:endParaRPr lang="en-US" sz="980" dirty="0"/>
          </a:p>
        </p:txBody>
      </p:sp>
      <p:sp>
        <p:nvSpPr>
          <p:cNvPr id="16" name="Shape 14"/>
          <p:cNvSpPr/>
          <p:nvPr/>
        </p:nvSpPr>
        <p:spPr>
          <a:xfrm>
            <a:off x="6309360" y="4562856"/>
            <a:ext cx="5239512" cy="0"/>
          </a:xfrm>
          <a:prstGeom prst="line">
            <a:avLst/>
          </a:prstGeom>
          <a:noFill/>
          <a:ln w="6350">
            <a:solidFill>
              <a:srgbClr val="C9CFD6"/>
            </a:solidFill>
            <a:prstDash val="solid"/>
          </a:ln>
        </p:spPr>
      </p:sp>
      <p:sp>
        <p:nvSpPr>
          <p:cNvPr id="17" name="Text 15"/>
          <p:cNvSpPr/>
          <p:nvPr/>
        </p:nvSpPr>
        <p:spPr>
          <a:xfrm>
            <a:off x="6309360" y="4700016"/>
            <a:ext cx="5239512"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BỀN VỮNG TRI THỨC &amp; ESG</a:t>
            </a:r>
            <a:endParaRPr lang="en-US" sz="850" dirty="0"/>
          </a:p>
        </p:txBody>
      </p:sp>
      <p:sp>
        <p:nvSpPr>
          <p:cNvPr id="18" name="Text 16"/>
          <p:cNvSpPr/>
          <p:nvPr/>
        </p:nvSpPr>
        <p:spPr>
          <a:xfrm>
            <a:off x="6309360" y="4946904"/>
            <a:ext cx="5239512" cy="1051560"/>
          </a:xfrm>
          <a:prstGeom prst="rect">
            <a:avLst/>
          </a:prstGeom>
          <a:noFill/>
          <a:ln/>
        </p:spPr>
        <p:txBody>
          <a:bodyPr wrap="square" lIns="0" tIns="0" rIns="0" bIns="0" rtlCol="0" anchor="t"/>
          <a:lstStyle/>
          <a:p>
            <a:pPr algn="just" indent="0" marL="0">
              <a:lnSpc>
                <a:spcPct val="113000"/>
              </a:lnSpc>
              <a:buNone/>
            </a:pPr>
            <a:r>
              <a:rPr lang="en-US" sz="980" dirty="0">
                <a:solidFill>
                  <a:srgbClr val="111418"/>
                </a:solidFill>
                <a:latin typeface="Cambria" pitchFamily="34" charset="0"/>
                <a:ea typeface="Cambria" pitchFamily="34" charset="-122"/>
                <a:cs typeface="Cambria" pitchFamily="34" charset="-120"/>
              </a:rPr>
              <a:t>Tri thức pháp lý không còn nằm trong đầu cán bộ kỳ cựu: phiên bản, thay đổi, lý do đều được lưu. Onboarding nhanh, chống rủi ro nghỉ việc; vết quyết định củng cố chữ “G” trong ESG.</a:t>
            </a:r>
            <a:endParaRPr lang="en-US" sz="980" dirty="0"/>
          </a:p>
        </p:txBody>
      </p:sp>
      <p:sp>
        <p:nvSpPr>
          <p:cNvPr id="19" name="Text 17"/>
          <p:cNvSpPr/>
          <p:nvPr/>
        </p:nvSpPr>
        <p:spPr>
          <a:xfrm>
            <a:off x="640080" y="6035040"/>
            <a:ext cx="10908792" cy="320040"/>
          </a:xfrm>
          <a:prstGeom prst="rect">
            <a:avLst/>
          </a:prstGeom>
          <a:noFill/>
          <a:ln/>
        </p:spPr>
        <p:txBody>
          <a:bodyPr wrap="square" lIns="0" tIns="0" rIns="0" bIns="0" rtlCol="0" anchor="t"/>
          <a:lstStyle/>
          <a:p>
            <a:pPr indent="0" marL="0">
              <a:buNone/>
            </a:pPr>
            <a:r>
              <a:rPr lang="en-US" sz="750" dirty="0">
                <a:solidFill>
                  <a:srgbClr val="5F6B76"/>
                </a:solidFill>
                <a:latin typeface="Courier New" pitchFamily="34" charset="0"/>
                <a:ea typeface="Courier New" pitchFamily="34" charset="-122"/>
                <a:cs typeface="Courier New" pitchFamily="34" charset="-120"/>
              </a:rPr>
              <a:t>[2] Giả định: 2,5 giờ/ngày theo ước tính SHB (2–3 giờ); 150.000 VND/giờ chuyên gia; 30 cán bộ/ngân hàng cỡ vừa.</a:t>
            </a:r>
            <a:endParaRPr lang="en-US" sz="750" dirty="0"/>
          </a:p>
        </p:txBody>
      </p:sp>
      <p:sp>
        <p:nvSpPr>
          <p:cNvPr id="20" name="Shape 18"/>
          <p:cNvSpPr/>
          <p:nvPr/>
        </p:nvSpPr>
        <p:spPr>
          <a:xfrm>
            <a:off x="640080" y="6455664"/>
            <a:ext cx="10908792" cy="0"/>
          </a:xfrm>
          <a:prstGeom prst="line">
            <a:avLst/>
          </a:prstGeom>
          <a:noFill/>
          <a:ln w="6350">
            <a:solidFill>
              <a:srgbClr val="C9CFD6"/>
            </a:solidFill>
            <a:prstDash val="solid"/>
          </a:ln>
        </p:spPr>
      </p:sp>
      <p:sp>
        <p:nvSpPr>
          <p:cNvPr id="21" name="Text 19"/>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22" name="Text 20"/>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4.4 · MARKET SIZE</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Từ 22,3 tỷ USD toàn cầu đến 15 tỷ VND ARR khả thi trong 3 năm.</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Shape 4"/>
          <p:cNvSpPr/>
          <p:nvPr/>
        </p:nvSpPr>
        <p:spPr>
          <a:xfrm>
            <a:off x="594360" y="2103120"/>
            <a:ext cx="3566160" cy="3566160"/>
          </a:xfrm>
          <a:prstGeom prst="ellipse">
            <a:avLst/>
          </a:prstGeom>
          <a:solidFill>
            <a:srgbClr val="FFFFFF"/>
          </a:solidFill>
          <a:ln w="12700">
            <a:solidFill>
              <a:srgbClr val="C9CFD6"/>
            </a:solidFill>
            <a:prstDash val="solid"/>
          </a:ln>
        </p:spPr>
      </p:sp>
      <p:sp>
        <p:nvSpPr>
          <p:cNvPr id="7" name="Shape 5"/>
          <p:cNvSpPr/>
          <p:nvPr/>
        </p:nvSpPr>
        <p:spPr>
          <a:xfrm>
            <a:off x="1074420" y="3063240"/>
            <a:ext cx="2606040" cy="2606040"/>
          </a:xfrm>
          <a:prstGeom prst="ellipse">
            <a:avLst/>
          </a:prstGeom>
          <a:solidFill>
            <a:srgbClr val="FFFFFF"/>
          </a:solidFill>
          <a:ln w="12700">
            <a:solidFill>
              <a:srgbClr val="9AA3AE"/>
            </a:solidFill>
            <a:prstDash val="solid"/>
          </a:ln>
        </p:spPr>
      </p:sp>
      <p:sp>
        <p:nvSpPr>
          <p:cNvPr id="8" name="Shape 6"/>
          <p:cNvSpPr/>
          <p:nvPr/>
        </p:nvSpPr>
        <p:spPr>
          <a:xfrm>
            <a:off x="1531620" y="3977640"/>
            <a:ext cx="1691640" cy="1691640"/>
          </a:xfrm>
          <a:prstGeom prst="ellipse">
            <a:avLst/>
          </a:prstGeom>
          <a:solidFill>
            <a:srgbClr val="FFFFFF"/>
          </a:solidFill>
          <a:ln w="12700">
            <a:solidFill>
              <a:srgbClr val="5F6B76"/>
            </a:solidFill>
            <a:prstDash val="solid"/>
          </a:ln>
        </p:spPr>
      </p:sp>
      <p:sp>
        <p:nvSpPr>
          <p:cNvPr id="9" name="Shape 7"/>
          <p:cNvSpPr/>
          <p:nvPr/>
        </p:nvSpPr>
        <p:spPr>
          <a:xfrm>
            <a:off x="1920240" y="4754880"/>
            <a:ext cx="914400" cy="914400"/>
          </a:xfrm>
          <a:prstGeom prst="ellipse">
            <a:avLst/>
          </a:prstGeom>
          <a:solidFill>
            <a:srgbClr val="B31B1B"/>
          </a:solidFill>
          <a:ln/>
        </p:spPr>
      </p:sp>
      <p:sp>
        <p:nvSpPr>
          <p:cNvPr id="10" name="Text 8"/>
          <p:cNvSpPr/>
          <p:nvPr/>
        </p:nvSpPr>
        <p:spPr>
          <a:xfrm>
            <a:off x="1463040" y="2176272"/>
            <a:ext cx="1828800" cy="219456"/>
          </a:xfrm>
          <a:prstGeom prst="rect">
            <a:avLst/>
          </a:prstGeom>
          <a:noFill/>
          <a:ln/>
        </p:spPr>
        <p:txBody>
          <a:bodyPr wrap="square" lIns="0" tIns="0" rIns="0" bIns="0" rtlCol="0" anchor="ctr"/>
          <a:lstStyle/>
          <a:p>
            <a:pPr algn="ctr" indent="0" marL="0">
              <a:buNone/>
            </a:pPr>
            <a:r>
              <a:rPr lang="en-US" sz="850" b="1" dirty="0">
                <a:solidFill>
                  <a:srgbClr val="5F6B76"/>
                </a:solidFill>
                <a:latin typeface="Courier New" pitchFamily="34" charset="0"/>
                <a:ea typeface="Courier New" pitchFamily="34" charset="-122"/>
                <a:cs typeface="Courier New" pitchFamily="34" charset="-120"/>
              </a:rPr>
              <a:t>PAM</a:t>
            </a:r>
            <a:endParaRPr lang="en-US" sz="850" dirty="0"/>
          </a:p>
        </p:txBody>
      </p:sp>
      <p:sp>
        <p:nvSpPr>
          <p:cNvPr id="11" name="Text 9"/>
          <p:cNvSpPr/>
          <p:nvPr/>
        </p:nvSpPr>
        <p:spPr>
          <a:xfrm>
            <a:off x="1463040" y="3136392"/>
            <a:ext cx="1828800" cy="219456"/>
          </a:xfrm>
          <a:prstGeom prst="rect">
            <a:avLst/>
          </a:prstGeom>
          <a:noFill/>
          <a:ln/>
        </p:spPr>
        <p:txBody>
          <a:bodyPr wrap="square" lIns="0" tIns="0" rIns="0" bIns="0" rtlCol="0" anchor="ctr"/>
          <a:lstStyle/>
          <a:p>
            <a:pPr algn="ctr" indent="0" marL="0">
              <a:buNone/>
            </a:pPr>
            <a:r>
              <a:rPr lang="en-US" sz="850" b="1" dirty="0">
                <a:solidFill>
                  <a:srgbClr val="5F6B76"/>
                </a:solidFill>
                <a:latin typeface="Courier New" pitchFamily="34" charset="0"/>
                <a:ea typeface="Courier New" pitchFamily="34" charset="-122"/>
                <a:cs typeface="Courier New" pitchFamily="34" charset="-120"/>
              </a:rPr>
              <a:t>TAM</a:t>
            </a:r>
            <a:endParaRPr lang="en-US" sz="850" dirty="0"/>
          </a:p>
        </p:txBody>
      </p:sp>
      <p:sp>
        <p:nvSpPr>
          <p:cNvPr id="12" name="Text 10"/>
          <p:cNvSpPr/>
          <p:nvPr/>
        </p:nvSpPr>
        <p:spPr>
          <a:xfrm>
            <a:off x="1463040" y="4032504"/>
            <a:ext cx="1828800" cy="219456"/>
          </a:xfrm>
          <a:prstGeom prst="rect">
            <a:avLst/>
          </a:prstGeom>
          <a:noFill/>
          <a:ln/>
        </p:spPr>
        <p:txBody>
          <a:bodyPr wrap="square" lIns="0" tIns="0" rIns="0" bIns="0" rtlCol="0" anchor="ctr"/>
          <a:lstStyle/>
          <a:p>
            <a:pPr algn="ctr" indent="0" marL="0">
              <a:buNone/>
            </a:pPr>
            <a:r>
              <a:rPr lang="en-US" sz="850" b="1" dirty="0">
                <a:solidFill>
                  <a:srgbClr val="111418"/>
                </a:solidFill>
                <a:latin typeface="Courier New" pitchFamily="34" charset="0"/>
                <a:ea typeface="Courier New" pitchFamily="34" charset="-122"/>
                <a:cs typeface="Courier New" pitchFamily="34" charset="-120"/>
              </a:rPr>
              <a:t>SAM</a:t>
            </a:r>
            <a:endParaRPr lang="en-US" sz="850" dirty="0"/>
          </a:p>
        </p:txBody>
      </p:sp>
      <p:sp>
        <p:nvSpPr>
          <p:cNvPr id="13" name="Text 11"/>
          <p:cNvSpPr/>
          <p:nvPr/>
        </p:nvSpPr>
        <p:spPr>
          <a:xfrm>
            <a:off x="1920240" y="5047488"/>
            <a:ext cx="91440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SOM</a:t>
            </a:r>
            <a:endParaRPr lang="en-US" sz="850" dirty="0"/>
          </a:p>
        </p:txBody>
      </p:sp>
      <p:sp>
        <p:nvSpPr>
          <p:cNvPr id="14" name="Shape 12"/>
          <p:cNvSpPr/>
          <p:nvPr/>
        </p:nvSpPr>
        <p:spPr>
          <a:xfrm>
            <a:off x="640080" y="5870448"/>
            <a:ext cx="3749040" cy="0"/>
          </a:xfrm>
          <a:prstGeom prst="line">
            <a:avLst/>
          </a:prstGeom>
          <a:noFill/>
          <a:ln w="6350">
            <a:solidFill>
              <a:srgbClr val="C9CFD6"/>
            </a:solidFill>
            <a:prstDash val="solid"/>
          </a:ln>
        </p:spPr>
      </p:sp>
      <p:sp>
        <p:nvSpPr>
          <p:cNvPr id="15" name="Text 13"/>
          <p:cNvSpPr/>
          <p:nvPr/>
        </p:nvSpPr>
        <p:spPr>
          <a:xfrm>
            <a:off x="640080" y="5916168"/>
            <a:ext cx="3749040" cy="457200"/>
          </a:xfrm>
          <a:prstGeom prst="rect">
            <a:avLst/>
          </a:prstGeom>
          <a:noFill/>
          <a:ln/>
        </p:spPr>
        <p:txBody>
          <a:bodyPr wrap="square" lIns="0" tIns="0" rIns="0" bIns="0" rtlCol="0" anchor="t"/>
          <a:lstStyle/>
          <a:p>
            <a:pPr indent="0" marL="0">
              <a:lnSpc>
                <a:spcPct val="105000"/>
              </a:lnSpc>
              <a:buNone/>
            </a:pPr>
            <a:r>
              <a:rPr lang="en-US" sz="900" i="1" dirty="0">
                <a:solidFill>
                  <a:srgbClr val="5F6B76"/>
                </a:solidFill>
                <a:latin typeface="Cambria" pitchFamily="34" charset="0"/>
                <a:ea typeface="Cambria" pitchFamily="34" charset="-122"/>
                <a:cs typeface="Cambria" pitchFamily="34" charset="-120"/>
              </a:rPr>
              <a:t>Hình 5 — Bốn tầng thị trường.</a:t>
            </a:r>
            <a:endParaRPr lang="en-US" sz="900" dirty="0"/>
          </a:p>
        </p:txBody>
      </p:sp>
      <p:sp>
        <p:nvSpPr>
          <p:cNvPr id="16" name="Text 14"/>
          <p:cNvSpPr/>
          <p:nvPr/>
        </p:nvSpPr>
        <p:spPr>
          <a:xfrm>
            <a:off x="4754880" y="1481328"/>
            <a:ext cx="6793992" cy="237744"/>
          </a:xfrm>
          <a:prstGeom prst="rect">
            <a:avLst/>
          </a:prstGeom>
          <a:noFill/>
          <a:ln/>
        </p:spPr>
        <p:txBody>
          <a:bodyPr wrap="square" lIns="0" tIns="0" rIns="0" bIns="0" rtlCol="0" anchor="ctr"/>
          <a:lstStyle/>
          <a:p>
            <a:pPr indent="0" marL="0">
              <a:buNone/>
            </a:pPr>
            <a:r>
              <a:rPr lang="en-US" sz="900" i="1" dirty="0">
                <a:solidFill>
                  <a:srgbClr val="5F6B76"/>
                </a:solidFill>
                <a:latin typeface="Cambria" pitchFamily="34" charset="0"/>
                <a:ea typeface="Cambria" pitchFamily="34" charset="-122"/>
                <a:cs typeface="Cambria" pitchFamily="34" charset="-120"/>
              </a:rPr>
              <a:t>Bảng 4 — Ước lượng thị trường (công thức hiển thị đầy đủ).</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54880" y="1783080"/>
          <a:ext cx="6793992" cy="914400"/>
        </p:xfrm>
        <a:graphic>
          <a:graphicData uri="http://schemas.openxmlformats.org/drawingml/2006/table">
            <a:tbl>
              <a:tblPr/>
              <a:tblGrid>
                <a:gridCol w="685800"/>
                <a:gridCol w="2011680"/>
                <a:gridCol w="2724912"/>
                <a:gridCol w="1371600"/>
              </a:tblGrid>
              <a:tr h="566928">
                <a:tc>
                  <a:txBody>
                    <a:bodyPr/>
                    <a:lstStyle/>
                    <a:p>
                      <a:pPr algn="l" indent="0" marL="0">
                        <a:buNone/>
                      </a:pPr>
                      <a:r>
                        <a:rPr lang="en-US" sz="880" b="1" dirty="0">
                          <a:solidFill>
                            <a:srgbClr val="111418"/>
                          </a:solidFill>
                          <a:latin typeface="Cambria" pitchFamily="34" charset="0"/>
                          <a:ea typeface="Cambria" pitchFamily="34" charset="-122"/>
                          <a:cs typeface="Cambria" pitchFamily="34" charset="-120"/>
                        </a:rPr>
                        <a:t>Tầng</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880" b="1" dirty="0">
                          <a:solidFill>
                            <a:srgbClr val="111418"/>
                          </a:solidFill>
                          <a:latin typeface="Cambria" pitchFamily="34" charset="0"/>
                          <a:ea typeface="Cambria" pitchFamily="34" charset="-122"/>
                          <a:cs typeface="Cambria" pitchFamily="34" charset="-120"/>
                        </a:rPr>
                        <a:t>Phạm vi</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880" b="1" dirty="0">
                          <a:solidFill>
                            <a:srgbClr val="111418"/>
                          </a:solidFill>
                          <a:latin typeface="Cambria" pitchFamily="34" charset="0"/>
                          <a:ea typeface="Cambria" pitchFamily="34" charset="-122"/>
                          <a:cs typeface="Cambria" pitchFamily="34" charset="-120"/>
                        </a:rPr>
                        <a:t>Công thức</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880" b="1" dirty="0">
                          <a:solidFill>
                            <a:srgbClr val="111418"/>
                          </a:solidFill>
                          <a:latin typeface="Cambria" pitchFamily="34" charset="0"/>
                          <a:ea typeface="Cambria" pitchFamily="34" charset="-122"/>
                          <a:cs typeface="Cambria" pitchFamily="34" charset="-120"/>
                        </a:rPr>
                        <a:t>Giá trị/năm</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19050" cap="flat" cmpd="sng" algn="ctr">
                      <a:solidFill>
                        <a:srgbClr val="111418"/>
                      </a:solidFill>
                      <a:prstDash val="solid"/>
                      <a:round/>
                      <a:headEnd type="none" w="med" len="med"/>
                      <a:tailEnd type="none" w="med" len="med"/>
                    </a:lnT>
                    <a:lnB w="9525" cap="flat" cmpd="sng" algn="ctr">
                      <a:solidFill>
                        <a:srgbClr val="111418"/>
                      </a:solidFill>
                      <a:prstDash val="solid"/>
                      <a:round/>
                      <a:headEnd type="none" w="med" len="med"/>
                      <a:tailEnd type="none" w="med" len="med"/>
                    </a:lnB>
                    <a:solidFill>
                      <a:srgbClr val="FFFFFF"/>
                    </a:solidFill>
                  </a:tcPr>
                </a:tc>
              </a:tr>
              <a:tr h="566928">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PAM</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RegTech toàn cầu [3]</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2026 → 2035, CAGR 16,1%; APAC nhanh nhất ~18,5%</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b="1" dirty="0">
                          <a:solidFill>
                            <a:srgbClr val="111418"/>
                          </a:solidFill>
                          <a:latin typeface="Cambria" pitchFamily="34" charset="0"/>
                          <a:ea typeface="Cambria" pitchFamily="34" charset="-122"/>
                          <a:cs typeface="Cambria" pitchFamily="34" charset="-120"/>
                        </a:rPr>
                        <a:t>22,3 → 85,5 tỷ USD</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TAM</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~225 định chế tài chính VN [4]</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(49 NH × 2 tỷ) + (176 CTTC/CK/BH × 0,5 tỷ)</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b="1" dirty="0">
                          <a:solidFill>
                            <a:srgbClr val="111418"/>
                          </a:solidFill>
                          <a:latin typeface="Cambria" pitchFamily="34" charset="0"/>
                          <a:ea typeface="Cambria" pitchFamily="34" charset="-122"/>
                          <a:cs typeface="Cambria" pitchFamily="34" charset="-120"/>
                        </a:rPr>
                        <a:t>≈190 tỷ VND (~7,5tr USD)</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SAM</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51 tổ chức kênh trực tiếp</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(35 NHTM nội + 16 cty tài chính) × TB 1,5 tỷ</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80" b="1" dirty="0">
                          <a:solidFill>
                            <a:srgbClr val="111418"/>
                          </a:solidFill>
                          <a:latin typeface="Cambria" pitchFamily="34" charset="0"/>
                          <a:ea typeface="Cambria" pitchFamily="34" charset="-122"/>
                          <a:cs typeface="Cambria" pitchFamily="34" charset="-120"/>
                        </a:rPr>
                        <a:t>≈75 tỷ VND (~3tr USD)</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SOM</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10 khách hàng / 3 năm</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880" dirty="0">
                          <a:solidFill>
                            <a:srgbClr val="111418"/>
                          </a:solidFill>
                          <a:latin typeface="Cambria" pitchFamily="34" charset="0"/>
                          <a:ea typeface="Cambria" pitchFamily="34" charset="-122"/>
                          <a:cs typeface="Cambria" pitchFamily="34" charset="-120"/>
                        </a:rPr>
                        <a:t>(SHB + 9 tổ chức) × 1,5 tỷ ≈ 20% SAM</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c>
                  <a:txBody>
                    <a:bodyPr/>
                    <a:lstStyle/>
                    <a:p>
                      <a:pPr algn="l" indent="0" marL="0">
                        <a:buNone/>
                      </a:pPr>
                      <a:r>
                        <a:rPr lang="en-US" sz="880" b="1" dirty="0">
                          <a:solidFill>
                            <a:srgbClr val="B31B1B"/>
                          </a:solidFill>
                          <a:latin typeface="Cambria" pitchFamily="34" charset="0"/>
                          <a:ea typeface="Cambria" pitchFamily="34" charset="-122"/>
                          <a:cs typeface="Cambria" pitchFamily="34" charset="-120"/>
                        </a:rPr>
                        <a:t>≈15 tỷ VND ARR</a:t>
                      </a:r>
                      <a:endParaRPr lang="en-US" sz="880" dirty="0">
                        <a:latin typeface="Cambria" charset="0"/>
                        <a:ea typeface="Cambria" charset="0"/>
                        <a:cs typeface="Cambria"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111418"/>
                      </a:solidFill>
                      <a:prstDash val="solid"/>
                      <a:round/>
                      <a:headEnd type="none" w="med" len="med"/>
                      <a:tailEnd type="none" w="med" len="med"/>
                    </a:lnB>
                    <a:solidFill>
                      <a:srgbClr val="FFFFFF"/>
                    </a:solidFill>
                  </a:tcPr>
                </a:tc>
              </a:tr>
            </a:tbl>
          </a:graphicData>
        </a:graphic>
      </p:graphicFrame>
      <p:sp>
        <p:nvSpPr>
          <p:cNvPr id="18" name="Text 15"/>
          <p:cNvSpPr/>
          <p:nvPr/>
        </p:nvSpPr>
        <p:spPr>
          <a:xfrm>
            <a:off x="4754880" y="4892040"/>
            <a:ext cx="6793992" cy="640080"/>
          </a:xfrm>
          <a:prstGeom prst="rect">
            <a:avLst/>
          </a:prstGeom>
          <a:noFill/>
          <a:ln/>
        </p:spPr>
        <p:txBody>
          <a:bodyPr wrap="square" lIns="0" tIns="0" rIns="0" bIns="0" rtlCol="0" anchor="t"/>
          <a:lstStyle/>
          <a:p>
            <a:pPr indent="0" marL="0">
              <a:lnSpc>
                <a:spcPct val="112000"/>
              </a:lnSpc>
              <a:buNone/>
            </a:pPr>
            <a:r>
              <a:rPr lang="en-US" sz="1050" b="1" dirty="0">
                <a:solidFill>
                  <a:srgbClr val="B31B1B"/>
                </a:solidFill>
                <a:latin typeface="Cambria" pitchFamily="34" charset="0"/>
                <a:ea typeface="Cambria" pitchFamily="34" charset="-122"/>
                <a:cs typeface="Cambria" pitchFamily="34" charset="-120"/>
              </a:rPr>
              <a:t>Kiểm chứng giá trị: </a:t>
            </a:r>
            <a:pPr indent="0" marL="0">
              <a:lnSpc>
                <a:spcPct val="112000"/>
              </a:lnSpc>
              <a:buNone/>
            </a:pPr>
            <a:r>
              <a:rPr lang="en-US" sz="1050" dirty="0">
                <a:solidFill>
                  <a:srgbClr val="000000"/>
                </a:solidFill>
                <a:latin typeface="Cambria" pitchFamily="34" charset="0"/>
                <a:ea typeface="Cambria" pitchFamily="34" charset="-122"/>
                <a:cs typeface="Cambria" pitchFamily="34" charset="-120"/>
              </a:rPr>
              <a:t>thời gian tiết kiệm ≈2,8 tỷ VND/năm/ngân hàng so với license 1,5 tỷ → ROI ~1,9× trước khi tính bất kỳ khoản phạt nào tránh được.</a:t>
            </a:r>
            <a:endParaRPr lang="en-US" sz="1050" dirty="0"/>
          </a:p>
        </p:txBody>
      </p:sp>
      <p:sp>
        <p:nvSpPr>
          <p:cNvPr id="19" name="Text 16"/>
          <p:cNvSpPr/>
          <p:nvPr/>
        </p:nvSpPr>
        <p:spPr>
          <a:xfrm>
            <a:off x="640080" y="6144768"/>
            <a:ext cx="10908792" cy="320040"/>
          </a:xfrm>
          <a:prstGeom prst="rect">
            <a:avLst/>
          </a:prstGeom>
          <a:noFill/>
          <a:ln/>
        </p:spPr>
        <p:txBody>
          <a:bodyPr wrap="square" lIns="0" tIns="0" rIns="0" bIns="0" rtlCol="0" anchor="t"/>
          <a:lstStyle/>
          <a:p>
            <a:pPr indent="0" marL="0">
              <a:buNone/>
            </a:pPr>
            <a:r>
              <a:rPr lang="en-US" sz="750" dirty="0">
                <a:solidFill>
                  <a:srgbClr val="5F6B76"/>
                </a:solidFill>
                <a:latin typeface="Courier New" pitchFamily="34" charset="0"/>
                <a:ea typeface="Courier New" pitchFamily="34" charset="-122"/>
                <a:cs typeface="Courier New" pitchFamily="34" charset="-120"/>
              </a:rPr>
              <a:t>[3] Precedence Research, RegTech Market, 2026.   [4] bankervn.com (49 ngân hàng, 07/2026); giả định giá ghi rõ trong CHECKPOINT1.md.</a:t>
            </a:r>
            <a:endParaRPr lang="en-US" sz="750" dirty="0"/>
          </a:p>
        </p:txBody>
      </p:sp>
      <p:sp>
        <p:nvSpPr>
          <p:cNvPr id="20" name="Shape 17"/>
          <p:cNvSpPr/>
          <p:nvPr/>
        </p:nvSpPr>
        <p:spPr>
          <a:xfrm>
            <a:off x="640080" y="6455664"/>
            <a:ext cx="10908792" cy="0"/>
          </a:xfrm>
          <a:prstGeom prst="line">
            <a:avLst/>
          </a:prstGeom>
          <a:noFill/>
          <a:ln w="6350">
            <a:solidFill>
              <a:srgbClr val="C9CFD6"/>
            </a:solidFill>
            <a:prstDash val="solid"/>
          </a:ln>
        </p:spPr>
      </p:sp>
      <p:sp>
        <p:nvSpPr>
          <p:cNvPr id="21" name="Text 18"/>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22" name="Text 19"/>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4.5 · SCALE-UP</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Mở rộng bằng dữ liệu, không phải bằng code.</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sp>
        <p:nvSpPr>
          <p:cNvPr id="6" name="Shape 4"/>
          <p:cNvSpPr/>
          <p:nvPr/>
        </p:nvSpPr>
        <p:spPr>
          <a:xfrm>
            <a:off x="640080" y="2743200"/>
            <a:ext cx="10908792" cy="0"/>
          </a:xfrm>
          <a:prstGeom prst="line">
            <a:avLst/>
          </a:prstGeom>
          <a:noFill/>
          <a:ln w="15875">
            <a:solidFill>
              <a:srgbClr val="111418"/>
            </a:solidFill>
            <a:prstDash val="solid"/>
          </a:ln>
        </p:spPr>
      </p:sp>
      <p:sp>
        <p:nvSpPr>
          <p:cNvPr id="7" name="Shape 5"/>
          <p:cNvSpPr/>
          <p:nvPr/>
        </p:nvSpPr>
        <p:spPr>
          <a:xfrm>
            <a:off x="960120" y="2633472"/>
            <a:ext cx="0" cy="219456"/>
          </a:xfrm>
          <a:prstGeom prst="line">
            <a:avLst/>
          </a:prstGeom>
          <a:noFill/>
          <a:ln w="15875">
            <a:solidFill>
              <a:srgbClr val="111418"/>
            </a:solidFill>
            <a:prstDash val="solid"/>
          </a:ln>
        </p:spPr>
      </p:sp>
      <p:sp>
        <p:nvSpPr>
          <p:cNvPr id="8" name="Text 6"/>
          <p:cNvSpPr/>
          <p:nvPr/>
        </p:nvSpPr>
        <p:spPr>
          <a:xfrm>
            <a:off x="685800" y="2057400"/>
            <a:ext cx="1280160" cy="274320"/>
          </a:xfrm>
          <a:prstGeom prst="rect">
            <a:avLst/>
          </a:prstGeom>
          <a:noFill/>
          <a:ln/>
        </p:spPr>
        <p:txBody>
          <a:bodyPr wrap="square" lIns="0" tIns="0" rIns="0" bIns="0" rtlCol="0" anchor="ctr"/>
          <a:lstStyle/>
          <a:p>
            <a:pPr indent="0" marL="0">
              <a:buNone/>
            </a:pPr>
            <a:r>
              <a:rPr lang="en-US" sz="1100" b="1" dirty="0">
                <a:solidFill>
                  <a:srgbClr val="B31B1B"/>
                </a:solidFill>
                <a:latin typeface="Courier New" pitchFamily="34" charset="0"/>
                <a:ea typeface="Courier New" pitchFamily="34" charset="-122"/>
                <a:cs typeface="Courier New" pitchFamily="34" charset="-120"/>
              </a:rPr>
              <a:t>2026</a:t>
            </a:r>
            <a:endParaRPr lang="en-US" sz="1100" dirty="0"/>
          </a:p>
        </p:txBody>
      </p:sp>
      <p:sp>
        <p:nvSpPr>
          <p:cNvPr id="9" name="Text 7"/>
          <p:cNvSpPr/>
          <p:nvPr/>
        </p:nvSpPr>
        <p:spPr>
          <a:xfrm>
            <a:off x="685800" y="2313432"/>
            <a:ext cx="2468880" cy="274320"/>
          </a:xfrm>
          <a:prstGeom prst="rect">
            <a:avLst/>
          </a:prstGeom>
          <a:noFill/>
          <a:ln/>
        </p:spPr>
        <p:txBody>
          <a:bodyPr wrap="square" lIns="0" tIns="0" rIns="0" bIns="0" rtlCol="0" anchor="ctr"/>
          <a:lstStyle/>
          <a:p>
            <a:pPr indent="0" marL="0">
              <a:buNone/>
            </a:pPr>
            <a:r>
              <a:rPr lang="en-US" sz="1100" b="1" dirty="0">
                <a:solidFill>
                  <a:srgbClr val="111418"/>
                </a:solidFill>
                <a:latin typeface="Cambria" pitchFamily="34" charset="0"/>
                <a:ea typeface="Cambria" pitchFamily="34" charset="-122"/>
                <a:cs typeface="Cambria" pitchFamily="34" charset="-120"/>
              </a:rPr>
              <a:t>Pilot SHB</a:t>
            </a:r>
            <a:endParaRPr lang="en-US" sz="1100" dirty="0"/>
          </a:p>
        </p:txBody>
      </p:sp>
      <p:sp>
        <p:nvSpPr>
          <p:cNvPr id="10" name="Text 8"/>
          <p:cNvSpPr/>
          <p:nvPr/>
        </p:nvSpPr>
        <p:spPr>
          <a:xfrm>
            <a:off x="685800" y="2999232"/>
            <a:ext cx="2395728" cy="1188720"/>
          </a:xfrm>
          <a:prstGeom prst="rect">
            <a:avLst/>
          </a:prstGeom>
          <a:noFill/>
          <a:ln/>
        </p:spPr>
        <p:txBody>
          <a:bodyPr wrap="square" lIns="0" tIns="0" rIns="0" bIns="0" rtlCol="0" anchor="t"/>
          <a:lstStyle/>
          <a:p>
            <a:pPr indent="0" marL="0">
              <a:lnSpc>
                <a:spcPct val="112000"/>
              </a:lnSpc>
              <a:buNone/>
            </a:pPr>
            <a:r>
              <a:rPr lang="en-US" sz="880" dirty="0">
                <a:solidFill>
                  <a:srgbClr val="5F6B76"/>
                </a:solidFill>
                <a:latin typeface="Cambria" pitchFamily="34" charset="0"/>
                <a:ea typeface="Cambria" pitchFamily="34" charset="-122"/>
                <a:cs typeface="Cambria" pitchFamily="34" charset="-120"/>
              </a:rPr>
              <a:t>Một golden domain (tín dụng) đủ sâu · bằng chứng sẵn sàng thanh tra · nghiệm thu bằng benchmark</a:t>
            </a:r>
            <a:endParaRPr lang="en-US" sz="880" dirty="0"/>
          </a:p>
        </p:txBody>
      </p:sp>
      <p:sp>
        <p:nvSpPr>
          <p:cNvPr id="11" name="Shape 9"/>
          <p:cNvSpPr/>
          <p:nvPr/>
        </p:nvSpPr>
        <p:spPr>
          <a:xfrm>
            <a:off x="3657600" y="2633472"/>
            <a:ext cx="0" cy="219456"/>
          </a:xfrm>
          <a:prstGeom prst="line">
            <a:avLst/>
          </a:prstGeom>
          <a:noFill/>
          <a:ln w="15875">
            <a:solidFill>
              <a:srgbClr val="111418"/>
            </a:solidFill>
            <a:prstDash val="solid"/>
          </a:ln>
        </p:spPr>
      </p:sp>
      <p:sp>
        <p:nvSpPr>
          <p:cNvPr id="12" name="Text 10"/>
          <p:cNvSpPr/>
          <p:nvPr/>
        </p:nvSpPr>
        <p:spPr>
          <a:xfrm>
            <a:off x="3383280" y="2057400"/>
            <a:ext cx="1280160" cy="274320"/>
          </a:xfrm>
          <a:prstGeom prst="rect">
            <a:avLst/>
          </a:prstGeom>
          <a:noFill/>
          <a:ln/>
        </p:spPr>
        <p:txBody>
          <a:bodyPr wrap="square" lIns="0" tIns="0" rIns="0" bIns="0" rtlCol="0" anchor="ctr"/>
          <a:lstStyle/>
          <a:p>
            <a:pPr indent="0" marL="0">
              <a:buNone/>
            </a:pPr>
            <a:r>
              <a:rPr lang="en-US" sz="1100" b="1" dirty="0">
                <a:solidFill>
                  <a:srgbClr val="111418"/>
                </a:solidFill>
                <a:latin typeface="Courier New" pitchFamily="34" charset="0"/>
                <a:ea typeface="Courier New" pitchFamily="34" charset="-122"/>
                <a:cs typeface="Courier New" pitchFamily="34" charset="-120"/>
              </a:rPr>
              <a:t>2027</a:t>
            </a:r>
            <a:endParaRPr lang="en-US" sz="1100" dirty="0"/>
          </a:p>
        </p:txBody>
      </p:sp>
      <p:sp>
        <p:nvSpPr>
          <p:cNvPr id="13" name="Text 11"/>
          <p:cNvSpPr/>
          <p:nvPr/>
        </p:nvSpPr>
        <p:spPr>
          <a:xfrm>
            <a:off x="3383280" y="2313432"/>
            <a:ext cx="2468880" cy="274320"/>
          </a:xfrm>
          <a:prstGeom prst="rect">
            <a:avLst/>
          </a:prstGeom>
          <a:noFill/>
          <a:ln/>
        </p:spPr>
        <p:txBody>
          <a:bodyPr wrap="square" lIns="0" tIns="0" rIns="0" bIns="0" rtlCol="0" anchor="ctr"/>
          <a:lstStyle/>
          <a:p>
            <a:pPr indent="0" marL="0">
              <a:buNone/>
            </a:pPr>
            <a:r>
              <a:rPr lang="en-US" sz="1100" b="1" dirty="0">
                <a:solidFill>
                  <a:srgbClr val="111418"/>
                </a:solidFill>
                <a:latin typeface="Cambria" pitchFamily="34" charset="0"/>
                <a:ea typeface="Cambria" pitchFamily="34" charset="-122"/>
                <a:cs typeface="Cambria" pitchFamily="34" charset="-120"/>
              </a:rPr>
              <a:t>Ngân hàng Việt Nam</a:t>
            </a:r>
            <a:endParaRPr lang="en-US" sz="1100" dirty="0"/>
          </a:p>
        </p:txBody>
      </p:sp>
      <p:sp>
        <p:nvSpPr>
          <p:cNvPr id="14" name="Text 12"/>
          <p:cNvSpPr/>
          <p:nvPr/>
        </p:nvSpPr>
        <p:spPr>
          <a:xfrm>
            <a:off x="3383280" y="2999232"/>
            <a:ext cx="2395728" cy="1188720"/>
          </a:xfrm>
          <a:prstGeom prst="rect">
            <a:avLst/>
          </a:prstGeom>
          <a:noFill/>
          <a:ln/>
        </p:spPr>
        <p:txBody>
          <a:bodyPr wrap="square" lIns="0" tIns="0" rIns="0" bIns="0" rtlCol="0" anchor="t"/>
          <a:lstStyle/>
          <a:p>
            <a:pPr indent="0" marL="0">
              <a:lnSpc>
                <a:spcPct val="112000"/>
              </a:lnSpc>
              <a:buNone/>
            </a:pPr>
            <a:r>
              <a:rPr lang="en-US" sz="880" dirty="0">
                <a:solidFill>
                  <a:srgbClr val="5F6B76"/>
                </a:solidFill>
                <a:latin typeface="Cambria" pitchFamily="34" charset="0"/>
                <a:ea typeface="Cambria" pitchFamily="34" charset="-122"/>
                <a:cs typeface="Cambria" pitchFamily="34" charset="-120"/>
              </a:rPr>
              <a:t>10 tổ chức (mục tiêu SOM) · thêm domain: ngoại hối, AML, vốn · OCR bản scan, xuất DOCX/PDF</a:t>
            </a:r>
            <a:endParaRPr lang="en-US" sz="880" dirty="0"/>
          </a:p>
        </p:txBody>
      </p:sp>
      <p:sp>
        <p:nvSpPr>
          <p:cNvPr id="15" name="Shape 13"/>
          <p:cNvSpPr/>
          <p:nvPr/>
        </p:nvSpPr>
        <p:spPr>
          <a:xfrm>
            <a:off x="6355080" y="2633472"/>
            <a:ext cx="0" cy="219456"/>
          </a:xfrm>
          <a:prstGeom prst="line">
            <a:avLst/>
          </a:prstGeom>
          <a:noFill/>
          <a:ln w="15875">
            <a:solidFill>
              <a:srgbClr val="111418"/>
            </a:solidFill>
            <a:prstDash val="solid"/>
          </a:ln>
        </p:spPr>
      </p:sp>
      <p:sp>
        <p:nvSpPr>
          <p:cNvPr id="16" name="Text 14"/>
          <p:cNvSpPr/>
          <p:nvPr/>
        </p:nvSpPr>
        <p:spPr>
          <a:xfrm>
            <a:off x="6080760" y="2057400"/>
            <a:ext cx="1280160" cy="274320"/>
          </a:xfrm>
          <a:prstGeom prst="rect">
            <a:avLst/>
          </a:prstGeom>
          <a:noFill/>
          <a:ln/>
        </p:spPr>
        <p:txBody>
          <a:bodyPr wrap="square" lIns="0" tIns="0" rIns="0" bIns="0" rtlCol="0" anchor="ctr"/>
          <a:lstStyle/>
          <a:p>
            <a:pPr indent="0" marL="0">
              <a:buNone/>
            </a:pPr>
            <a:r>
              <a:rPr lang="en-US" sz="1100" b="1" dirty="0">
                <a:solidFill>
                  <a:srgbClr val="111418"/>
                </a:solidFill>
                <a:latin typeface="Courier New" pitchFamily="34" charset="0"/>
                <a:ea typeface="Courier New" pitchFamily="34" charset="-122"/>
                <a:cs typeface="Courier New" pitchFamily="34" charset="-120"/>
              </a:rPr>
              <a:t>2028</a:t>
            </a:r>
            <a:endParaRPr lang="en-US" sz="1100" dirty="0"/>
          </a:p>
        </p:txBody>
      </p:sp>
      <p:sp>
        <p:nvSpPr>
          <p:cNvPr id="17" name="Text 15"/>
          <p:cNvSpPr/>
          <p:nvPr/>
        </p:nvSpPr>
        <p:spPr>
          <a:xfrm>
            <a:off x="6080760" y="2313432"/>
            <a:ext cx="2468880" cy="274320"/>
          </a:xfrm>
          <a:prstGeom prst="rect">
            <a:avLst/>
          </a:prstGeom>
          <a:noFill/>
          <a:ln/>
        </p:spPr>
        <p:txBody>
          <a:bodyPr wrap="square" lIns="0" tIns="0" rIns="0" bIns="0" rtlCol="0" anchor="ctr"/>
          <a:lstStyle/>
          <a:p>
            <a:pPr indent="0" marL="0">
              <a:buNone/>
            </a:pPr>
            <a:r>
              <a:rPr lang="en-US" sz="1100" b="1" dirty="0">
                <a:solidFill>
                  <a:srgbClr val="111418"/>
                </a:solidFill>
                <a:latin typeface="Cambria" pitchFamily="34" charset="0"/>
                <a:ea typeface="Cambria" pitchFamily="34" charset="-122"/>
                <a:cs typeface="Cambria" pitchFamily="34" charset="-120"/>
              </a:rPr>
              <a:t>Ngành được quản lý</a:t>
            </a:r>
            <a:endParaRPr lang="en-US" sz="1100" dirty="0"/>
          </a:p>
        </p:txBody>
      </p:sp>
      <p:sp>
        <p:nvSpPr>
          <p:cNvPr id="18" name="Text 16"/>
          <p:cNvSpPr/>
          <p:nvPr/>
        </p:nvSpPr>
        <p:spPr>
          <a:xfrm>
            <a:off x="6080760" y="2999232"/>
            <a:ext cx="2395728" cy="1188720"/>
          </a:xfrm>
          <a:prstGeom prst="rect">
            <a:avLst/>
          </a:prstGeom>
          <a:noFill/>
          <a:ln/>
        </p:spPr>
        <p:txBody>
          <a:bodyPr wrap="square" lIns="0" tIns="0" rIns="0" bIns="0" rtlCol="0" anchor="t"/>
          <a:lstStyle/>
          <a:p>
            <a:pPr indent="0" marL="0">
              <a:lnSpc>
                <a:spcPct val="112000"/>
              </a:lnSpc>
              <a:buNone/>
            </a:pPr>
            <a:r>
              <a:rPr lang="en-US" sz="880" dirty="0">
                <a:solidFill>
                  <a:srgbClr val="5F6B76"/>
                </a:solidFill>
                <a:latin typeface="Cambria" pitchFamily="34" charset="0"/>
                <a:ea typeface="Cambria" pitchFamily="34" charset="-122"/>
                <a:cs typeface="Cambria" pitchFamily="34" charset="-120"/>
              </a:rPr>
              <a:t>Chứng khoán, bảo hiểm, dược, năng lượng · cùng engine, corpus mới · giá API theo tài liệu</a:t>
            </a:r>
            <a:endParaRPr lang="en-US" sz="880" dirty="0"/>
          </a:p>
        </p:txBody>
      </p:sp>
      <p:sp>
        <p:nvSpPr>
          <p:cNvPr id="19" name="Shape 17"/>
          <p:cNvSpPr/>
          <p:nvPr/>
        </p:nvSpPr>
        <p:spPr>
          <a:xfrm>
            <a:off x="9052560" y="2633472"/>
            <a:ext cx="0" cy="219456"/>
          </a:xfrm>
          <a:prstGeom prst="line">
            <a:avLst/>
          </a:prstGeom>
          <a:noFill/>
          <a:ln w="15875">
            <a:solidFill>
              <a:srgbClr val="111418"/>
            </a:solidFill>
            <a:prstDash val="solid"/>
          </a:ln>
        </p:spPr>
      </p:sp>
      <p:sp>
        <p:nvSpPr>
          <p:cNvPr id="20" name="Text 18"/>
          <p:cNvSpPr/>
          <p:nvPr/>
        </p:nvSpPr>
        <p:spPr>
          <a:xfrm>
            <a:off x="8778240" y="2057400"/>
            <a:ext cx="1280160" cy="274320"/>
          </a:xfrm>
          <a:prstGeom prst="rect">
            <a:avLst/>
          </a:prstGeom>
          <a:noFill/>
          <a:ln/>
        </p:spPr>
        <p:txBody>
          <a:bodyPr wrap="square" lIns="0" tIns="0" rIns="0" bIns="0" rtlCol="0" anchor="ctr"/>
          <a:lstStyle/>
          <a:p>
            <a:pPr indent="0" marL="0">
              <a:buNone/>
            </a:pPr>
            <a:r>
              <a:rPr lang="en-US" sz="1100" b="1" dirty="0">
                <a:solidFill>
                  <a:srgbClr val="111418"/>
                </a:solidFill>
                <a:latin typeface="Courier New" pitchFamily="34" charset="0"/>
                <a:ea typeface="Courier New" pitchFamily="34" charset="-122"/>
                <a:cs typeface="Courier New" pitchFamily="34" charset="-120"/>
              </a:rPr>
              <a:t>2029+</a:t>
            </a:r>
            <a:endParaRPr lang="en-US" sz="1100" dirty="0"/>
          </a:p>
        </p:txBody>
      </p:sp>
      <p:sp>
        <p:nvSpPr>
          <p:cNvPr id="21" name="Text 19"/>
          <p:cNvSpPr/>
          <p:nvPr/>
        </p:nvSpPr>
        <p:spPr>
          <a:xfrm>
            <a:off x="8778240" y="2313432"/>
            <a:ext cx="2468880" cy="274320"/>
          </a:xfrm>
          <a:prstGeom prst="rect">
            <a:avLst/>
          </a:prstGeom>
          <a:noFill/>
          <a:ln/>
        </p:spPr>
        <p:txBody>
          <a:bodyPr wrap="square" lIns="0" tIns="0" rIns="0" bIns="0" rtlCol="0" anchor="ctr"/>
          <a:lstStyle/>
          <a:p>
            <a:pPr indent="0" marL="0">
              <a:buNone/>
            </a:pPr>
            <a:r>
              <a:rPr lang="en-US" sz="1100" b="1" dirty="0">
                <a:solidFill>
                  <a:srgbClr val="111418"/>
                </a:solidFill>
                <a:latin typeface="Cambria" pitchFamily="34" charset="0"/>
                <a:ea typeface="Cambria" pitchFamily="34" charset="-122"/>
                <a:cs typeface="Cambria" pitchFamily="34" charset="-120"/>
              </a:rPr>
              <a:t>ASEAN</a:t>
            </a:r>
            <a:endParaRPr lang="en-US" sz="1100" dirty="0"/>
          </a:p>
        </p:txBody>
      </p:sp>
      <p:sp>
        <p:nvSpPr>
          <p:cNvPr id="22" name="Text 20"/>
          <p:cNvSpPr/>
          <p:nvPr/>
        </p:nvSpPr>
        <p:spPr>
          <a:xfrm>
            <a:off x="8778240" y="2999232"/>
            <a:ext cx="2395728" cy="1188720"/>
          </a:xfrm>
          <a:prstGeom prst="rect">
            <a:avLst/>
          </a:prstGeom>
          <a:noFill/>
          <a:ln/>
        </p:spPr>
        <p:txBody>
          <a:bodyPr wrap="square" lIns="0" tIns="0" rIns="0" bIns="0" rtlCol="0" anchor="t"/>
          <a:lstStyle/>
          <a:p>
            <a:pPr indent="0" marL="0">
              <a:lnSpc>
                <a:spcPct val="112000"/>
              </a:lnSpc>
              <a:buNone/>
            </a:pPr>
            <a:r>
              <a:rPr lang="en-US" sz="880" dirty="0">
                <a:solidFill>
                  <a:srgbClr val="5F6B76"/>
                </a:solidFill>
                <a:latin typeface="Cambria" pitchFamily="34" charset="0"/>
                <a:ea typeface="Cambria" pitchFamily="34" charset="-122"/>
                <a:cs typeface="Cambria" pitchFamily="34" charset="-120"/>
              </a:rPr>
              <a:t>Lõi không phụ thuộc ngôn ngữ · thay normalizer + mẫu parser · APAC tăng nhanh nhất (18,5%)</a:t>
            </a:r>
            <a:endParaRPr lang="en-US" sz="880" dirty="0"/>
          </a:p>
        </p:txBody>
      </p:sp>
      <p:sp>
        <p:nvSpPr>
          <p:cNvPr id="23" name="Shape 21"/>
          <p:cNvSpPr/>
          <p:nvPr/>
        </p:nvSpPr>
        <p:spPr>
          <a:xfrm>
            <a:off x="640080" y="4343400"/>
            <a:ext cx="10908792" cy="0"/>
          </a:xfrm>
          <a:prstGeom prst="line">
            <a:avLst/>
          </a:prstGeom>
          <a:noFill/>
          <a:ln w="6350">
            <a:solidFill>
              <a:srgbClr val="C9CFD6"/>
            </a:solidFill>
            <a:prstDash val="solid"/>
          </a:ln>
        </p:spPr>
      </p:sp>
      <p:sp>
        <p:nvSpPr>
          <p:cNvPr id="24" name="Text 22"/>
          <p:cNvSpPr/>
          <p:nvPr/>
        </p:nvSpPr>
        <p:spPr>
          <a:xfrm>
            <a:off x="640080" y="4389120"/>
            <a:ext cx="10908792" cy="457200"/>
          </a:xfrm>
          <a:prstGeom prst="rect">
            <a:avLst/>
          </a:prstGeom>
          <a:noFill/>
          <a:ln/>
        </p:spPr>
        <p:txBody>
          <a:bodyPr wrap="square" lIns="0" tIns="0" rIns="0" bIns="0" rtlCol="0" anchor="t"/>
          <a:lstStyle/>
          <a:p>
            <a:pPr indent="0" marL="0">
              <a:lnSpc>
                <a:spcPct val="105000"/>
              </a:lnSpc>
              <a:buNone/>
            </a:pPr>
            <a:r>
              <a:rPr lang="en-US" sz="900" i="1" dirty="0">
                <a:solidFill>
                  <a:srgbClr val="5F6B76"/>
                </a:solidFill>
                <a:latin typeface="Cambria" pitchFamily="34" charset="0"/>
                <a:ea typeface="Cambria" pitchFamily="34" charset="-122"/>
                <a:cs typeface="Cambria" pitchFamily="34" charset="-120"/>
              </a:rPr>
              <a:t>Hình 6 — Lộ trình bốn làn sóng mở rộng.</a:t>
            </a:r>
            <a:endParaRPr lang="en-US" sz="900" dirty="0"/>
          </a:p>
        </p:txBody>
      </p:sp>
      <p:sp>
        <p:nvSpPr>
          <p:cNvPr id="25" name="Shape 23"/>
          <p:cNvSpPr/>
          <p:nvPr/>
        </p:nvSpPr>
        <p:spPr>
          <a:xfrm>
            <a:off x="640080" y="4892040"/>
            <a:ext cx="5394960" cy="0"/>
          </a:xfrm>
          <a:prstGeom prst="line">
            <a:avLst/>
          </a:prstGeom>
          <a:noFill/>
          <a:ln w="9525">
            <a:solidFill>
              <a:srgbClr val="111418"/>
            </a:solidFill>
            <a:prstDash val="solid"/>
          </a:ln>
        </p:spPr>
      </p:sp>
      <p:sp>
        <p:nvSpPr>
          <p:cNvPr id="26" name="Text 24"/>
          <p:cNvSpPr/>
          <p:nvPr/>
        </p:nvSpPr>
        <p:spPr>
          <a:xfrm>
            <a:off x="640080" y="5029200"/>
            <a:ext cx="5394960"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VÌ SAO MỞ RỘNG ĐƯỢC</a:t>
            </a:r>
            <a:endParaRPr lang="en-US" sz="850" dirty="0"/>
          </a:p>
        </p:txBody>
      </p:sp>
      <p:sp>
        <p:nvSpPr>
          <p:cNvPr id="27" name="Text 25"/>
          <p:cNvSpPr/>
          <p:nvPr/>
        </p:nvSpPr>
        <p:spPr>
          <a:xfrm>
            <a:off x="640080" y="5285232"/>
            <a:ext cx="5394960" cy="1051560"/>
          </a:xfrm>
          <a:prstGeom prst="rect">
            <a:avLst/>
          </a:prstGeom>
          <a:noFill/>
          <a:ln/>
        </p:spPr>
        <p:txBody>
          <a:bodyPr wrap="square" lIns="0" tIns="0" rIns="0" bIns="0" rtlCol="0" anchor="t"/>
          <a:lstStyle/>
          <a:p>
            <a:pPr algn="just" indent="0" marL="0">
              <a:lnSpc>
                <a:spcPct val="114000"/>
              </a:lnSpc>
              <a:buNone/>
            </a:pPr>
            <a:r>
              <a:rPr lang="en-US" sz="950" dirty="0">
                <a:solidFill>
                  <a:srgbClr val="111418"/>
                </a:solidFill>
                <a:latin typeface="Cambria" pitchFamily="34" charset="0"/>
                <a:ea typeface="Cambria" pitchFamily="34" charset="-122"/>
                <a:cs typeface="Cambria" pitchFamily="34" charset="-120"/>
              </a:rPr>
              <a:t>Onboard ngân hàng/domain mới = nạp tài liệu qua Luồng A — không cần code thêm. Index tách lớp (pháp lý/policy/workspace), outbox sync, PostgreSQL là source of truth. Một codebase → on-premise từng ngân hàng hoặc SaaS multi-tenant; không khóa nhà cung cấp LLM.</a:t>
            </a:r>
            <a:endParaRPr lang="en-US" sz="950" dirty="0"/>
          </a:p>
        </p:txBody>
      </p:sp>
      <p:sp>
        <p:nvSpPr>
          <p:cNvPr id="28" name="Shape 26"/>
          <p:cNvSpPr/>
          <p:nvPr/>
        </p:nvSpPr>
        <p:spPr>
          <a:xfrm>
            <a:off x="6400800" y="4892040"/>
            <a:ext cx="5148072" cy="0"/>
          </a:xfrm>
          <a:prstGeom prst="line">
            <a:avLst/>
          </a:prstGeom>
          <a:noFill/>
          <a:ln w="9525">
            <a:solidFill>
              <a:srgbClr val="111418"/>
            </a:solidFill>
            <a:prstDash val="solid"/>
          </a:ln>
        </p:spPr>
      </p:sp>
      <p:sp>
        <p:nvSpPr>
          <p:cNvPr id="29" name="Text 27"/>
          <p:cNvSpPr/>
          <p:nvPr/>
        </p:nvSpPr>
        <p:spPr>
          <a:xfrm>
            <a:off x="6400800" y="5029200"/>
            <a:ext cx="5148072" cy="219456"/>
          </a:xfrm>
          <a:prstGeom prst="rect">
            <a:avLst/>
          </a:prstGeom>
          <a:noFill/>
          <a:ln/>
        </p:spPr>
        <p:txBody>
          <a:bodyPr wrap="square" lIns="0" tIns="0" rIns="0" bIns="0" rtlCol="0" anchor="ctr"/>
          <a:lstStyle/>
          <a:p>
            <a:pPr indent="0" marL="0">
              <a:buNone/>
            </a:pPr>
            <a:r>
              <a:rPr lang="en-US" sz="850" b="1" spc="150" kern="0" dirty="0">
                <a:solidFill>
                  <a:srgbClr val="5F6B76"/>
                </a:solidFill>
                <a:latin typeface="Courier New" pitchFamily="34" charset="0"/>
                <a:ea typeface="Courier New" pitchFamily="34" charset="-122"/>
                <a:cs typeface="Courier New" pitchFamily="34" charset="-120"/>
              </a:rPr>
              <a:t>7 ƯU TIÊN SCALE-UP — ĐÃ PHỦ</a:t>
            </a:r>
            <a:endParaRPr lang="en-US" sz="850" dirty="0"/>
          </a:p>
        </p:txBody>
      </p:sp>
      <p:sp>
        <p:nvSpPr>
          <p:cNvPr id="30" name="Text 28"/>
          <p:cNvSpPr/>
          <p:nvPr/>
        </p:nvSpPr>
        <p:spPr>
          <a:xfrm>
            <a:off x="6400800" y="5321808"/>
            <a:ext cx="2606040" cy="347472"/>
          </a:xfrm>
          <a:prstGeom prst="rect">
            <a:avLst/>
          </a:prstGeom>
          <a:noFill/>
          <a:ln/>
        </p:spPr>
        <p:txBody>
          <a:bodyPr wrap="square" lIns="0" tIns="0" rIns="0" bIns="0" rtlCol="0" anchor="t"/>
          <a:lstStyle/>
          <a:p>
            <a:pPr indent="0" marL="0">
              <a:lnSpc>
                <a:spcPct val="100000"/>
              </a:lnSpc>
              <a:buNone/>
            </a:pPr>
            <a:r>
              <a:rPr lang="en-US" sz="800" b="1" dirty="0">
                <a:solidFill>
                  <a:srgbClr val="111418"/>
                </a:solidFill>
                <a:latin typeface="Courier New" pitchFamily="34" charset="0"/>
                <a:ea typeface="Courier New" pitchFamily="34" charset="-122"/>
                <a:cs typeface="Courier New" pitchFamily="34" charset="-120"/>
              </a:rPr>
              <a:t>Chiến lược: </a:t>
            </a:r>
            <a:pPr indent="0" marL="0">
              <a:lnSpc>
                <a:spcPct val="100000"/>
              </a:lnSpc>
              <a:buNone/>
            </a:pPr>
            <a:r>
              <a:rPr lang="en-US" sz="850" dirty="0">
                <a:solidFill>
                  <a:srgbClr val="5F6B76"/>
                </a:solidFill>
                <a:latin typeface="Cambria" pitchFamily="34" charset="0"/>
                <a:ea typeface="Cambria" pitchFamily="34" charset="-122"/>
                <a:cs typeface="Cambria" pitchFamily="34" charset="-120"/>
              </a:rPr>
              <a:t>AI dọc cho tuân thủ; kiểm toán = moat</a:t>
            </a:r>
            <a:endParaRPr lang="en-US" sz="800" dirty="0"/>
          </a:p>
        </p:txBody>
      </p:sp>
      <p:sp>
        <p:nvSpPr>
          <p:cNvPr id="31" name="Text 29"/>
          <p:cNvSpPr/>
          <p:nvPr/>
        </p:nvSpPr>
        <p:spPr>
          <a:xfrm>
            <a:off x="9052560" y="5321808"/>
            <a:ext cx="2606040" cy="347472"/>
          </a:xfrm>
          <a:prstGeom prst="rect">
            <a:avLst/>
          </a:prstGeom>
          <a:noFill/>
          <a:ln/>
        </p:spPr>
        <p:txBody>
          <a:bodyPr wrap="square" lIns="0" tIns="0" rIns="0" bIns="0" rtlCol="0" anchor="t"/>
          <a:lstStyle/>
          <a:p>
            <a:pPr indent="0" marL="0">
              <a:lnSpc>
                <a:spcPct val="100000"/>
              </a:lnSpc>
              <a:buNone/>
            </a:pPr>
            <a:r>
              <a:rPr lang="en-US" sz="800" b="1" dirty="0">
                <a:solidFill>
                  <a:srgbClr val="111418"/>
                </a:solidFill>
                <a:latin typeface="Courier New" pitchFamily="34" charset="0"/>
                <a:ea typeface="Courier New" pitchFamily="34" charset="-122"/>
                <a:cs typeface="Courier New" pitchFamily="34" charset="-120"/>
              </a:rPr>
              <a:t>Sản phẩm: </a:t>
            </a:r>
            <a:pPr indent="0" marL="0">
              <a:lnSpc>
                <a:spcPct val="100000"/>
              </a:lnSpc>
              <a:buNone/>
            </a:pPr>
            <a:r>
              <a:rPr lang="en-US" sz="850" dirty="0">
                <a:solidFill>
                  <a:srgbClr val="5F6B76"/>
                </a:solidFill>
                <a:latin typeface="Cambria" pitchFamily="34" charset="0"/>
                <a:ea typeface="Cambria" pitchFamily="34" charset="-122"/>
                <a:cs typeface="Cambria" pitchFamily="34" charset="-120"/>
              </a:rPr>
              <a:t>mọi ngành được quản lý</a:t>
            </a:r>
            <a:endParaRPr lang="en-US" sz="800" dirty="0"/>
          </a:p>
        </p:txBody>
      </p:sp>
      <p:sp>
        <p:nvSpPr>
          <p:cNvPr id="32" name="Text 30"/>
          <p:cNvSpPr/>
          <p:nvPr/>
        </p:nvSpPr>
        <p:spPr>
          <a:xfrm>
            <a:off x="6400800" y="5669280"/>
            <a:ext cx="2606040" cy="347472"/>
          </a:xfrm>
          <a:prstGeom prst="rect">
            <a:avLst/>
          </a:prstGeom>
          <a:noFill/>
          <a:ln/>
        </p:spPr>
        <p:txBody>
          <a:bodyPr wrap="square" lIns="0" tIns="0" rIns="0" bIns="0" rtlCol="0" anchor="t"/>
          <a:lstStyle/>
          <a:p>
            <a:pPr indent="0" marL="0">
              <a:lnSpc>
                <a:spcPct val="100000"/>
              </a:lnSpc>
              <a:buNone/>
            </a:pPr>
            <a:r>
              <a:rPr lang="en-US" sz="800" b="1" dirty="0">
                <a:solidFill>
                  <a:srgbClr val="111418"/>
                </a:solidFill>
                <a:latin typeface="Courier New" pitchFamily="34" charset="0"/>
                <a:ea typeface="Courier New" pitchFamily="34" charset="-122"/>
                <a:cs typeface="Courier New" pitchFamily="34" charset="-120"/>
              </a:rPr>
              <a:t>Con người: </a:t>
            </a:r>
            <a:pPr indent="0" marL="0">
              <a:lnSpc>
                <a:spcPct val="100000"/>
              </a:lnSpc>
              <a:buNone/>
            </a:pPr>
            <a:r>
              <a:rPr lang="en-US" sz="850" dirty="0">
                <a:solidFill>
                  <a:srgbClr val="5F6B76"/>
                </a:solidFill>
                <a:latin typeface="Cambria" pitchFamily="34" charset="0"/>
                <a:ea typeface="Cambria" pitchFamily="34" charset="-122"/>
                <a:cs typeface="Cambria" pitchFamily="34" charset="-120"/>
              </a:rPr>
              <a:t>chuyên gia tuân thủ + kỹ sư AI</a:t>
            </a:r>
            <a:endParaRPr lang="en-US" sz="800" dirty="0"/>
          </a:p>
        </p:txBody>
      </p:sp>
      <p:sp>
        <p:nvSpPr>
          <p:cNvPr id="33" name="Text 31"/>
          <p:cNvSpPr/>
          <p:nvPr/>
        </p:nvSpPr>
        <p:spPr>
          <a:xfrm>
            <a:off x="9052560" y="5669280"/>
            <a:ext cx="2606040" cy="347472"/>
          </a:xfrm>
          <a:prstGeom prst="rect">
            <a:avLst/>
          </a:prstGeom>
          <a:noFill/>
          <a:ln/>
        </p:spPr>
        <p:txBody>
          <a:bodyPr wrap="square" lIns="0" tIns="0" rIns="0" bIns="0" rtlCol="0" anchor="t"/>
          <a:lstStyle/>
          <a:p>
            <a:pPr indent="0" marL="0">
              <a:lnSpc>
                <a:spcPct val="100000"/>
              </a:lnSpc>
              <a:buNone/>
            </a:pPr>
            <a:r>
              <a:rPr lang="en-US" sz="800" b="1" dirty="0">
                <a:solidFill>
                  <a:srgbClr val="111418"/>
                </a:solidFill>
                <a:latin typeface="Courier New" pitchFamily="34" charset="0"/>
                <a:ea typeface="Courier New" pitchFamily="34" charset="-122"/>
                <a:cs typeface="Courier New" pitchFamily="34" charset="-120"/>
              </a:rPr>
              <a:t>Hạ tầng: </a:t>
            </a:r>
            <a:pPr indent="0" marL="0">
              <a:lnSpc>
                <a:spcPct val="100000"/>
              </a:lnSpc>
              <a:buNone/>
            </a:pPr>
            <a:r>
              <a:rPr lang="en-US" sz="850" dirty="0">
                <a:solidFill>
                  <a:srgbClr val="5F6B76"/>
                </a:solidFill>
                <a:latin typeface="Cambria" pitchFamily="34" charset="0"/>
                <a:ea typeface="Cambria" pitchFamily="34" charset="-122"/>
                <a:cs typeface="Cambria" pitchFamily="34" charset="-120"/>
              </a:rPr>
              <a:t>container; không khóa storage/LLM</a:t>
            </a:r>
            <a:endParaRPr lang="en-US" sz="800" dirty="0"/>
          </a:p>
        </p:txBody>
      </p:sp>
      <p:sp>
        <p:nvSpPr>
          <p:cNvPr id="34" name="Text 32"/>
          <p:cNvSpPr/>
          <p:nvPr/>
        </p:nvSpPr>
        <p:spPr>
          <a:xfrm>
            <a:off x="6400800" y="6016752"/>
            <a:ext cx="2606040" cy="347472"/>
          </a:xfrm>
          <a:prstGeom prst="rect">
            <a:avLst/>
          </a:prstGeom>
          <a:noFill/>
          <a:ln/>
        </p:spPr>
        <p:txBody>
          <a:bodyPr wrap="square" lIns="0" tIns="0" rIns="0" bIns="0" rtlCol="0" anchor="t"/>
          <a:lstStyle/>
          <a:p>
            <a:pPr indent="0" marL="0">
              <a:lnSpc>
                <a:spcPct val="100000"/>
              </a:lnSpc>
              <a:buNone/>
            </a:pPr>
            <a:r>
              <a:rPr lang="en-US" sz="800" b="1" dirty="0">
                <a:solidFill>
                  <a:srgbClr val="111418"/>
                </a:solidFill>
                <a:latin typeface="Courier New" pitchFamily="34" charset="0"/>
                <a:ea typeface="Courier New" pitchFamily="34" charset="-122"/>
                <a:cs typeface="Courier New" pitchFamily="34" charset="-120"/>
              </a:rPr>
              <a:t>Thực thi: </a:t>
            </a:r>
            <a:pPr indent="0" marL="0">
              <a:lnSpc>
                <a:spcPct val="100000"/>
              </a:lnSpc>
              <a:buNone/>
            </a:pPr>
            <a:r>
              <a:rPr lang="en-US" sz="850" dirty="0">
                <a:solidFill>
                  <a:srgbClr val="5F6B76"/>
                </a:solidFill>
                <a:latin typeface="Cambria" pitchFamily="34" charset="0"/>
                <a:ea typeface="Cambria" pitchFamily="34" charset="-122"/>
                <a:cs typeface="Cambria" pitchFamily="34" charset="-120"/>
              </a:rPr>
              <a:t>playbook pilot→license ~6 tuần</a:t>
            </a:r>
            <a:endParaRPr lang="en-US" sz="800" dirty="0"/>
          </a:p>
        </p:txBody>
      </p:sp>
      <p:sp>
        <p:nvSpPr>
          <p:cNvPr id="35" name="Text 33"/>
          <p:cNvSpPr/>
          <p:nvPr/>
        </p:nvSpPr>
        <p:spPr>
          <a:xfrm>
            <a:off x="9052560" y="6016752"/>
            <a:ext cx="2606040" cy="347472"/>
          </a:xfrm>
          <a:prstGeom prst="rect">
            <a:avLst/>
          </a:prstGeom>
          <a:noFill/>
          <a:ln/>
        </p:spPr>
        <p:txBody>
          <a:bodyPr wrap="square" lIns="0" tIns="0" rIns="0" bIns="0" rtlCol="0" anchor="t"/>
          <a:lstStyle/>
          <a:p>
            <a:pPr indent="0" marL="0">
              <a:lnSpc>
                <a:spcPct val="100000"/>
              </a:lnSpc>
              <a:buNone/>
            </a:pPr>
            <a:r>
              <a:rPr lang="en-US" sz="800" b="1" dirty="0">
                <a:solidFill>
                  <a:srgbClr val="111418"/>
                </a:solidFill>
                <a:latin typeface="Courier New" pitchFamily="34" charset="0"/>
                <a:ea typeface="Courier New" pitchFamily="34" charset="-122"/>
                <a:cs typeface="Courier New" pitchFamily="34" charset="-120"/>
              </a:rPr>
              <a:t>Tài chính: </a:t>
            </a:r>
            <a:pPr indent="0" marL="0">
              <a:lnSpc>
                <a:spcPct val="100000"/>
              </a:lnSpc>
              <a:buNone/>
            </a:pPr>
            <a:r>
              <a:rPr lang="en-US" sz="850" dirty="0">
                <a:solidFill>
                  <a:srgbClr val="5F6B76"/>
                </a:solidFill>
                <a:latin typeface="Cambria" pitchFamily="34" charset="0"/>
                <a:ea typeface="Cambria" pitchFamily="34" charset="-122"/>
                <a:cs typeface="Cambria" pitchFamily="34" charset="-120"/>
              </a:rPr>
              <a:t>license nuôi mở rộng; LLM cost thấp</a:t>
            </a:r>
            <a:endParaRPr lang="en-US" sz="800" dirty="0"/>
          </a:p>
        </p:txBody>
      </p:sp>
      <p:sp>
        <p:nvSpPr>
          <p:cNvPr id="36" name="Shape 34"/>
          <p:cNvSpPr/>
          <p:nvPr/>
        </p:nvSpPr>
        <p:spPr>
          <a:xfrm>
            <a:off x="640080" y="6455664"/>
            <a:ext cx="10908792" cy="0"/>
          </a:xfrm>
          <a:prstGeom prst="line">
            <a:avLst/>
          </a:prstGeom>
          <a:noFill/>
          <a:ln w="6350">
            <a:solidFill>
              <a:srgbClr val="C9CFD6"/>
            </a:solidFill>
            <a:prstDash val="solid"/>
          </a:ln>
        </p:spPr>
      </p:sp>
      <p:sp>
        <p:nvSpPr>
          <p:cNvPr id="37" name="Text 35"/>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38" name="Text 36"/>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7772400" cy="237744"/>
          </a:xfrm>
          <a:prstGeom prst="rect">
            <a:avLst/>
          </a:prstGeom>
          <a:noFill/>
          <a:ln/>
        </p:spPr>
        <p:txBody>
          <a:bodyPr wrap="square" lIns="0" tIns="0" rIns="0" bIns="0" rtlCol="0" anchor="ctr"/>
          <a:lstStyle/>
          <a:p>
            <a:pPr indent="0" marL="0">
              <a:buNone/>
            </a:pPr>
            <a:r>
              <a:rPr lang="en-US" sz="1000" b="1" dirty="0">
                <a:solidFill>
                  <a:srgbClr val="5F6B76"/>
                </a:solidFill>
                <a:latin typeface="Courier New" pitchFamily="34" charset="0"/>
                <a:ea typeface="Courier New" pitchFamily="34" charset="-122"/>
                <a:cs typeface="Courier New" pitchFamily="34" charset="-120"/>
              </a:rPr>
              <a:t>§ 5 · BẰNG CHỨNG &amp; GIỚI HẠN</a:t>
            </a:r>
            <a:endParaRPr lang="en-US" sz="1000" dirty="0"/>
          </a:p>
        </p:txBody>
      </p:sp>
      <p:sp>
        <p:nvSpPr>
          <p:cNvPr id="3" name="Text 1"/>
          <p:cNvSpPr/>
          <p:nvPr/>
        </p:nvSpPr>
        <p:spPr>
          <a:xfrm>
            <a:off x="7315200" y="347472"/>
            <a:ext cx="4233672" cy="219456"/>
          </a:xfrm>
          <a:prstGeom prst="rect">
            <a:avLst/>
          </a:prstGeom>
          <a:noFill/>
          <a:ln/>
        </p:spPr>
        <p:txBody>
          <a:bodyPr wrap="square" lIns="0" tIns="0" rIns="0" bIns="0" rtlCol="0" anchor="ctr"/>
          <a:lstStyle/>
          <a:p>
            <a:pPr algn="r" indent="0" marL="0">
              <a:buNone/>
            </a:pPr>
            <a:r>
              <a:rPr lang="en-US" sz="800" dirty="0">
                <a:solidFill>
                  <a:srgbClr val="5F6B76"/>
                </a:solidFill>
                <a:latin typeface="Courier New" pitchFamily="34" charset="0"/>
                <a:ea typeface="Courier New" pitchFamily="34" charset="-122"/>
                <a:cs typeface="Courier New" pitchFamily="34" charset="-120"/>
              </a:rPr>
              <a:t>REGVAULT · VAIC 2026 · SHB1</a:t>
            </a:r>
            <a:endParaRPr lang="en-US" sz="800" dirty="0"/>
          </a:p>
        </p:txBody>
      </p:sp>
      <p:sp>
        <p:nvSpPr>
          <p:cNvPr id="4" name="Text 2"/>
          <p:cNvSpPr/>
          <p:nvPr/>
        </p:nvSpPr>
        <p:spPr>
          <a:xfrm>
            <a:off x="640080" y="585216"/>
            <a:ext cx="10908792" cy="603504"/>
          </a:xfrm>
          <a:prstGeom prst="rect">
            <a:avLst/>
          </a:prstGeom>
          <a:noFill/>
          <a:ln/>
        </p:spPr>
        <p:txBody>
          <a:bodyPr wrap="square" lIns="0" tIns="0" rIns="0" bIns="0" rtlCol="0" anchor="t"/>
          <a:lstStyle/>
          <a:p>
            <a:pPr indent="0" marL="0">
              <a:lnSpc>
                <a:spcPct val="102000"/>
              </a:lnSpc>
              <a:buNone/>
            </a:pPr>
            <a:r>
              <a:rPr lang="en-US" sz="2600" b="1" dirty="0">
                <a:solidFill>
                  <a:srgbClr val="111418"/>
                </a:solidFill>
                <a:latin typeface="Cambria" pitchFamily="34" charset="0"/>
                <a:ea typeface="Cambria" pitchFamily="34" charset="-122"/>
                <a:cs typeface="Cambria" pitchFamily="34" charset="-120"/>
              </a:rPr>
              <a:t>Code tất định quyết — đúng bất kể LLM nào viết văn.</a:t>
            </a:r>
            <a:endParaRPr lang="en-US" sz="2600" dirty="0"/>
          </a:p>
        </p:txBody>
      </p:sp>
      <p:sp>
        <p:nvSpPr>
          <p:cNvPr id="5" name="Shape 3"/>
          <p:cNvSpPr/>
          <p:nvPr/>
        </p:nvSpPr>
        <p:spPr>
          <a:xfrm>
            <a:off x="640080" y="1316736"/>
            <a:ext cx="10908792" cy="0"/>
          </a:xfrm>
          <a:prstGeom prst="line">
            <a:avLst/>
          </a:prstGeom>
          <a:noFill/>
          <a:ln w="22225">
            <a:solidFill>
              <a:srgbClr val="111418"/>
            </a:solidFill>
            <a:prstDash val="solid"/>
          </a:ln>
        </p:spPr>
      </p:sp>
      <p:graphicFrame>
        <p:nvGraphicFramePr>
          <p:cNvPr id="6" name="Chart 0" descr=""/>
          <p:cNvGraphicFramePr/>
          <p:nvPr/>
        </p:nvGraphicFramePr>
        <p:xfrm>
          <a:off x="640080" y="1600200"/>
          <a:ext cx="594360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40080" y="5029200"/>
            <a:ext cx="5943600" cy="0"/>
          </a:xfrm>
          <a:prstGeom prst="line">
            <a:avLst/>
          </a:prstGeom>
          <a:noFill/>
          <a:ln w="6350">
            <a:solidFill>
              <a:srgbClr val="C9CFD6"/>
            </a:solidFill>
            <a:prstDash val="solid"/>
          </a:ln>
        </p:spPr>
      </p:sp>
      <p:sp>
        <p:nvSpPr>
          <p:cNvPr id="8" name="Text 5"/>
          <p:cNvSpPr/>
          <p:nvPr/>
        </p:nvSpPr>
        <p:spPr>
          <a:xfrm>
            <a:off x="640080" y="5074920"/>
            <a:ext cx="5943600" cy="457200"/>
          </a:xfrm>
          <a:prstGeom prst="rect">
            <a:avLst/>
          </a:prstGeom>
          <a:noFill/>
          <a:ln/>
        </p:spPr>
        <p:txBody>
          <a:bodyPr wrap="square" lIns="0" tIns="0" rIns="0" bIns="0" rtlCol="0" anchor="t"/>
          <a:lstStyle/>
          <a:p>
            <a:pPr indent="0" marL="0">
              <a:lnSpc>
                <a:spcPct val="105000"/>
              </a:lnSpc>
              <a:buNone/>
            </a:pPr>
            <a:r>
              <a:rPr lang="en-US" sz="900" i="1" dirty="0">
                <a:solidFill>
                  <a:srgbClr val="5F6B76"/>
                </a:solidFill>
                <a:latin typeface="Cambria" pitchFamily="34" charset="0"/>
                <a:ea typeface="Cambria" pitchFamily="34" charset="-122"/>
                <a:cs typeface="Cambria" pitchFamily="34" charset="-120"/>
              </a:rPr>
              <a:t>Hình 7 — Benchmark 22 câu hỏi vàng (%; cao hơn = tốt). Thêm: tỷ lệ bằng chứng đã bị thay thế 26,3% so với 52,6% (thấp = tốt). Tái lập: python -m eval.run_eval</a:t>
            </a:r>
            <a:endParaRPr lang="en-US" sz="900" dirty="0"/>
          </a:p>
        </p:txBody>
      </p:sp>
      <p:sp>
        <p:nvSpPr>
          <p:cNvPr id="9" name="Text 6"/>
          <p:cNvSpPr/>
          <p:nvPr/>
        </p:nvSpPr>
        <p:spPr>
          <a:xfrm>
            <a:off x="640080" y="5806440"/>
            <a:ext cx="5943600" cy="502920"/>
          </a:xfrm>
          <a:prstGeom prst="rect">
            <a:avLst/>
          </a:prstGeom>
          <a:noFill/>
          <a:ln/>
        </p:spPr>
        <p:txBody>
          <a:bodyPr wrap="square" lIns="0" tIns="0" rIns="0" bIns="0" rtlCol="0" anchor="t"/>
          <a:lstStyle/>
          <a:p>
            <a:pPr indent="0" marL="0">
              <a:lnSpc>
                <a:spcPct val="110000"/>
              </a:lnSpc>
              <a:buNone/>
            </a:pPr>
            <a:r>
              <a:rPr lang="en-US" sz="850" i="1" dirty="0">
                <a:solidFill>
                  <a:srgbClr val="5F6B76"/>
                </a:solidFill>
                <a:latin typeface="Cambria" pitchFamily="34" charset="0"/>
                <a:ea typeface="Cambria" pitchFamily="34" charset="-122"/>
                <a:cs typeface="Cambria" pitchFamily="34" charset="-120"/>
              </a:rPr>
              <a:t>9/9 kiểm tra nghiệm thu tất định pass trực tiếp — điểm-thời-gian, trích dẫn, từ chối, cờ xung đột 700/600, radar policy, so sánh đối đầu.</a:t>
            </a:r>
            <a:endParaRPr lang="en-US" sz="850" dirty="0"/>
          </a:p>
        </p:txBody>
      </p:sp>
      <p:sp>
        <p:nvSpPr>
          <p:cNvPr id="10" name="Shape 7"/>
          <p:cNvSpPr/>
          <p:nvPr/>
        </p:nvSpPr>
        <p:spPr>
          <a:xfrm>
            <a:off x="6949440" y="1600200"/>
            <a:ext cx="4599432" cy="0"/>
          </a:xfrm>
          <a:prstGeom prst="line">
            <a:avLst/>
          </a:prstGeom>
          <a:noFill/>
          <a:ln w="19050">
            <a:solidFill>
              <a:srgbClr val="111418"/>
            </a:solidFill>
            <a:prstDash val="solid"/>
          </a:ln>
        </p:spPr>
      </p:sp>
      <p:sp>
        <p:nvSpPr>
          <p:cNvPr id="11" name="Text 8"/>
          <p:cNvSpPr/>
          <p:nvPr/>
        </p:nvSpPr>
        <p:spPr>
          <a:xfrm>
            <a:off x="6949440" y="1737360"/>
            <a:ext cx="4599432" cy="219456"/>
          </a:xfrm>
          <a:prstGeom prst="rect">
            <a:avLst/>
          </a:prstGeom>
          <a:noFill/>
          <a:ln/>
        </p:spPr>
        <p:txBody>
          <a:bodyPr wrap="square" lIns="0" tIns="0" rIns="0" bIns="0" rtlCol="0" anchor="ctr"/>
          <a:lstStyle/>
          <a:p>
            <a:pPr indent="0" marL="0">
              <a:buNone/>
            </a:pPr>
            <a:r>
              <a:rPr lang="en-US" sz="850" b="1" spc="150" kern="0" dirty="0">
                <a:solidFill>
                  <a:srgbClr val="B31B1B"/>
                </a:solidFill>
                <a:latin typeface="Courier New" pitchFamily="34" charset="0"/>
                <a:ea typeface="Courier New" pitchFamily="34" charset="-122"/>
                <a:cs typeface="Courier New" pitchFamily="34" charset="-120"/>
              </a:rPr>
              <a:t>NHỮNG ĐIỀU KHÔNG TUYÊN BỐ</a:t>
            </a:r>
            <a:endParaRPr lang="en-US" sz="850" dirty="0"/>
          </a:p>
        </p:txBody>
      </p:sp>
      <p:sp>
        <p:nvSpPr>
          <p:cNvPr id="12" name="Text 9"/>
          <p:cNvSpPr/>
          <p:nvPr/>
        </p:nvSpPr>
        <p:spPr>
          <a:xfrm>
            <a:off x="6949440" y="2057400"/>
            <a:ext cx="4599432" cy="603504"/>
          </a:xfrm>
          <a:prstGeom prst="rect">
            <a:avLst/>
          </a:prstGeom>
          <a:noFill/>
          <a:ln/>
        </p:spPr>
        <p:txBody>
          <a:bodyPr wrap="square" lIns="0" tIns="0" rIns="0" bIns="0" rtlCol="0" anchor="t"/>
          <a:lstStyle/>
          <a:p>
            <a:pPr indent="0" marL="0">
              <a:lnSpc>
                <a:spcPct val="110000"/>
              </a:lnSpc>
              <a:buNone/>
            </a:pPr>
            <a:r>
              <a:rPr lang="en-US" sz="900" b="1" dirty="0">
                <a:solidFill>
                  <a:srgbClr val="5F6B76"/>
                </a:solidFill>
                <a:latin typeface="Courier New" pitchFamily="34" charset="0"/>
                <a:ea typeface="Courier New" pitchFamily="34" charset="-122"/>
                <a:cs typeface="Courier New" pitchFamily="34" charset="-120"/>
              </a:rPr>
              <a:t>1.  </a:t>
            </a:r>
            <a:pPr indent="0" marL="0">
              <a:lnSpc>
                <a:spcPct val="110000"/>
              </a:lnSpc>
              <a:buNone/>
            </a:pPr>
            <a:r>
              <a:rPr lang="en-US" sz="980" dirty="0">
                <a:solidFill>
                  <a:srgbClr val="111418"/>
                </a:solidFill>
                <a:latin typeface="Cambria" pitchFamily="34" charset="0"/>
                <a:ea typeface="Cambria" pitchFamily="34" charset="-122"/>
                <a:cs typeface="Cambria" pitchFamily="34" charset="-120"/>
              </a:rPr>
              <a:t>Không phải “chatbot GraphRAG” — là nền tảng luồng nghiệp vụ tuân thủ.</a:t>
            </a:r>
            <a:endParaRPr lang="en-US" sz="900" dirty="0"/>
          </a:p>
        </p:txBody>
      </p:sp>
      <p:sp>
        <p:nvSpPr>
          <p:cNvPr id="13" name="Text 10"/>
          <p:cNvSpPr/>
          <p:nvPr/>
        </p:nvSpPr>
        <p:spPr>
          <a:xfrm>
            <a:off x="6949440" y="2679192"/>
            <a:ext cx="4599432" cy="603504"/>
          </a:xfrm>
          <a:prstGeom prst="rect">
            <a:avLst/>
          </a:prstGeom>
          <a:noFill/>
          <a:ln/>
        </p:spPr>
        <p:txBody>
          <a:bodyPr wrap="square" lIns="0" tIns="0" rIns="0" bIns="0" rtlCol="0" anchor="t"/>
          <a:lstStyle/>
          <a:p>
            <a:pPr indent="0" marL="0">
              <a:lnSpc>
                <a:spcPct val="110000"/>
              </a:lnSpc>
              <a:buNone/>
            </a:pPr>
            <a:r>
              <a:rPr lang="en-US" sz="900" b="1" dirty="0">
                <a:solidFill>
                  <a:srgbClr val="5F6B76"/>
                </a:solidFill>
                <a:latin typeface="Courier New" pitchFamily="34" charset="0"/>
                <a:ea typeface="Courier New" pitchFamily="34" charset="-122"/>
                <a:cs typeface="Courier New" pitchFamily="34" charset="-120"/>
              </a:rPr>
              <a:t>2.  </a:t>
            </a:r>
            <a:pPr indent="0" marL="0">
              <a:lnSpc>
                <a:spcPct val="110000"/>
              </a:lnSpc>
              <a:buNone/>
            </a:pPr>
            <a:r>
              <a:rPr lang="en-US" sz="980" dirty="0">
                <a:solidFill>
                  <a:srgbClr val="111418"/>
                </a:solidFill>
                <a:latin typeface="Cambria" pitchFamily="34" charset="0"/>
                <a:ea typeface="Cambria" pitchFamily="34" charset="-122"/>
                <a:cs typeface="Cambria" pitchFamily="34" charset="-120"/>
              </a:rPr>
              <a:t>Không tự đưa kết luận pháp lý cuối cùng — AI đề xuất, cán bộ Tuân thủ quyết định.</a:t>
            </a:r>
            <a:endParaRPr lang="en-US" sz="900" dirty="0"/>
          </a:p>
        </p:txBody>
      </p:sp>
      <p:sp>
        <p:nvSpPr>
          <p:cNvPr id="14" name="Text 11"/>
          <p:cNvSpPr/>
          <p:nvPr/>
        </p:nvSpPr>
        <p:spPr>
          <a:xfrm>
            <a:off x="6949440" y="3300984"/>
            <a:ext cx="4599432" cy="603504"/>
          </a:xfrm>
          <a:prstGeom prst="rect">
            <a:avLst/>
          </a:prstGeom>
          <a:noFill/>
          <a:ln/>
        </p:spPr>
        <p:txBody>
          <a:bodyPr wrap="square" lIns="0" tIns="0" rIns="0" bIns="0" rtlCol="0" anchor="t"/>
          <a:lstStyle/>
          <a:p>
            <a:pPr indent="0" marL="0">
              <a:lnSpc>
                <a:spcPct val="110000"/>
              </a:lnSpc>
              <a:buNone/>
            </a:pPr>
            <a:r>
              <a:rPr lang="en-US" sz="900" b="1" dirty="0">
                <a:solidFill>
                  <a:srgbClr val="5F6B76"/>
                </a:solidFill>
                <a:latin typeface="Courier New" pitchFamily="34" charset="0"/>
                <a:ea typeface="Courier New" pitchFamily="34" charset="-122"/>
                <a:cs typeface="Courier New" pitchFamily="34" charset="-120"/>
              </a:rPr>
              <a:t>3.  </a:t>
            </a:r>
            <a:pPr indent="0" marL="0">
              <a:lnSpc>
                <a:spcPct val="110000"/>
              </a:lnSpc>
              <a:buNone/>
            </a:pPr>
            <a:r>
              <a:rPr lang="en-US" sz="980" dirty="0">
                <a:solidFill>
                  <a:srgbClr val="111418"/>
                </a:solidFill>
                <a:latin typeface="Cambria" pitchFamily="34" charset="0"/>
                <a:ea typeface="Cambria" pitchFamily="34" charset="-122"/>
                <a:cs typeface="Cambria" pitchFamily="34" charset="-120"/>
              </a:rPr>
              <a:t>File upload không bao giờ tự động vào kho tri thức.</a:t>
            </a:r>
            <a:endParaRPr lang="en-US" sz="900" dirty="0"/>
          </a:p>
        </p:txBody>
      </p:sp>
      <p:sp>
        <p:nvSpPr>
          <p:cNvPr id="15" name="Text 12"/>
          <p:cNvSpPr/>
          <p:nvPr/>
        </p:nvSpPr>
        <p:spPr>
          <a:xfrm>
            <a:off x="6949440" y="3922776"/>
            <a:ext cx="4599432" cy="603504"/>
          </a:xfrm>
          <a:prstGeom prst="rect">
            <a:avLst/>
          </a:prstGeom>
          <a:noFill/>
          <a:ln/>
        </p:spPr>
        <p:txBody>
          <a:bodyPr wrap="square" lIns="0" tIns="0" rIns="0" bIns="0" rtlCol="0" anchor="t"/>
          <a:lstStyle/>
          <a:p>
            <a:pPr indent="0" marL="0">
              <a:lnSpc>
                <a:spcPct val="110000"/>
              </a:lnSpc>
              <a:buNone/>
            </a:pPr>
            <a:r>
              <a:rPr lang="en-US" sz="900" b="1" dirty="0">
                <a:solidFill>
                  <a:srgbClr val="5F6B76"/>
                </a:solidFill>
                <a:latin typeface="Courier New" pitchFamily="34" charset="0"/>
                <a:ea typeface="Courier New" pitchFamily="34" charset="-122"/>
                <a:cs typeface="Courier New" pitchFamily="34" charset="-120"/>
              </a:rPr>
              <a:t>4.  </a:t>
            </a:r>
            <a:pPr indent="0" marL="0">
              <a:lnSpc>
                <a:spcPct val="110000"/>
              </a:lnSpc>
              <a:buNone/>
            </a:pPr>
            <a:r>
              <a:rPr lang="en-US" sz="980" dirty="0">
                <a:solidFill>
                  <a:srgbClr val="111418"/>
                </a:solidFill>
                <a:latin typeface="Cambria" pitchFamily="34" charset="0"/>
                <a:ea typeface="Cambria" pitchFamily="34" charset="-122"/>
                <a:cs typeface="Cambria" pitchFamily="34" charset="-120"/>
              </a:rPr>
              <a:t>Xung đột &amp; tác động là ứng viên chờ người duyệt, không phải phán quyết.</a:t>
            </a:r>
            <a:endParaRPr lang="en-US" sz="900" dirty="0"/>
          </a:p>
        </p:txBody>
      </p:sp>
      <p:sp>
        <p:nvSpPr>
          <p:cNvPr id="16" name="Text 13"/>
          <p:cNvSpPr/>
          <p:nvPr/>
        </p:nvSpPr>
        <p:spPr>
          <a:xfrm>
            <a:off x="6949440" y="4544568"/>
            <a:ext cx="4599432" cy="603504"/>
          </a:xfrm>
          <a:prstGeom prst="rect">
            <a:avLst/>
          </a:prstGeom>
          <a:noFill/>
          <a:ln/>
        </p:spPr>
        <p:txBody>
          <a:bodyPr wrap="square" lIns="0" tIns="0" rIns="0" bIns="0" rtlCol="0" anchor="t"/>
          <a:lstStyle/>
          <a:p>
            <a:pPr indent="0" marL="0">
              <a:lnSpc>
                <a:spcPct val="110000"/>
              </a:lnSpc>
              <a:buNone/>
            </a:pPr>
            <a:r>
              <a:rPr lang="en-US" sz="900" b="1" dirty="0">
                <a:solidFill>
                  <a:srgbClr val="5F6B76"/>
                </a:solidFill>
                <a:latin typeface="Courier New" pitchFamily="34" charset="0"/>
                <a:ea typeface="Courier New" pitchFamily="34" charset="-122"/>
                <a:cs typeface="Courier New" pitchFamily="34" charset="-120"/>
              </a:rPr>
              <a:t>5.  </a:t>
            </a:r>
            <a:pPr indent="0" marL="0">
              <a:lnSpc>
                <a:spcPct val="110000"/>
              </a:lnSpc>
              <a:buNone/>
            </a:pPr>
            <a:r>
              <a:rPr lang="en-US" sz="980" dirty="0">
                <a:solidFill>
                  <a:srgbClr val="111418"/>
                </a:solidFill>
                <a:latin typeface="Cambria" pitchFamily="34" charset="0"/>
                <a:ea typeface="Cambria" pitchFamily="34" charset="-122"/>
                <a:cs typeface="Cambria" pitchFamily="34" charset="-120"/>
              </a:rPr>
              <a:t>Số phụ thuộc generation đo bằng mock LLM offline — cận dưới, nói rõ.</a:t>
            </a:r>
            <a:endParaRPr lang="en-US" sz="900" dirty="0"/>
          </a:p>
        </p:txBody>
      </p:sp>
      <p:sp>
        <p:nvSpPr>
          <p:cNvPr id="17" name="Text 14"/>
          <p:cNvSpPr/>
          <p:nvPr/>
        </p:nvSpPr>
        <p:spPr>
          <a:xfrm>
            <a:off x="6949440" y="5166360"/>
            <a:ext cx="4599432" cy="603504"/>
          </a:xfrm>
          <a:prstGeom prst="rect">
            <a:avLst/>
          </a:prstGeom>
          <a:noFill/>
          <a:ln/>
        </p:spPr>
        <p:txBody>
          <a:bodyPr wrap="square" lIns="0" tIns="0" rIns="0" bIns="0" rtlCol="0" anchor="t"/>
          <a:lstStyle/>
          <a:p>
            <a:pPr indent="0" marL="0">
              <a:lnSpc>
                <a:spcPct val="110000"/>
              </a:lnSpc>
              <a:buNone/>
            </a:pPr>
            <a:r>
              <a:rPr lang="en-US" sz="900" b="1" dirty="0">
                <a:solidFill>
                  <a:srgbClr val="5F6B76"/>
                </a:solidFill>
                <a:latin typeface="Courier New" pitchFamily="34" charset="0"/>
                <a:ea typeface="Courier New" pitchFamily="34" charset="-122"/>
                <a:cs typeface="Courier New" pitchFamily="34" charset="-120"/>
              </a:rPr>
              <a:t>6.  </a:t>
            </a:r>
            <a:pPr indent="0" marL="0">
              <a:lnSpc>
                <a:spcPct val="110000"/>
              </a:lnSpc>
              <a:buNone/>
            </a:pPr>
            <a:r>
              <a:rPr lang="en-US" sz="980" dirty="0">
                <a:solidFill>
                  <a:srgbClr val="111418"/>
                </a:solidFill>
                <a:latin typeface="Cambria" pitchFamily="34" charset="0"/>
                <a:ea typeface="Cambria" pitchFamily="34" charset="-122"/>
                <a:cs typeface="Cambria" pitchFamily="34" charset="-120"/>
              </a:rPr>
              <a:t>Giới hạn: OCR font scan cũ chưa bật · claim thuần ngữ nghĩa → người duyệt · xuất DOCX/PDF là roadmap.</a:t>
            </a:r>
            <a:endParaRPr lang="en-US" sz="900" dirty="0"/>
          </a:p>
        </p:txBody>
      </p:sp>
      <p:sp>
        <p:nvSpPr>
          <p:cNvPr id="18" name="Shape 15"/>
          <p:cNvSpPr/>
          <p:nvPr/>
        </p:nvSpPr>
        <p:spPr>
          <a:xfrm>
            <a:off x="6949440" y="5806440"/>
            <a:ext cx="4599432" cy="0"/>
          </a:xfrm>
          <a:prstGeom prst="line">
            <a:avLst/>
          </a:prstGeom>
          <a:noFill/>
          <a:ln w="9525">
            <a:solidFill>
              <a:srgbClr val="111418"/>
            </a:solidFill>
            <a:prstDash val="solid"/>
          </a:ln>
        </p:spPr>
      </p:sp>
      <p:sp>
        <p:nvSpPr>
          <p:cNvPr id="19" name="Text 16"/>
          <p:cNvSpPr/>
          <p:nvPr/>
        </p:nvSpPr>
        <p:spPr>
          <a:xfrm>
            <a:off x="6949440" y="5925312"/>
            <a:ext cx="4599432" cy="365760"/>
          </a:xfrm>
          <a:prstGeom prst="rect">
            <a:avLst/>
          </a:prstGeom>
          <a:noFill/>
          <a:ln/>
        </p:spPr>
        <p:txBody>
          <a:bodyPr wrap="square" lIns="0" tIns="0" rIns="0" bIns="0" rtlCol="0" anchor="ctr"/>
          <a:lstStyle/>
          <a:p>
            <a:pPr indent="0" marL="0">
              <a:buNone/>
            </a:pPr>
            <a:r>
              <a:rPr lang="en-US" sz="1050" b="1" i="1" dirty="0">
                <a:solidFill>
                  <a:srgbClr val="B31B1B"/>
                </a:solidFill>
                <a:latin typeface="Cambria" pitchFamily="34" charset="0"/>
                <a:ea typeface="Cambria" pitchFamily="34" charset="-122"/>
                <a:cs typeface="Cambria" pitchFamily="34" charset="-120"/>
              </a:rPr>
              <a:t>Trung thực về giới hạn chính là một tính năng của sản phẩm tuân thủ.</a:t>
            </a:r>
            <a:endParaRPr lang="en-US" sz="1050" dirty="0"/>
          </a:p>
        </p:txBody>
      </p:sp>
      <p:sp>
        <p:nvSpPr>
          <p:cNvPr id="20" name="Shape 17"/>
          <p:cNvSpPr/>
          <p:nvPr/>
        </p:nvSpPr>
        <p:spPr>
          <a:xfrm>
            <a:off x="640080" y="6455664"/>
            <a:ext cx="10908792" cy="0"/>
          </a:xfrm>
          <a:prstGeom prst="line">
            <a:avLst/>
          </a:prstGeom>
          <a:noFill/>
          <a:ln w="6350">
            <a:solidFill>
              <a:srgbClr val="C9CFD6"/>
            </a:solidFill>
            <a:prstDash val="solid"/>
          </a:ln>
        </p:spPr>
      </p:sp>
      <p:sp>
        <p:nvSpPr>
          <p:cNvPr id="21" name="Text 18"/>
          <p:cNvSpPr/>
          <p:nvPr/>
        </p:nvSpPr>
        <p:spPr>
          <a:xfrm>
            <a:off x="640080" y="6510528"/>
            <a:ext cx="5486400" cy="201168"/>
          </a:xfrm>
          <a:prstGeom prst="rect">
            <a:avLst/>
          </a:prstGeom>
          <a:noFill/>
          <a:ln/>
        </p:spPr>
        <p:txBody>
          <a:bodyPr wrap="square" lIns="0" tIns="0" rIns="0" bIns="0" rtlCol="0" anchor="ctr"/>
          <a:lstStyle/>
          <a:p>
            <a:pPr indent="0" marL="0">
              <a:buNone/>
            </a:pPr>
            <a:r>
              <a:rPr lang="en-US" sz="750" dirty="0">
                <a:solidFill>
                  <a:srgbClr val="5F6B76"/>
                </a:solidFill>
                <a:latin typeface="Courier New" pitchFamily="34" charset="0"/>
                <a:ea typeface="Courier New" pitchFamily="34" charset="-122"/>
                <a:cs typeface="Courier New" pitchFamily="34" charset="-120"/>
              </a:rPr>
              <a:t>RegVault — Check-point 1: Idea Evaluation</a:t>
            </a:r>
            <a:endParaRPr lang="en-US" sz="750" dirty="0"/>
          </a:p>
        </p:txBody>
      </p:sp>
      <p:sp>
        <p:nvSpPr>
          <p:cNvPr id="22" name="Text 19"/>
          <p:cNvSpPr/>
          <p:nvPr/>
        </p:nvSpPr>
        <p:spPr>
          <a:xfrm>
            <a:off x="10881360" y="6510528"/>
            <a:ext cx="667512" cy="201168"/>
          </a:xfrm>
          <a:prstGeom prst="rect">
            <a:avLst/>
          </a:prstGeom>
          <a:noFill/>
          <a:ln/>
        </p:spPr>
        <p:txBody>
          <a:bodyPr wrap="square" lIns="0" tIns="0" rIns="0" bIns="0" rtlCol="0" anchor="ctr"/>
          <a:lstStyle/>
          <a:p>
            <a:pPr algn="r" indent="0" marL="0">
              <a:buNone/>
            </a:pPr>
            <a:r>
              <a:rPr lang="en-US" sz="750" dirty="0">
                <a:solidFill>
                  <a:srgbClr val="5F6B76"/>
                </a:solidFill>
                <a:latin typeface="Courier New" pitchFamily="34" charset="0"/>
                <a:ea typeface="Courier New" pitchFamily="34" charset="-122"/>
                <a:cs typeface="Courier New"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640080"/>
            <a:ext cx="10360152" cy="237744"/>
          </a:xfrm>
          <a:prstGeom prst="rect">
            <a:avLst/>
          </a:prstGeom>
          <a:noFill/>
          <a:ln/>
        </p:spPr>
        <p:txBody>
          <a:bodyPr wrap="square" lIns="0" tIns="0" rIns="0" bIns="0" rtlCol="0" anchor="ctr"/>
          <a:lstStyle/>
          <a:p>
            <a:pPr algn="ctr" indent="0" marL="0">
              <a:buNone/>
            </a:pPr>
            <a:r>
              <a:rPr lang="en-US" sz="900" spc="200" kern="0" dirty="0">
                <a:solidFill>
                  <a:srgbClr val="5F6B76"/>
                </a:solidFill>
                <a:latin typeface="Courier New" pitchFamily="34" charset="0"/>
                <a:ea typeface="Courier New" pitchFamily="34" charset="-122"/>
                <a:cs typeface="Courier New" pitchFamily="34" charset="-120"/>
              </a:rPr>
              <a:t>REGVAULT · VAIC 2026 · SHB1</a:t>
            </a:r>
            <a:endParaRPr lang="en-US" sz="900" dirty="0"/>
          </a:p>
        </p:txBody>
      </p:sp>
      <p:sp>
        <p:nvSpPr>
          <p:cNvPr id="3" name="Shape 1"/>
          <p:cNvSpPr/>
          <p:nvPr/>
        </p:nvSpPr>
        <p:spPr>
          <a:xfrm>
            <a:off x="2194560" y="1874520"/>
            <a:ext cx="7799832" cy="0"/>
          </a:xfrm>
          <a:prstGeom prst="line">
            <a:avLst/>
          </a:prstGeom>
          <a:noFill/>
          <a:ln w="22225">
            <a:solidFill>
              <a:srgbClr val="111418"/>
            </a:solidFill>
            <a:prstDash val="solid"/>
          </a:ln>
        </p:spPr>
      </p:sp>
      <p:sp>
        <p:nvSpPr>
          <p:cNvPr id="4" name="Text 2"/>
          <p:cNvSpPr/>
          <p:nvPr/>
        </p:nvSpPr>
        <p:spPr>
          <a:xfrm>
            <a:off x="1280160" y="2148840"/>
            <a:ext cx="9628632" cy="1234440"/>
          </a:xfrm>
          <a:prstGeom prst="rect">
            <a:avLst/>
          </a:prstGeom>
          <a:noFill/>
          <a:ln/>
        </p:spPr>
        <p:txBody>
          <a:bodyPr wrap="square" lIns="0" tIns="0" rIns="0" bIns="0" rtlCol="0" anchor="ctr"/>
          <a:lstStyle/>
          <a:p>
            <a:pPr algn="ctr" indent="0" marL="0">
              <a:lnSpc>
                <a:spcPct val="120000"/>
              </a:lnSpc>
              <a:buNone/>
            </a:pPr>
            <a:r>
              <a:rPr lang="en-US" sz="2200" b="1" dirty="0">
                <a:solidFill>
                  <a:srgbClr val="111418"/>
                </a:solidFill>
                <a:latin typeface="Cambria" pitchFamily="34" charset="0"/>
                <a:ea typeface="Cambria" pitchFamily="34" charset="-122"/>
                <a:cs typeface="Cambria" pitchFamily="34" charset="-120"/>
              </a:rPr>
              <a:t>Một luồng xác minh quy định trước khi vào két.</a:t>
            </a:r>
            <a:endParaRPr lang="en-US" sz="2200" dirty="0"/>
          </a:p>
          <a:p>
            <a:pPr algn="ctr" indent="0" marL="0">
              <a:lnSpc>
                <a:spcPct val="120000"/>
              </a:lnSpc>
              <a:buNone/>
            </a:pPr>
            <a:r>
              <a:rPr lang="en-US" sz="2200" b="1" dirty="0">
                <a:solidFill>
                  <a:srgbClr val="111418"/>
                </a:solidFill>
                <a:latin typeface="Cambria" pitchFamily="34" charset="0"/>
                <a:ea typeface="Cambria" pitchFamily="34" charset="-122"/>
                <a:cs typeface="Cambria" pitchFamily="34" charset="-120"/>
              </a:rPr>
              <a:t>Một luồng dùng két đã xác minh để kiểm tra mọi policy và báo cáo.</a:t>
            </a:r>
            <a:endParaRPr lang="en-US" sz="2200" dirty="0"/>
          </a:p>
        </p:txBody>
      </p:sp>
      <p:sp>
        <p:nvSpPr>
          <p:cNvPr id="5" name="Text 3"/>
          <p:cNvSpPr/>
          <p:nvPr/>
        </p:nvSpPr>
        <p:spPr>
          <a:xfrm>
            <a:off x="1737360" y="3520440"/>
            <a:ext cx="8714232" cy="411480"/>
          </a:xfrm>
          <a:prstGeom prst="rect">
            <a:avLst/>
          </a:prstGeom>
          <a:noFill/>
          <a:ln/>
        </p:spPr>
        <p:txBody>
          <a:bodyPr wrap="square" lIns="0" tIns="0" rIns="0" bIns="0" rtlCol="0" anchor="ctr"/>
          <a:lstStyle/>
          <a:p>
            <a:pPr algn="ctr" indent="0" marL="0">
              <a:buNone/>
            </a:pPr>
            <a:r>
              <a:rPr lang="en-US" sz="1250" i="1" dirty="0">
                <a:solidFill>
                  <a:srgbClr val="5F6B76"/>
                </a:solidFill>
                <a:latin typeface="Cambria" pitchFamily="34" charset="0"/>
                <a:ea typeface="Cambria" pitchFamily="34" charset="-122"/>
                <a:cs typeface="Cambria" pitchFamily="34" charset="-120"/>
              </a:rPr>
              <a:t>Không tài liệu nào thành căn cứ chỉ vì được upload — và mọi câu trả lời đều đối diện được với kiểm toán.</a:t>
            </a:r>
            <a:endParaRPr lang="en-US" sz="1250" dirty="0"/>
          </a:p>
        </p:txBody>
      </p:sp>
      <p:sp>
        <p:nvSpPr>
          <p:cNvPr id="6" name="Shape 4"/>
          <p:cNvSpPr/>
          <p:nvPr/>
        </p:nvSpPr>
        <p:spPr>
          <a:xfrm>
            <a:off x="2194560" y="4160520"/>
            <a:ext cx="7799832" cy="0"/>
          </a:xfrm>
          <a:prstGeom prst="line">
            <a:avLst/>
          </a:prstGeom>
          <a:noFill/>
          <a:ln w="22225">
            <a:solidFill>
              <a:srgbClr val="111418"/>
            </a:solidFill>
            <a:prstDash val="solid"/>
          </a:ln>
        </p:spPr>
      </p:sp>
      <p:sp>
        <p:nvSpPr>
          <p:cNvPr id="7" name="Text 5"/>
          <p:cNvSpPr/>
          <p:nvPr/>
        </p:nvSpPr>
        <p:spPr>
          <a:xfrm>
            <a:off x="1280160" y="4663440"/>
            <a:ext cx="9628632" cy="457200"/>
          </a:xfrm>
          <a:prstGeom prst="rect">
            <a:avLst/>
          </a:prstGeom>
          <a:noFill/>
          <a:ln/>
        </p:spPr>
        <p:txBody>
          <a:bodyPr wrap="square" lIns="0" tIns="0" rIns="0" bIns="0" rtlCol="0" anchor="ctr"/>
          <a:lstStyle/>
          <a:p>
            <a:pPr algn="ctr" indent="0" marL="0">
              <a:buNone/>
            </a:pPr>
            <a:r>
              <a:rPr lang="en-US" sz="1600" b="1" dirty="0">
                <a:solidFill>
                  <a:srgbClr val="B31B1B"/>
                </a:solidFill>
                <a:latin typeface="Cambria" pitchFamily="34" charset="0"/>
                <a:ea typeface="Cambria" pitchFamily="34" charset="-122"/>
                <a:cs typeface="Cambria" pitchFamily="34" charset="-120"/>
              </a:rPr>
              <a:t>Sẵn sàng pilot cùng SHB: một golden domain, sẵn sàng thanh tra, trong 6 tuần.</a:t>
            </a:r>
            <a:endParaRPr lang="en-US" sz="1600" dirty="0"/>
          </a:p>
        </p:txBody>
      </p:sp>
      <p:sp>
        <p:nvSpPr>
          <p:cNvPr id="8" name="Text 6"/>
          <p:cNvSpPr/>
          <p:nvPr/>
        </p:nvSpPr>
        <p:spPr>
          <a:xfrm>
            <a:off x="914400" y="5852160"/>
            <a:ext cx="10360152" cy="274320"/>
          </a:xfrm>
          <a:prstGeom prst="rect">
            <a:avLst/>
          </a:prstGeom>
          <a:noFill/>
          <a:ln/>
        </p:spPr>
        <p:txBody>
          <a:bodyPr wrap="square" lIns="0" tIns="0" rIns="0" bIns="0" rtlCol="0" anchor="ctr"/>
          <a:lstStyle/>
          <a:p>
            <a:pPr algn="ctr" indent="0" marL="0">
              <a:buNone/>
            </a:pPr>
            <a:r>
              <a:rPr lang="en-US" sz="900" dirty="0">
                <a:solidFill>
                  <a:srgbClr val="5F6B76"/>
                </a:solidFill>
                <a:latin typeface="Courier New" pitchFamily="34" charset="0"/>
                <a:ea typeface="Courier New" pitchFamily="34" charset="-122"/>
                <a:cs typeface="Courier New" pitchFamily="34" charset="-120"/>
              </a:rPr>
              <a:t>Demo trực tiếp: chạy offline — không Docker, không API key   ·   97 test   ·   python -m eval.run_eval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2026-07-18T11:46:12Z</dcterms:created>
  <dcterms:modified xsi:type="dcterms:W3CDTF">2026-07-18T11:46:12Z</dcterms:modified>
</cp:coreProperties>
</file>