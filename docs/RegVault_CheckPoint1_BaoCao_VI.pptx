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BGK. RegVault — nền tảng kho quy định đã xác minh và kiểm tra tuân thủ bằng AI cho ngân hàng. Đề SHB1.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hàng nghìn văn bản, sửa đổi nhiều lần, 2–3 giờ/ngày đối chiếu thủ công. Ví dụ cái bẫy 500 → 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Tên: Reg + Vault = két sắt quy định đã xác minh. Trust model: không file nào tự thành căn cứ pháp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tầng sản phẩm: lõi = sự chắc chắn kiểm toán được; hiện hữu = 2 workflow + panel bằng chứng; gia tăng = review, audit, crawler, on-prem.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A: nguồn pháp lý phải qua duyệt + cổng 409. Luồng B: chấm tuân thủ từng claim, 7 trạng thái. 4 điểm nhấn phía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B2B: chị Thu Hà. Nỗi sợ lớn nhất: trích dẫn sai phiên bản và không có vết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Đổi mới không nằm ở stack (đề bài phát sẵn) mà ở: lọc trước top-k, patch tất định, LLM bị nhốt, vết bằng chứng, chuẩn hóa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Khả thi: MVP đã chạy — 97 test, dữ liệu SBV thật, cổng 409 demo trực tiếp, chạy offline. USP nằm giữa vùng giao "khách hàng cần" ∩ "ta làm tốt".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BMC: đối tác SBV/SHB, nguồn lực lõi là temporal engine, doanh thu license + triển khai + gói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Tác động: an toàn hệ thống tài chính, ~19.000 giờ chuyên gia/năm mỗi ngân hàng, khuôn mẫu AI có trách nhiệm, bền vững tri thức + chữ G trong ESG.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PAM 22,3 tỷ USD toàn cầu; TAM ~190 tỷ VND/năm tại VN; SAM ~75 tỷ; SOM 3 năm ~15 tỷ ARR. ROI ~1,9× chưa tính tránh phạt.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4 làn sóng — SHB, ngân hàng VN, ngành được quản lý khác, ASEAN. Hệ thống mở rộng bằng dữ liệu, không phải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số: các chỉ số độc lập LLM thắng tuyệt đối. Bên phải: những điều KHÔNG tuyên bố — sự trưởng thành của sản phẩm tuân thủ.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hai luồng, một mô hình tin cậy. Sẵn sàng pilot cùng SHB. Cảm ơn BGK.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E"/>
        </a:solidFill>
      </p:bgPr>
    </p:bg>
    <p:spTree>
      <p:nvGrpSpPr>
        <p:cNvPr id="1" name=""/>
        <p:cNvGrpSpPr/>
        <p:nvPr/>
      </p:nvGrpSpPr>
      <p:grpSpPr>
        <a:xfrm>
          <a:off x="0" y="0"/>
          <a:ext cx="0" cy="0"/>
          <a:chOff x="0" y="0"/>
          <a:chExt cx="0" cy="0"/>
        </a:xfrm>
      </p:grpSpPr>
      <p:sp>
        <p:nvSpPr>
          <p:cNvPr id="2" name="Shape 0"/>
          <p:cNvSpPr/>
          <p:nvPr/>
        </p:nvSpPr>
        <p:spPr>
          <a:xfrm>
            <a:off x="5431536" y="777240"/>
            <a:ext cx="1325880" cy="1325880"/>
          </a:xfrm>
          <a:prstGeom prst="ellipse">
            <a:avLst/>
          </a:prstGeom>
          <a:solidFill>
            <a:srgbClr val="C9A227"/>
          </a:solidFill>
          <a:ln/>
        </p:spPr>
      </p:sp>
      <p:pic>
        <p:nvPicPr>
          <p:cNvPr id="3" name="Image 0" descr="icons/shield_n.png">    </p:cNvPr>
          <p:cNvPicPr>
            <a:picLocks noChangeAspect="1"/>
          </p:cNvPicPr>
          <p:nvPr/>
        </p:nvPicPr>
        <p:blipFill>
          <a:blip r:embed="rId1"/>
          <a:stretch>
            <a:fillRect/>
          </a:stretch>
        </p:blipFill>
        <p:spPr>
          <a:xfrm>
            <a:off x="5760720" y="1106424"/>
            <a:ext cx="667512" cy="667512"/>
          </a:xfrm>
          <a:prstGeom prst="rect">
            <a:avLst/>
          </a:prstGeom>
        </p:spPr>
      </p:pic>
      <p:sp>
        <p:nvSpPr>
          <p:cNvPr id="4" name="Text 1"/>
          <p:cNvSpPr/>
          <p:nvPr/>
        </p:nvSpPr>
        <p:spPr>
          <a:xfrm>
            <a:off x="1371600" y="2240280"/>
            <a:ext cx="9445752" cy="914400"/>
          </a:xfrm>
          <a:prstGeom prst="rect">
            <a:avLst/>
          </a:prstGeom>
          <a:noFill/>
          <a:ln/>
        </p:spPr>
        <p:txBody>
          <a:bodyPr wrap="square" lIns="0" tIns="0" rIns="0" bIns="0" rtlCol="0" anchor="ctr"/>
          <a:lstStyle/>
          <a:p>
            <a:pPr algn="ctr" indent="0" marL="0">
              <a:buNone/>
            </a:pPr>
            <a:r>
              <a:rPr lang="en-US" sz="5600" b="1" spc="600" kern="0" dirty="0">
                <a:solidFill>
                  <a:srgbClr val="FFFFFF"/>
                </a:solidFill>
                <a:latin typeface="Cambria" pitchFamily="34" charset="0"/>
                <a:ea typeface="Cambria" pitchFamily="34" charset="-122"/>
                <a:cs typeface="Cambria" pitchFamily="34" charset="-120"/>
              </a:rPr>
              <a:t>REGVAULT</a:t>
            </a:r>
            <a:endParaRPr lang="en-US" sz="5600" dirty="0"/>
          </a:p>
        </p:txBody>
      </p:sp>
      <p:sp>
        <p:nvSpPr>
          <p:cNvPr id="5" name="Text 2"/>
          <p:cNvSpPr/>
          <p:nvPr/>
        </p:nvSpPr>
        <p:spPr>
          <a:xfrm>
            <a:off x="1645920" y="3246120"/>
            <a:ext cx="8897112" cy="411480"/>
          </a:xfrm>
          <a:prstGeom prst="rect">
            <a:avLst/>
          </a:prstGeom>
          <a:noFill/>
          <a:ln/>
        </p:spPr>
        <p:txBody>
          <a:bodyPr wrap="square" lIns="0" tIns="0" rIns="0" bIns="0" rtlCol="0" anchor="ctr"/>
          <a:lstStyle/>
          <a:p>
            <a:pPr algn="ctr" indent="0" marL="0">
              <a:buNone/>
            </a:pPr>
            <a:r>
              <a:rPr lang="en-US" sz="1650" dirty="0">
                <a:solidFill>
                  <a:srgbClr val="D9E6F5"/>
                </a:solidFill>
                <a:latin typeface="Calibri" pitchFamily="34" charset="0"/>
                <a:ea typeface="Calibri" pitchFamily="34" charset="-122"/>
                <a:cs typeface="Calibri" pitchFamily="34" charset="-120"/>
              </a:rPr>
              <a:t>Nền tảng kho quy định đã xác minh &amp; kiểm tra tuân thủ bằng AI cho ngân hàng Việt Nam</a:t>
            </a:r>
            <a:endParaRPr lang="en-US" sz="1650" dirty="0"/>
          </a:p>
        </p:txBody>
      </p:sp>
      <p:sp>
        <p:nvSpPr>
          <p:cNvPr id="6" name="Text 3"/>
          <p:cNvSpPr/>
          <p:nvPr/>
        </p:nvSpPr>
        <p:spPr>
          <a:xfrm>
            <a:off x="1645920" y="3675888"/>
            <a:ext cx="8897112" cy="365760"/>
          </a:xfrm>
          <a:prstGeom prst="rect">
            <a:avLst/>
          </a:prstGeom>
          <a:noFill/>
          <a:ln/>
        </p:spPr>
        <p:txBody>
          <a:bodyPr wrap="square" lIns="0" tIns="0" rIns="0" bIns="0" rtlCol="0" anchor="ctr"/>
          <a:lstStyle/>
          <a:p>
            <a:pPr algn="ctr" indent="0" marL="0">
              <a:buNone/>
            </a:pPr>
            <a:r>
              <a:rPr lang="en-US" sz="1200" i="1" dirty="0">
                <a:solidFill>
                  <a:srgbClr val="BFD5EC"/>
                </a:solidFill>
                <a:latin typeface="Calibri" pitchFamily="34" charset="0"/>
                <a:ea typeface="Calibri" pitchFamily="34" charset="-122"/>
                <a:cs typeface="Calibri" pitchFamily="34" charset="-120"/>
              </a:rPr>
              <a:t>Verified regulatory knowledge &amp; AI compliance review platform for Vietnamese banks</a:t>
            </a:r>
            <a:endParaRPr lang="en-US" sz="1200" dirty="0"/>
          </a:p>
        </p:txBody>
      </p:sp>
      <p:sp>
        <p:nvSpPr>
          <p:cNvPr id="7" name="Shape 4"/>
          <p:cNvSpPr/>
          <p:nvPr/>
        </p:nvSpPr>
        <p:spPr>
          <a:xfrm>
            <a:off x="3108960" y="4434840"/>
            <a:ext cx="5971032" cy="475488"/>
          </a:xfrm>
          <a:prstGeom prst="roundRect">
            <a:avLst>
              <a:gd name="adj" fmla="val 50000"/>
            </a:avLst>
          </a:prstGeom>
          <a:solidFill>
            <a:srgbClr val="1B3A5F"/>
          </a:solidFill>
          <a:ln/>
        </p:spPr>
      </p:sp>
      <p:sp>
        <p:nvSpPr>
          <p:cNvPr id="8" name="Text 5"/>
          <p:cNvSpPr/>
          <p:nvPr/>
        </p:nvSpPr>
        <p:spPr>
          <a:xfrm>
            <a:off x="3108960" y="4434840"/>
            <a:ext cx="5971032" cy="475488"/>
          </a:xfrm>
          <a:prstGeom prst="rect">
            <a:avLst/>
          </a:prstGeom>
          <a:noFill/>
          <a:ln/>
        </p:spPr>
        <p:txBody>
          <a:bodyPr wrap="square" lIns="0" tIns="0" rIns="0" bIns="0" rtlCol="0" anchor="ctr"/>
          <a:lstStyle/>
          <a:p>
            <a:pPr algn="ctr" indent="0" marL="0">
              <a:buNone/>
            </a:pPr>
            <a:r>
              <a:rPr lang="en-US" sz="1050" b="1" spc="100" kern="0" dirty="0">
                <a:solidFill>
                  <a:srgbClr val="C9A227"/>
                </a:solidFill>
                <a:latin typeface="Calibri" pitchFamily="34" charset="0"/>
                <a:ea typeface="Calibri" pitchFamily="34" charset="-122"/>
                <a:cs typeface="Calibri" pitchFamily="34" charset="-120"/>
              </a:rPr>
              <a:t>VIETNAM AI INNOVATION CHALLENGE 2026   ·   ĐỀ SHB1   ·   CHECK-POINT 1</a:t>
            </a:r>
            <a:endParaRPr lang="en-US" sz="1050" dirty="0"/>
          </a:p>
        </p:txBody>
      </p:sp>
      <p:sp>
        <p:nvSpPr>
          <p:cNvPr id="9" name="Text 6"/>
          <p:cNvSpPr/>
          <p:nvPr/>
        </p:nvSpPr>
        <p:spPr>
          <a:xfrm>
            <a:off x="1645920" y="5806440"/>
            <a:ext cx="8897112" cy="365760"/>
          </a:xfrm>
          <a:prstGeom prst="rect">
            <a:avLst/>
          </a:prstGeom>
          <a:noFill/>
          <a:ln/>
        </p:spPr>
        <p:txBody>
          <a:bodyPr wrap="square" lIns="0" tIns="0" rIns="0" bIns="0" rtlCol="0" anchor="ctr"/>
          <a:lstStyle/>
          <a:p>
            <a:pPr algn="ctr" indent="0" marL="0">
              <a:buNone/>
            </a:pPr>
            <a:r>
              <a:rPr lang="en-US" sz="1400" i="1" dirty="0">
                <a:solidFill>
                  <a:srgbClr val="D9E6F5"/>
                </a:solidFill>
                <a:latin typeface="Cambria" pitchFamily="34" charset="0"/>
                <a:ea typeface="Cambria" pitchFamily="34" charset="-122"/>
                <a:cs typeface="Cambria" pitchFamily="34" charset="-120"/>
              </a:rPr>
              <a:t>“AI đề xuất — cán bộ Tuân thủ quyết định.”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VẤN ĐỀ — TỪ ĐỀ BÀI SHB1</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Vì sao ngân hàng không thể giao quy định cho AI thông thường</a:t>
            </a:r>
            <a:endParaRPr lang="en-US" sz="2600" dirty="0"/>
          </a:p>
        </p:txBody>
      </p:sp>
      <p:sp>
        <p:nvSpPr>
          <p:cNvPr id="4" name="Shape 2"/>
          <p:cNvSpPr/>
          <p:nvPr/>
        </p:nvSpPr>
        <p:spPr>
          <a:xfrm>
            <a:off x="502920" y="1371600"/>
            <a:ext cx="5212080" cy="1481328"/>
          </a:xfrm>
          <a:prstGeom prst="roundRect">
            <a:avLst>
              <a:gd name="adj" fmla="val 4321"/>
            </a:avLst>
          </a:prstGeom>
          <a:solidFill>
            <a:srgbClr val="E9F1FA"/>
          </a:solidFill>
          <a:ln/>
        </p:spPr>
      </p:sp>
      <p:sp>
        <p:nvSpPr>
          <p:cNvPr id="5" name="Shape 3"/>
          <p:cNvSpPr/>
          <p:nvPr/>
        </p:nvSpPr>
        <p:spPr>
          <a:xfrm>
            <a:off x="777240" y="1755648"/>
            <a:ext cx="713232" cy="713232"/>
          </a:xfrm>
          <a:prstGeom prst="ellipse">
            <a:avLst/>
          </a:prstGeom>
          <a:solidFill>
            <a:srgbClr val="1F4E79"/>
          </a:solidFill>
          <a:ln/>
        </p:spPr>
      </p:sp>
      <p:pic>
        <p:nvPicPr>
          <p:cNvPr id="6" name="Image 0" descr="icons/doc_w.png">    </p:cNvPr>
          <p:cNvPicPr>
            <a:picLocks noChangeAspect="1"/>
          </p:cNvPicPr>
          <p:nvPr/>
        </p:nvPicPr>
        <p:blipFill>
          <a:blip r:embed="rId1"/>
          <a:stretch>
            <a:fillRect/>
          </a:stretch>
        </p:blipFill>
        <p:spPr>
          <a:xfrm>
            <a:off x="955548" y="1933956"/>
            <a:ext cx="356616" cy="356616"/>
          </a:xfrm>
          <a:prstGeom prst="rect">
            <a:avLst/>
          </a:prstGeom>
        </p:spPr>
      </p:pic>
      <p:sp>
        <p:nvSpPr>
          <p:cNvPr id="7" name="Text 4"/>
          <p:cNvSpPr/>
          <p:nvPr/>
        </p:nvSpPr>
        <p:spPr>
          <a:xfrm>
            <a:off x="1783080" y="1572768"/>
            <a:ext cx="3749040" cy="457200"/>
          </a:xfrm>
          <a:prstGeom prst="rect">
            <a:avLst/>
          </a:prstGeom>
          <a:noFill/>
          <a:ln/>
        </p:spPr>
        <p:txBody>
          <a:bodyPr wrap="square" lIns="0" tIns="0" rIns="0" bIns="0" rtlCol="0" anchor="ctr"/>
          <a:lstStyle/>
          <a:p>
            <a:pPr indent="0" marL="0">
              <a:buNone/>
            </a:pPr>
            <a:r>
              <a:rPr lang="en-US" sz="2200" b="1" dirty="0">
                <a:solidFill>
                  <a:srgbClr val="10243E"/>
                </a:solidFill>
                <a:latin typeface="Cambria" pitchFamily="34" charset="0"/>
                <a:ea typeface="Cambria" pitchFamily="34" charset="-122"/>
                <a:cs typeface="Cambria" pitchFamily="34" charset="-120"/>
              </a:rPr>
              <a:t>Hàng nghìn</a:t>
            </a:r>
            <a:endParaRPr lang="en-US" sz="2200" dirty="0"/>
          </a:p>
        </p:txBody>
      </p:sp>
      <p:sp>
        <p:nvSpPr>
          <p:cNvPr id="8" name="Text 5"/>
          <p:cNvSpPr/>
          <p:nvPr/>
        </p:nvSpPr>
        <p:spPr>
          <a:xfrm>
            <a:off x="1783080" y="2048256"/>
            <a:ext cx="3749040" cy="749808"/>
          </a:xfrm>
          <a:prstGeom prst="rect">
            <a:avLst/>
          </a:prstGeom>
          <a:noFill/>
          <a:ln/>
        </p:spPr>
        <p:txBody>
          <a:bodyPr wrap="square" lIns="0" tIns="0" rIns="0" bIns="0" rtlCol="0" anchor="t"/>
          <a:lstStyle/>
          <a:p>
            <a:pPr indent="0" marL="0">
              <a:buNone/>
            </a:pPr>
            <a:r>
              <a:rPr lang="en-US" sz="1030" dirty="0">
                <a:solidFill>
                  <a:srgbClr val="1A2430"/>
                </a:solidFill>
                <a:latin typeface="Calibri" pitchFamily="34" charset="0"/>
                <a:ea typeface="Calibri" pitchFamily="34" charset="-122"/>
                <a:cs typeface="Calibri" pitchFamily="34" charset="-120"/>
              </a:rPr>
              <a:t>văn bản quy định nội bộ &amp; bên ngoài mà SHB quản lý (NHNN, Chính phủ, Basel…)</a:t>
            </a:r>
            <a:endParaRPr lang="en-US" sz="1030" dirty="0"/>
          </a:p>
        </p:txBody>
      </p:sp>
      <p:sp>
        <p:nvSpPr>
          <p:cNvPr id="9" name="Shape 6"/>
          <p:cNvSpPr/>
          <p:nvPr/>
        </p:nvSpPr>
        <p:spPr>
          <a:xfrm>
            <a:off x="502920" y="2999232"/>
            <a:ext cx="5212080" cy="1481328"/>
          </a:xfrm>
          <a:prstGeom prst="roundRect">
            <a:avLst>
              <a:gd name="adj" fmla="val 4321"/>
            </a:avLst>
          </a:prstGeom>
          <a:solidFill>
            <a:srgbClr val="E9F1FA"/>
          </a:solidFill>
          <a:ln/>
        </p:spPr>
      </p:sp>
      <p:sp>
        <p:nvSpPr>
          <p:cNvPr id="10" name="Shape 7"/>
          <p:cNvSpPr/>
          <p:nvPr/>
        </p:nvSpPr>
        <p:spPr>
          <a:xfrm>
            <a:off x="777240" y="3383280"/>
            <a:ext cx="713232" cy="713232"/>
          </a:xfrm>
          <a:prstGeom prst="ellipse">
            <a:avLst/>
          </a:prstGeom>
          <a:solidFill>
            <a:srgbClr val="1F4E79"/>
          </a:solidFill>
          <a:ln/>
        </p:spPr>
      </p:sp>
      <p:pic>
        <p:nvPicPr>
          <p:cNvPr id="11" name="Image 1" descr="icons/history_w.png">    </p:cNvPr>
          <p:cNvPicPr>
            <a:picLocks noChangeAspect="1"/>
          </p:cNvPicPr>
          <p:nvPr/>
        </p:nvPicPr>
        <p:blipFill>
          <a:blip r:embed="rId2"/>
          <a:stretch>
            <a:fillRect/>
          </a:stretch>
        </p:blipFill>
        <p:spPr>
          <a:xfrm>
            <a:off x="955548" y="3561588"/>
            <a:ext cx="356616" cy="356616"/>
          </a:xfrm>
          <a:prstGeom prst="rect">
            <a:avLst/>
          </a:prstGeom>
        </p:spPr>
      </p:pic>
      <p:sp>
        <p:nvSpPr>
          <p:cNvPr id="12" name="Text 8"/>
          <p:cNvSpPr/>
          <p:nvPr/>
        </p:nvSpPr>
        <p:spPr>
          <a:xfrm>
            <a:off x="1783080" y="3200400"/>
            <a:ext cx="3749040" cy="457200"/>
          </a:xfrm>
          <a:prstGeom prst="rect">
            <a:avLst/>
          </a:prstGeom>
          <a:noFill/>
          <a:ln/>
        </p:spPr>
        <p:txBody>
          <a:bodyPr wrap="square" lIns="0" tIns="0" rIns="0" bIns="0" rtlCol="0" anchor="ctr"/>
          <a:lstStyle/>
          <a:p>
            <a:pPr indent="0" marL="0">
              <a:buNone/>
            </a:pPr>
            <a:r>
              <a:rPr lang="en-US" sz="2200" b="1" dirty="0">
                <a:solidFill>
                  <a:srgbClr val="10243E"/>
                </a:solidFill>
                <a:latin typeface="Cambria" pitchFamily="34" charset="0"/>
                <a:ea typeface="Cambria" pitchFamily="34" charset="-122"/>
                <a:cs typeface="Cambria" pitchFamily="34" charset="-120"/>
              </a:rPr>
              <a:t>Sửa đổi ×N</a:t>
            </a:r>
            <a:endParaRPr lang="en-US" sz="2200" dirty="0"/>
          </a:p>
        </p:txBody>
      </p:sp>
      <p:sp>
        <p:nvSpPr>
          <p:cNvPr id="13" name="Text 9"/>
          <p:cNvSpPr/>
          <p:nvPr/>
        </p:nvSpPr>
        <p:spPr>
          <a:xfrm>
            <a:off x="1783080" y="3675888"/>
            <a:ext cx="3749040" cy="749808"/>
          </a:xfrm>
          <a:prstGeom prst="rect">
            <a:avLst/>
          </a:prstGeom>
          <a:noFill/>
          <a:ln/>
        </p:spPr>
        <p:txBody>
          <a:bodyPr wrap="square" lIns="0" tIns="0" rIns="0" bIns="0" rtlCol="0" anchor="t"/>
          <a:lstStyle/>
          <a:p>
            <a:pPr indent="0" marL="0">
              <a:buNone/>
            </a:pPr>
            <a:r>
              <a:rPr lang="en-US" sz="1030" dirty="0">
                <a:solidFill>
                  <a:srgbClr val="1A2430"/>
                </a:solidFill>
                <a:latin typeface="Calibri" pitchFamily="34" charset="0"/>
                <a:ea typeface="Calibri" pitchFamily="34" charset="-122"/>
                <a:cs typeface="Calibri" pitchFamily="34" charset="-120"/>
              </a:rPr>
              <a:t>một quy định bị sửa nhiều lần; từng khoản bị thay thế một phần, rải rác nhiều văn bản</a:t>
            </a:r>
            <a:endParaRPr lang="en-US" sz="1030" dirty="0"/>
          </a:p>
        </p:txBody>
      </p:sp>
      <p:sp>
        <p:nvSpPr>
          <p:cNvPr id="14" name="Shape 10"/>
          <p:cNvSpPr/>
          <p:nvPr/>
        </p:nvSpPr>
        <p:spPr>
          <a:xfrm>
            <a:off x="502920" y="4626864"/>
            <a:ext cx="5212080" cy="1481328"/>
          </a:xfrm>
          <a:prstGeom prst="roundRect">
            <a:avLst>
              <a:gd name="adj" fmla="val 4321"/>
            </a:avLst>
          </a:prstGeom>
          <a:solidFill>
            <a:srgbClr val="E9F1FA"/>
          </a:solidFill>
          <a:ln/>
        </p:spPr>
      </p:sp>
      <p:sp>
        <p:nvSpPr>
          <p:cNvPr id="15" name="Shape 11"/>
          <p:cNvSpPr/>
          <p:nvPr/>
        </p:nvSpPr>
        <p:spPr>
          <a:xfrm>
            <a:off x="777240" y="5010912"/>
            <a:ext cx="713232" cy="713232"/>
          </a:xfrm>
          <a:prstGeom prst="ellipse">
            <a:avLst/>
          </a:prstGeom>
          <a:solidFill>
            <a:srgbClr val="1F4E79"/>
          </a:solidFill>
          <a:ln/>
        </p:spPr>
      </p:sp>
      <p:pic>
        <p:nvPicPr>
          <p:cNvPr id="16" name="Image 2" descr="icons/clock_w.png">    </p:cNvPr>
          <p:cNvPicPr>
            <a:picLocks noChangeAspect="1"/>
          </p:cNvPicPr>
          <p:nvPr/>
        </p:nvPicPr>
        <p:blipFill>
          <a:blip r:embed="rId3"/>
          <a:stretch>
            <a:fillRect/>
          </a:stretch>
        </p:blipFill>
        <p:spPr>
          <a:xfrm>
            <a:off x="955548" y="5189220"/>
            <a:ext cx="356616" cy="356616"/>
          </a:xfrm>
          <a:prstGeom prst="rect">
            <a:avLst/>
          </a:prstGeom>
        </p:spPr>
      </p:pic>
      <p:sp>
        <p:nvSpPr>
          <p:cNvPr id="17" name="Text 12"/>
          <p:cNvSpPr/>
          <p:nvPr/>
        </p:nvSpPr>
        <p:spPr>
          <a:xfrm>
            <a:off x="1783080" y="4828032"/>
            <a:ext cx="3749040" cy="457200"/>
          </a:xfrm>
          <a:prstGeom prst="rect">
            <a:avLst/>
          </a:prstGeom>
          <a:noFill/>
          <a:ln/>
        </p:spPr>
        <p:txBody>
          <a:bodyPr wrap="square" lIns="0" tIns="0" rIns="0" bIns="0" rtlCol="0" anchor="ctr"/>
          <a:lstStyle/>
          <a:p>
            <a:pPr indent="0" marL="0">
              <a:buNone/>
            </a:pPr>
            <a:r>
              <a:rPr lang="en-US" sz="2200" b="1" dirty="0">
                <a:solidFill>
                  <a:srgbClr val="10243E"/>
                </a:solidFill>
                <a:latin typeface="Cambria" pitchFamily="34" charset="0"/>
                <a:ea typeface="Cambria" pitchFamily="34" charset="-122"/>
                <a:cs typeface="Cambria" pitchFamily="34" charset="-120"/>
              </a:rPr>
              <a:t>2–3 giờ/ngày</a:t>
            </a:r>
            <a:endParaRPr lang="en-US" sz="2200" dirty="0"/>
          </a:p>
        </p:txBody>
      </p:sp>
      <p:sp>
        <p:nvSpPr>
          <p:cNvPr id="18" name="Text 13"/>
          <p:cNvSpPr/>
          <p:nvPr/>
        </p:nvSpPr>
        <p:spPr>
          <a:xfrm>
            <a:off x="1783080" y="5303520"/>
            <a:ext cx="3749040" cy="749808"/>
          </a:xfrm>
          <a:prstGeom prst="rect">
            <a:avLst/>
          </a:prstGeom>
          <a:noFill/>
          <a:ln/>
        </p:spPr>
        <p:txBody>
          <a:bodyPr wrap="square" lIns="0" tIns="0" rIns="0" bIns="0" rtlCol="0" anchor="t"/>
          <a:lstStyle/>
          <a:p>
            <a:pPr indent="0" marL="0">
              <a:buNone/>
            </a:pPr>
            <a:r>
              <a:rPr lang="en-US" sz="1030" dirty="0">
                <a:solidFill>
                  <a:srgbClr val="1A2430"/>
                </a:solidFill>
                <a:latin typeface="Calibri" pitchFamily="34" charset="0"/>
                <a:ea typeface="Calibri" pitchFamily="34" charset="-122"/>
                <a:cs typeface="Calibri" pitchFamily="34" charset="-120"/>
              </a:rPr>
              <a:t>mỗi cán bộ tuân thủ mất cho việc đối chiếu phiên bản, tham chiếu thủ công (ước tính của SHB)</a:t>
            </a:r>
            <a:endParaRPr lang="en-US" sz="1030" dirty="0"/>
          </a:p>
        </p:txBody>
      </p:sp>
      <p:sp>
        <p:nvSpPr>
          <p:cNvPr id="19" name="Shape 14"/>
          <p:cNvSpPr/>
          <p:nvPr/>
        </p:nvSpPr>
        <p:spPr>
          <a:xfrm>
            <a:off x="5989320" y="1371600"/>
            <a:ext cx="5696712" cy="2743200"/>
          </a:xfrm>
          <a:prstGeom prst="roundRect">
            <a:avLst>
              <a:gd name="adj" fmla="val 2333"/>
            </a:avLst>
          </a:prstGeom>
          <a:solidFill>
            <a:srgbClr val="FBEAE8"/>
          </a:solidFill>
          <a:ln/>
        </p:spPr>
      </p:sp>
      <p:sp>
        <p:nvSpPr>
          <p:cNvPr id="20" name="Shape 15"/>
          <p:cNvSpPr/>
          <p:nvPr/>
        </p:nvSpPr>
        <p:spPr>
          <a:xfrm>
            <a:off x="6309360" y="1691640"/>
            <a:ext cx="640080" cy="640080"/>
          </a:xfrm>
          <a:prstGeom prst="ellipse">
            <a:avLst/>
          </a:prstGeom>
          <a:solidFill>
            <a:srgbClr val="B3261E"/>
          </a:solidFill>
          <a:ln/>
        </p:spPr>
      </p:sp>
      <p:pic>
        <p:nvPicPr>
          <p:cNvPr id="21" name="Image 3" descr="icons/warn_w.png">    </p:cNvPr>
          <p:cNvPicPr>
            <a:picLocks noChangeAspect="1"/>
          </p:cNvPicPr>
          <p:nvPr/>
        </p:nvPicPr>
        <p:blipFill>
          <a:blip r:embed="rId4"/>
          <a:stretch>
            <a:fillRect/>
          </a:stretch>
        </p:blipFill>
        <p:spPr>
          <a:xfrm>
            <a:off x="6469380" y="1851660"/>
            <a:ext cx="320040" cy="320040"/>
          </a:xfrm>
          <a:prstGeom prst="rect">
            <a:avLst/>
          </a:prstGeom>
        </p:spPr>
      </p:pic>
      <p:sp>
        <p:nvSpPr>
          <p:cNvPr id="22" name="Text 16"/>
          <p:cNvSpPr/>
          <p:nvPr/>
        </p:nvSpPr>
        <p:spPr>
          <a:xfrm>
            <a:off x="7132320" y="1755648"/>
            <a:ext cx="4389120" cy="457200"/>
          </a:xfrm>
          <a:prstGeom prst="rect">
            <a:avLst/>
          </a:prstGeom>
          <a:noFill/>
          <a:ln/>
        </p:spPr>
        <p:txBody>
          <a:bodyPr wrap="square" lIns="0" tIns="0" rIns="0" bIns="0" rtlCol="0" anchor="ctr"/>
          <a:lstStyle/>
          <a:p>
            <a:pPr indent="0" marL="0">
              <a:buNone/>
            </a:pPr>
            <a:r>
              <a:rPr lang="en-US" sz="2000" b="1" dirty="0">
                <a:solidFill>
                  <a:srgbClr val="B3261E"/>
                </a:solidFill>
                <a:latin typeface="Cambria" pitchFamily="34" charset="0"/>
                <a:ea typeface="Cambria" pitchFamily="34" charset="-122"/>
                <a:cs typeface="Cambria" pitchFamily="34" charset="-120"/>
              </a:rPr>
              <a:t>Cái bẫy “500 → 700”</a:t>
            </a:r>
            <a:endParaRPr lang="en-US" sz="2000" dirty="0"/>
          </a:p>
        </p:txBody>
      </p:sp>
      <p:sp>
        <p:nvSpPr>
          <p:cNvPr id="23" name="Text 17"/>
          <p:cNvSpPr/>
          <p:nvPr/>
        </p:nvSpPr>
        <p:spPr>
          <a:xfrm>
            <a:off x="6400800" y="2395728"/>
            <a:ext cx="5029200" cy="1554480"/>
          </a:xfrm>
          <a:prstGeom prst="rect">
            <a:avLst/>
          </a:prstGeom>
          <a:noFill/>
          <a:ln/>
        </p:spPr>
        <p:txBody>
          <a:bodyPr wrap="square" lIns="0" tIns="0" rIns="0" bIns="0" rtlCol="0" anchor="t"/>
          <a:lstStyle/>
          <a:p>
            <a:pPr indent="0" marL="0">
              <a:lnSpc>
                <a:spcPct val="112000"/>
              </a:lnSpc>
              <a:buNone/>
            </a:pPr>
            <a:r>
              <a:rPr lang="en-US" sz="1250" dirty="0">
                <a:solidFill>
                  <a:srgbClr val="1A2430"/>
                </a:solidFill>
                <a:latin typeface="Calibri" pitchFamily="34" charset="0"/>
                <a:ea typeface="Calibri" pitchFamily="34" charset="-122"/>
                <a:cs typeface="Calibri" pitchFamily="34" charset="-120"/>
              </a:rPr>
              <a:t>Báo cáo nội bộ trích hạn mức tín dụng </a:t>
            </a:r>
            <a:pPr indent="0" marL="0">
              <a:lnSpc>
                <a:spcPct val="112000"/>
              </a:lnSpc>
              <a:buNone/>
            </a:pPr>
            <a:r>
              <a:rPr lang="en-US" sz="1250" b="1" dirty="0">
                <a:solidFill>
                  <a:srgbClr val="1A2430"/>
                </a:solidFill>
                <a:latin typeface="Calibri" pitchFamily="34" charset="0"/>
                <a:ea typeface="Calibri" pitchFamily="34" charset="-122"/>
                <a:cs typeface="Calibri" pitchFamily="34" charset="-120"/>
              </a:rPr>
              <a:t>500 triệu đồng</a:t>
            </a:r>
            <a:pPr indent="0" marL="0">
              <a:lnSpc>
                <a:spcPct val="112000"/>
              </a:lnSpc>
              <a:buNone/>
            </a:pPr>
            <a:r>
              <a:rPr lang="en-US" sz="1250" dirty="0">
                <a:solidFill>
                  <a:srgbClr val="1A2430"/>
                </a:solidFill>
                <a:latin typeface="Calibri" pitchFamily="34" charset="0"/>
                <a:ea typeface="Calibri" pitchFamily="34" charset="-122"/>
                <a:cs typeface="Calibri" pitchFamily="34" charset="-120"/>
              </a:rPr>
              <a:t>. Quy định đã được sửa thành </a:t>
            </a:r>
            <a:pPr indent="0" marL="0">
              <a:lnSpc>
                <a:spcPct val="112000"/>
              </a:lnSpc>
              <a:buNone/>
            </a:pPr>
            <a:r>
              <a:rPr lang="en-US" sz="1250" b="1" dirty="0">
                <a:solidFill>
                  <a:srgbClr val="1A2430"/>
                </a:solidFill>
                <a:latin typeface="Calibri" pitchFamily="34" charset="0"/>
                <a:ea typeface="Calibri" pitchFamily="34" charset="-122"/>
                <a:cs typeface="Calibri" pitchFamily="34" charset="-120"/>
              </a:rPr>
              <a:t>700 triệu</a:t>
            </a:r>
            <a:pPr indent="0" marL="0">
              <a:lnSpc>
                <a:spcPct val="112000"/>
              </a:lnSpc>
              <a:buNone/>
            </a:pPr>
            <a:r>
              <a:rPr lang="en-US" sz="1250" dirty="0">
                <a:solidFill>
                  <a:srgbClr val="1A2430"/>
                </a:solidFill>
                <a:latin typeface="Calibri" pitchFamily="34" charset="0"/>
                <a:ea typeface="Calibri" pitchFamily="34" charset="-122"/>
                <a:cs typeface="Calibri" pitchFamily="34" charset="-120"/>
              </a:rPr>
              <a:t>. Chatbot thông thường trả lời rất trôi chảy — nhưng từ </a:t>
            </a:r>
            <a:pPr indent="0" marL="0">
              <a:lnSpc>
                <a:spcPct val="112000"/>
              </a:lnSpc>
              <a:buNone/>
            </a:pPr>
            <a:r>
              <a:rPr lang="en-US" sz="1250" b="1" dirty="0">
                <a:solidFill>
                  <a:srgbClr val="B3261E"/>
                </a:solidFill>
                <a:latin typeface="Calibri" pitchFamily="34" charset="0"/>
                <a:ea typeface="Calibri" pitchFamily="34" charset="-122"/>
                <a:cs typeface="Calibri" pitchFamily="34" charset="-120"/>
              </a:rPr>
              <a:t>phiên bản đã hết hiệu lực</a:t>
            </a:r>
            <a:pPr indent="0" marL="0">
              <a:lnSpc>
                <a:spcPct val="112000"/>
              </a:lnSpc>
              <a:buNone/>
            </a:pPr>
            <a:r>
              <a:rPr lang="en-US" sz="1250" dirty="0">
                <a:solidFill>
                  <a:srgbClr val="1A2430"/>
                </a:solidFill>
                <a:latin typeface="Calibri" pitchFamily="34" charset="0"/>
                <a:ea typeface="Calibri" pitchFamily="34" charset="-122"/>
                <a:cs typeface="Calibri" pitchFamily="34" charset="-120"/>
              </a:rPr>
              <a:t>. Và thanh tra là người phát hiện đầu tiên.</a:t>
            </a:r>
            <a:endParaRPr lang="en-US" sz="1250" dirty="0"/>
          </a:p>
        </p:txBody>
      </p:sp>
      <p:sp>
        <p:nvSpPr>
          <p:cNvPr id="24" name="Shape 18"/>
          <p:cNvSpPr/>
          <p:nvPr/>
        </p:nvSpPr>
        <p:spPr>
          <a:xfrm>
            <a:off x="5989320" y="4315968"/>
            <a:ext cx="5696712" cy="1993392"/>
          </a:xfrm>
          <a:prstGeom prst="roundRect">
            <a:avLst>
              <a:gd name="adj" fmla="val 3211"/>
            </a:avLst>
          </a:prstGeom>
          <a:solidFill>
            <a:srgbClr val="E9F1FA"/>
          </a:solidFill>
          <a:ln/>
        </p:spPr>
      </p:sp>
      <p:sp>
        <p:nvSpPr>
          <p:cNvPr id="25" name="Text 19"/>
          <p:cNvSpPr/>
          <p:nvPr/>
        </p:nvSpPr>
        <p:spPr>
          <a:xfrm>
            <a:off x="6263640" y="4526280"/>
            <a:ext cx="5166360" cy="1234440"/>
          </a:xfrm>
          <a:prstGeom prst="rect">
            <a:avLst/>
          </a:prstGeom>
          <a:noFill/>
          <a:ln/>
        </p:spPr>
        <p:txBody>
          <a:bodyPr wrap="square" lIns="0" tIns="0" rIns="0" bIns="0" rtlCol="0" anchor="t"/>
          <a:lstStyle/>
          <a:p>
            <a:pPr indent="0" marL="0">
              <a:lnSpc>
                <a:spcPct val="112000"/>
              </a:lnSpc>
              <a:buNone/>
            </a:pPr>
            <a:r>
              <a:rPr lang="en-US" sz="1150" i="1" dirty="0">
                <a:solidFill>
                  <a:srgbClr val="1A2430"/>
                </a:solidFill>
                <a:latin typeface="Calibri" pitchFamily="34" charset="0"/>
                <a:ea typeface="Calibri" pitchFamily="34" charset="-122"/>
                <a:cs typeface="Calibri" pitchFamily="34" charset="-120"/>
              </a:rPr>
              <a:t>RAG thông thường không mô hình hóa được sửa đổi, thay thế một phần và tham chiếu chéo. Nó trả lời từ quy định lỗi thời và tạo rủi ro tuân thủ thật — “khó ngay cả với nhiều định chế tài chính hàng đầu thế giới.”</a:t>
            </a:r>
            <a:endParaRPr lang="en-US" sz="1150" dirty="0"/>
          </a:p>
        </p:txBody>
      </p:sp>
      <p:sp>
        <p:nvSpPr>
          <p:cNvPr id="26" name="Text 20"/>
          <p:cNvSpPr/>
          <p:nvPr/>
        </p:nvSpPr>
        <p:spPr>
          <a:xfrm>
            <a:off x="6263640" y="5870448"/>
            <a:ext cx="5166360" cy="274320"/>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 Đề bài SHB1, VAIC 2026</a:t>
            </a:r>
            <a:endParaRPr lang="en-US" sz="1000" dirty="0"/>
          </a:p>
        </p:txBody>
      </p:sp>
      <p:sp>
        <p:nvSpPr>
          <p:cNvPr id="27" name="Text 21"/>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28" name="Text 22"/>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 TÊN &amp; MÔ TẢ DỰ ÁN</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RegVault — két sắt mà kiểm toán viên mở được</a:t>
            </a:r>
            <a:endParaRPr lang="en-US" sz="2600" dirty="0"/>
          </a:p>
        </p:txBody>
      </p:sp>
      <p:sp>
        <p:nvSpPr>
          <p:cNvPr id="4" name="Shape 2"/>
          <p:cNvSpPr/>
          <p:nvPr/>
        </p:nvSpPr>
        <p:spPr>
          <a:xfrm>
            <a:off x="502920" y="1371600"/>
            <a:ext cx="5074920" cy="2377440"/>
          </a:xfrm>
          <a:prstGeom prst="roundRect">
            <a:avLst>
              <a:gd name="adj" fmla="val 2692"/>
            </a:avLst>
          </a:prstGeom>
          <a:solidFill>
            <a:srgbClr val="E9F1FA"/>
          </a:solidFill>
          <a:ln/>
        </p:spPr>
      </p:sp>
      <p:sp>
        <p:nvSpPr>
          <p:cNvPr id="5" name="Shape 3"/>
          <p:cNvSpPr/>
          <p:nvPr/>
        </p:nvSpPr>
        <p:spPr>
          <a:xfrm>
            <a:off x="822960" y="1691640"/>
            <a:ext cx="731520" cy="731520"/>
          </a:xfrm>
          <a:prstGeom prst="ellipse">
            <a:avLst/>
          </a:prstGeom>
          <a:solidFill>
            <a:srgbClr val="10243E"/>
          </a:solidFill>
          <a:ln/>
        </p:spPr>
      </p:sp>
      <p:pic>
        <p:nvPicPr>
          <p:cNvPr id="6" name="Image 0" descr="icons/lock_w.png">    </p:cNvPr>
          <p:cNvPicPr>
            <a:picLocks noChangeAspect="1"/>
          </p:cNvPicPr>
          <p:nvPr/>
        </p:nvPicPr>
        <p:blipFill>
          <a:blip r:embed="rId1"/>
          <a:stretch>
            <a:fillRect/>
          </a:stretch>
        </p:blipFill>
        <p:spPr>
          <a:xfrm>
            <a:off x="1005840" y="1874520"/>
            <a:ext cx="365760" cy="365760"/>
          </a:xfrm>
          <a:prstGeom prst="rect">
            <a:avLst/>
          </a:prstGeom>
        </p:spPr>
      </p:pic>
      <p:sp>
        <p:nvSpPr>
          <p:cNvPr id="7" name="Text 4"/>
          <p:cNvSpPr/>
          <p:nvPr/>
        </p:nvSpPr>
        <p:spPr>
          <a:xfrm>
            <a:off x="1737360" y="1783080"/>
            <a:ext cx="3657600" cy="502920"/>
          </a:xfrm>
          <a:prstGeom prst="rect">
            <a:avLst/>
          </a:prstGeom>
          <a:noFill/>
          <a:ln/>
        </p:spPr>
        <p:txBody>
          <a:bodyPr wrap="square" lIns="0" tIns="0" rIns="0" bIns="0" rtlCol="0" anchor="ctr"/>
          <a:lstStyle/>
          <a:p>
            <a:pPr indent="0" marL="0">
              <a:buNone/>
            </a:pPr>
            <a:r>
              <a:rPr lang="en-US" sz="2400" b="1" dirty="0">
                <a:solidFill>
                  <a:srgbClr val="9A7A14"/>
                </a:solidFill>
                <a:latin typeface="Cambria" pitchFamily="34" charset="0"/>
                <a:ea typeface="Cambria" pitchFamily="34" charset="-122"/>
                <a:cs typeface="Cambria" pitchFamily="34" charset="-120"/>
              </a:rPr>
              <a:t>Reg</a:t>
            </a:r>
            <a:pPr indent="0" marL="0">
              <a:buNone/>
            </a:pPr>
            <a:r>
              <a:rPr lang="en-US" sz="2400" dirty="0">
                <a:solidFill>
                  <a:srgbClr val="1A2430"/>
                </a:solidFill>
                <a:latin typeface="Cambria" pitchFamily="34" charset="0"/>
                <a:ea typeface="Cambria" pitchFamily="34" charset="-122"/>
                <a:cs typeface="Cambria" pitchFamily="34" charset="-120"/>
              </a:rPr>
              <a:t>ulation + </a:t>
            </a:r>
            <a:pPr indent="0" marL="0">
              <a:buNone/>
            </a:pPr>
            <a:r>
              <a:rPr lang="en-US" sz="2400" b="1" dirty="0">
                <a:solidFill>
                  <a:srgbClr val="9A7A14"/>
                </a:solidFill>
                <a:latin typeface="Cambria" pitchFamily="34" charset="0"/>
                <a:ea typeface="Cambria" pitchFamily="34" charset="-122"/>
                <a:cs typeface="Cambria" pitchFamily="34" charset="-120"/>
              </a:rPr>
              <a:t>Vault</a:t>
            </a:r>
            <a:endParaRPr lang="en-US" sz="2400" dirty="0"/>
          </a:p>
        </p:txBody>
      </p:sp>
      <p:sp>
        <p:nvSpPr>
          <p:cNvPr id="8" name="Text 5"/>
          <p:cNvSpPr/>
          <p:nvPr/>
        </p:nvSpPr>
        <p:spPr>
          <a:xfrm>
            <a:off x="822960" y="2606040"/>
            <a:ext cx="4480560" cy="1005840"/>
          </a:xfrm>
          <a:prstGeom prst="rect">
            <a:avLst/>
          </a:prstGeom>
          <a:noFill/>
          <a:ln/>
        </p:spPr>
        <p:txBody>
          <a:bodyPr wrap="square" lIns="0" tIns="0" rIns="0" bIns="0" rtlCol="0" anchor="t"/>
          <a:lstStyle/>
          <a:p>
            <a:pPr indent="0" marL="0">
              <a:lnSpc>
                <a:spcPct val="115000"/>
              </a:lnSpc>
              <a:buNone/>
            </a:pPr>
            <a:r>
              <a:rPr lang="en-US" sz="1300" i="1" dirty="0">
                <a:solidFill>
                  <a:srgbClr val="1A2430"/>
                </a:solidFill>
                <a:latin typeface="Calibri" pitchFamily="34" charset="0"/>
                <a:ea typeface="Calibri" pitchFamily="34" charset="-122"/>
                <a:cs typeface="Calibri" pitchFamily="34" charset="-120"/>
              </a:rPr>
              <a:t>Két sắt chỉ chứa những gì đã được xác minh — và chứng minh được tại bất kỳ ngày nào bên trong có gì.</a:t>
            </a:r>
            <a:endParaRPr lang="en-US" sz="1300" dirty="0"/>
          </a:p>
        </p:txBody>
      </p:sp>
      <p:sp>
        <p:nvSpPr>
          <p:cNvPr id="9" name="Shape 6"/>
          <p:cNvSpPr/>
          <p:nvPr/>
        </p:nvSpPr>
        <p:spPr>
          <a:xfrm>
            <a:off x="502920" y="3931920"/>
            <a:ext cx="5074920" cy="2331720"/>
          </a:xfrm>
          <a:prstGeom prst="roundRect">
            <a:avLst>
              <a:gd name="adj" fmla="val 2745"/>
            </a:avLst>
          </a:prstGeom>
          <a:solidFill>
            <a:srgbClr val="10243E"/>
          </a:solidFill>
          <a:ln/>
        </p:spPr>
      </p:sp>
      <p:sp>
        <p:nvSpPr>
          <p:cNvPr id="10" name="Text 7"/>
          <p:cNvSpPr/>
          <p:nvPr/>
        </p:nvSpPr>
        <p:spPr>
          <a:xfrm>
            <a:off x="822960" y="4160520"/>
            <a:ext cx="4480560" cy="274320"/>
          </a:xfrm>
          <a:prstGeom prst="rect">
            <a:avLst/>
          </a:prstGeom>
          <a:noFill/>
          <a:ln/>
        </p:spPr>
        <p:txBody>
          <a:bodyPr wrap="square" lIns="0" tIns="0" rIns="0" bIns="0"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MÔ HÌNH TIN CẬY — NGUYÊN TẮC BẤT BIẾN</a:t>
            </a:r>
            <a:endParaRPr lang="en-US" sz="1050" dirty="0"/>
          </a:p>
        </p:txBody>
      </p:sp>
      <p:sp>
        <p:nvSpPr>
          <p:cNvPr id="11" name="Text 8"/>
          <p:cNvSpPr/>
          <p:nvPr/>
        </p:nvSpPr>
        <p:spPr>
          <a:xfrm>
            <a:off x="822960" y="4480560"/>
            <a:ext cx="4480560" cy="566928"/>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Không tài liệu nào trở thành căn cứ pháp lý chỉ vì được upload.</a:t>
            </a:r>
            <a:endParaRPr lang="en-US" sz="1250" dirty="0"/>
          </a:p>
        </p:txBody>
      </p:sp>
      <p:sp>
        <p:nvSpPr>
          <p:cNvPr id="12" name="Text 9"/>
          <p:cNvSpPr/>
          <p:nvPr/>
        </p:nvSpPr>
        <p:spPr>
          <a:xfrm>
            <a:off x="822960" y="5138928"/>
            <a:ext cx="4480560" cy="960120"/>
          </a:xfrm>
          <a:prstGeom prst="rect">
            <a:avLst/>
          </a:prstGeom>
          <a:noFill/>
          <a:ln/>
        </p:spPr>
        <p:txBody>
          <a:bodyPr wrap="square" lIns="0" tIns="0" rIns="0" bIns="0" rtlCol="0" anchor="t"/>
          <a:lstStyle/>
          <a:p>
            <a:pPr indent="0" marL="0">
              <a:buNone/>
            </a:pPr>
            <a:r>
              <a:rPr lang="en-US" sz="1050" dirty="0">
                <a:solidFill>
                  <a:srgbClr val="D9E6F5"/>
                </a:solidFill>
                <a:latin typeface="Courier New" pitchFamily="34" charset="0"/>
                <a:ea typeface="Courier New" pitchFamily="34" charset="-122"/>
                <a:cs typeface="Courier New" pitchFamily="34" charset="-120"/>
              </a:rPr>
              <a:t>is_ground_truth(doc, d) = AUTHORITY_SOURCE</a:t>
            </a:r>
            <a:endParaRPr lang="en-US" sz="1050" dirty="0"/>
          </a:p>
          <a:p>
            <a:pPr indent="0" marL="0">
              <a:buNone/>
            </a:pPr>
            <a:r>
              <a:rPr lang="en-US" sz="1050" dirty="0">
                <a:solidFill>
                  <a:srgbClr val="D9E6F5"/>
                </a:solidFill>
                <a:latin typeface="Courier New" pitchFamily="34" charset="0"/>
                <a:ea typeface="Courier New" pitchFamily="34" charset="-122"/>
                <a:cs typeface="Courier New" pitchFamily="34" charset="-120"/>
              </a:rPr>
              <a:t>  ∧ APPROVED ∧ ACTIVE</a:t>
            </a:r>
            <a:endParaRPr lang="en-US" sz="1050" dirty="0"/>
          </a:p>
          <a:p>
            <a:pPr indent="0" marL="0">
              <a:buNone/>
            </a:pPr>
            <a:r>
              <a:rPr lang="en-US" sz="1050" dirty="0">
                <a:solidFill>
                  <a:srgbClr val="D9E6F5"/>
                </a:solidFill>
                <a:latin typeface="Courier New" pitchFamily="34" charset="0"/>
                <a:ea typeface="Courier New" pitchFamily="34" charset="-122"/>
                <a:cs typeface="Courier New" pitchFamily="34" charset="-120"/>
              </a:rPr>
              <a:t>  ∧ valid_from ≤ d &lt; valid_to_exclusive</a:t>
            </a:r>
            <a:endParaRPr lang="en-US" sz="1050" dirty="0"/>
          </a:p>
        </p:txBody>
      </p:sp>
      <p:sp>
        <p:nvSpPr>
          <p:cNvPr id="13" name="Shape 10"/>
          <p:cNvSpPr/>
          <p:nvPr/>
        </p:nvSpPr>
        <p:spPr>
          <a:xfrm>
            <a:off x="5852160" y="1371600"/>
            <a:ext cx="5833872" cy="3017520"/>
          </a:xfrm>
          <a:prstGeom prst="roundRect">
            <a:avLst>
              <a:gd name="adj" fmla="val 2121"/>
            </a:avLst>
          </a:prstGeom>
          <a:solidFill>
            <a:srgbClr val="FFFFFF"/>
          </a:solidFill>
          <a:ln w="12700">
            <a:solidFill>
              <a:srgbClr val="D7DFEA"/>
            </a:solidFill>
            <a:prstDash val="solid"/>
          </a:ln>
        </p:spPr>
      </p:sp>
      <p:sp>
        <p:nvSpPr>
          <p:cNvPr id="14" name="Text 11"/>
          <p:cNvSpPr/>
          <p:nvPr/>
        </p:nvSpPr>
        <p:spPr>
          <a:xfrm>
            <a:off x="6172200" y="1572768"/>
            <a:ext cx="5212080" cy="274320"/>
          </a:xfrm>
          <a:prstGeom prst="rect">
            <a:avLst/>
          </a:prstGeom>
          <a:noFill/>
          <a:ln/>
        </p:spPr>
        <p:txBody>
          <a:bodyPr wrap="square" lIns="0" tIns="0" rIns="0" bIns="0" rtlCol="0" anchor="ctr"/>
          <a:lstStyle/>
          <a:p>
            <a:pPr indent="0" marL="0">
              <a:buNone/>
            </a:pPr>
            <a:r>
              <a:rPr lang="en-US" sz="1050" b="1" spc="150" kern="0" dirty="0">
                <a:solidFill>
                  <a:srgbClr val="1F4E79"/>
                </a:solidFill>
                <a:latin typeface="Calibri" pitchFamily="34" charset="0"/>
                <a:ea typeface="Calibri" pitchFamily="34" charset="-122"/>
                <a:cs typeface="Calibri" pitchFamily="34" charset="-120"/>
              </a:rPr>
              <a:t>SẢN PHẨM LÀ GÌ</a:t>
            </a:r>
            <a:endParaRPr lang="en-US" sz="1050" dirty="0"/>
          </a:p>
        </p:txBody>
      </p:sp>
      <p:sp>
        <p:nvSpPr>
          <p:cNvPr id="15" name="Text 12"/>
          <p:cNvSpPr/>
          <p:nvPr/>
        </p:nvSpPr>
        <p:spPr>
          <a:xfrm>
            <a:off x="6172200" y="1874520"/>
            <a:ext cx="5212080" cy="2377440"/>
          </a:xfrm>
          <a:prstGeom prst="rect">
            <a:avLst/>
          </a:prstGeom>
          <a:noFill/>
          <a:ln/>
        </p:spPr>
        <p:txBody>
          <a:bodyPr wrap="square" lIns="0" tIns="0" rIns="0" bIns="0" rtlCol="0" anchor="t"/>
          <a:lstStyle/>
          <a:p>
            <a:pPr indent="0" marL="0">
              <a:lnSpc>
                <a:spcPct val="116000"/>
              </a:lnSpc>
              <a:buNone/>
            </a:pPr>
            <a:r>
              <a:rPr lang="en-US" sz="1300" dirty="0">
                <a:solidFill>
                  <a:srgbClr val="1A2430"/>
                </a:solidFill>
                <a:latin typeface="Calibri" pitchFamily="34" charset="0"/>
                <a:ea typeface="Calibri" pitchFamily="34" charset="-122"/>
                <a:cs typeface="Calibri" pitchFamily="34" charset="-120"/>
              </a:rPr>
              <a:t>RegVault giúp đội Pháp chế &amp; Tuân thủ của ngân hàng xây dựng </a:t>
            </a:r>
            <a:pPr indent="0" marL="0">
              <a:lnSpc>
                <a:spcPct val="116000"/>
              </a:lnSpc>
              <a:buNone/>
            </a:pPr>
            <a:r>
              <a:rPr lang="en-US" sz="1300" b="1" dirty="0">
                <a:solidFill>
                  <a:srgbClr val="1A2430"/>
                </a:solidFill>
                <a:latin typeface="Calibri" pitchFamily="34" charset="0"/>
                <a:ea typeface="Calibri" pitchFamily="34" charset="-122"/>
                <a:cs typeface="Calibri" pitchFamily="34" charset="-120"/>
              </a:rPr>
              <a:t>kho quy định đã được xác minh</a:t>
            </a:r>
            <a:pPr indent="0" marL="0">
              <a:lnSpc>
                <a:spcPct val="116000"/>
              </a:lnSpc>
              <a:buNone/>
            </a:pPr>
            <a:r>
              <a:rPr lang="en-US" sz="1300" dirty="0">
                <a:solidFill>
                  <a:srgbClr val="1A2430"/>
                </a:solidFill>
                <a:latin typeface="Calibri" pitchFamily="34" charset="0"/>
                <a:ea typeface="Calibri" pitchFamily="34" charset="-122"/>
                <a:cs typeface="Calibri" pitchFamily="34" charset="-120"/>
              </a:rPr>
              <a:t> — parse tới Điều/Khoản/Điểm, quản lý phiên bản theo thời gian, mọi thay đổi đều qua con người duyệt —</a:t>
            </a:r>
            <a:pPr indent="0" marL="0">
              <a:lnSpc>
                <a:spcPct val="116000"/>
              </a:lnSpc>
              <a:buNone/>
            </a:pPr>
            <a:r>
              <a:rPr lang="en-US" sz="1300" dirty="0">
                <a:solidFill>
                  <a:srgbClr val="1A2430"/>
                </a:solidFill>
                <a:latin typeface="Calibri" pitchFamily="34" charset="0"/>
                <a:ea typeface="Calibri" pitchFamily="34" charset="-122"/>
                <a:cs typeface="Calibri" pitchFamily="34" charset="-120"/>
              </a:rPr>
              <a:t> rồi dùng chính kho đó để </a:t>
            </a:r>
            <a:pPr indent="0" marL="0">
              <a:lnSpc>
                <a:spcPct val="116000"/>
              </a:lnSpc>
              <a:buNone/>
            </a:pPr>
            <a:r>
              <a:rPr lang="en-US" sz="1300" b="1" dirty="0">
                <a:solidFill>
                  <a:srgbClr val="1A2430"/>
                </a:solidFill>
                <a:latin typeface="Calibri" pitchFamily="34" charset="0"/>
                <a:ea typeface="Calibri" pitchFamily="34" charset="-122"/>
                <a:cs typeface="Calibri" pitchFamily="34" charset="-120"/>
              </a:rPr>
              <a:t>đánh giá tác động của quy định mới</a:t>
            </a:r>
            <a:pPr indent="0" marL="0">
              <a:lnSpc>
                <a:spcPct val="116000"/>
              </a:lnSpc>
              <a:buNone/>
            </a:pPr>
            <a:r>
              <a:rPr lang="en-US" sz="1300" dirty="0">
                <a:solidFill>
                  <a:srgbClr val="1A2430"/>
                </a:solidFill>
                <a:latin typeface="Calibri" pitchFamily="34" charset="0"/>
                <a:ea typeface="Calibri" pitchFamily="34" charset="-122"/>
                <a:cs typeface="Calibri" pitchFamily="34" charset="-120"/>
              </a:rPr>
              <a:t> và </a:t>
            </a:r>
            <a:pPr indent="0" marL="0">
              <a:lnSpc>
                <a:spcPct val="116000"/>
              </a:lnSpc>
              <a:buNone/>
            </a:pPr>
            <a:r>
              <a:rPr lang="en-US" sz="1300" b="1" dirty="0">
                <a:solidFill>
                  <a:srgbClr val="1A2430"/>
                </a:solidFill>
                <a:latin typeface="Calibri" pitchFamily="34" charset="0"/>
                <a:ea typeface="Calibri" pitchFamily="34" charset="-122"/>
                <a:cs typeface="Calibri" pitchFamily="34" charset="-120"/>
              </a:rPr>
              <a:t>kiểm tra mức độ phù hợp của policy, báo cáo nội bộ</a:t>
            </a:r>
            <a:pPr indent="0" marL="0">
              <a:lnSpc>
                <a:spcPct val="116000"/>
              </a:lnSpc>
              <a:buNone/>
            </a:pPr>
            <a:r>
              <a:rPr lang="en-US" sz="1300" dirty="0">
                <a:solidFill>
                  <a:srgbClr val="1A2430"/>
                </a:solidFill>
                <a:latin typeface="Calibri" pitchFamily="34" charset="0"/>
                <a:ea typeface="Calibri" pitchFamily="34" charset="-122"/>
                <a:cs typeface="Calibri" pitchFamily="34" charset="-120"/>
              </a:rPr>
              <a:t>. Mọi kết luận đều kèm phiên bản, ngày hiệu lực, bằng chứng và trạng thái duyệt.</a:t>
            </a:r>
            <a:endParaRPr lang="en-US" sz="1300" dirty="0"/>
          </a:p>
        </p:txBody>
      </p:sp>
      <p:sp>
        <p:nvSpPr>
          <p:cNvPr id="16" name="Shape 13"/>
          <p:cNvSpPr/>
          <p:nvPr/>
        </p:nvSpPr>
        <p:spPr>
          <a:xfrm>
            <a:off x="5852160" y="4617720"/>
            <a:ext cx="5833872" cy="1645920"/>
          </a:xfrm>
          <a:prstGeom prst="roundRect">
            <a:avLst>
              <a:gd name="adj" fmla="val 3889"/>
            </a:avLst>
          </a:prstGeom>
          <a:solidFill>
            <a:srgbClr val="F7EFD8"/>
          </a:solidFill>
          <a:ln/>
        </p:spPr>
      </p:sp>
      <p:sp>
        <p:nvSpPr>
          <p:cNvPr id="17" name="Text 14"/>
          <p:cNvSpPr/>
          <p:nvPr/>
        </p:nvSpPr>
        <p:spPr>
          <a:xfrm>
            <a:off x="6172200" y="4846320"/>
            <a:ext cx="5212080" cy="1234440"/>
          </a:xfrm>
          <a:prstGeom prst="rect">
            <a:avLst/>
          </a:prstGeom>
          <a:noFill/>
          <a:ln/>
        </p:spPr>
        <p:txBody>
          <a:bodyPr wrap="square" lIns="0" tIns="0" rIns="0" bIns="0" rtlCol="0" anchor="t"/>
          <a:lstStyle/>
          <a:p>
            <a:pPr indent="0" marL="0">
              <a:lnSpc>
                <a:spcPct val="115000"/>
              </a:lnSpc>
              <a:buNone/>
            </a:pPr>
            <a:r>
              <a:rPr lang="en-US" sz="1300" i="1" dirty="0">
                <a:solidFill>
                  <a:srgbClr val="10243E"/>
                </a:solidFill>
                <a:latin typeface="Cambria" pitchFamily="34" charset="0"/>
                <a:ea typeface="Cambria" pitchFamily="34" charset="-122"/>
                <a:cs typeface="Cambria" pitchFamily="34" charset="-120"/>
              </a:rPr>
              <a:t>Một luồng xác minh quy định trước khi vào két; một luồng dùng két đã xác minh để rà soát policy và báo cáo — </a:t>
            </a:r>
            <a:pPr indent="0" marL="0">
              <a:lnSpc>
                <a:spcPct val="115000"/>
              </a:lnSpc>
              <a:buNone/>
            </a:pPr>
            <a:r>
              <a:rPr lang="en-US" sz="1300" b="1" i="1" dirty="0">
                <a:solidFill>
                  <a:srgbClr val="10243E"/>
                </a:solidFill>
                <a:latin typeface="Cambria" pitchFamily="34" charset="0"/>
                <a:ea typeface="Cambria" pitchFamily="34" charset="-122"/>
                <a:cs typeface="Cambria" pitchFamily="34" charset="-120"/>
              </a:rPr>
              <a:t>AI đề xuất, cán bộ Tuân thủ quyết định.</a:t>
            </a:r>
            <a:endParaRPr lang="en-US" sz="1300" dirty="0"/>
          </a:p>
        </p:txBody>
      </p:sp>
      <p:sp>
        <p:nvSpPr>
          <p:cNvPr id="18" name="Text 15"/>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19" name="Text 16"/>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II. PRODUCT CONCEPT — 3 TẦNG SẢN PHẨM</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Từ sự chắc chắn kiểm toán được đến dịch vụ tuân thủ trọn gói</a:t>
            </a:r>
            <a:endParaRPr lang="en-US" sz="2600" dirty="0"/>
          </a:p>
        </p:txBody>
      </p:sp>
      <p:sp>
        <p:nvSpPr>
          <p:cNvPr id="4" name="Shape 2"/>
          <p:cNvSpPr/>
          <p:nvPr/>
        </p:nvSpPr>
        <p:spPr>
          <a:xfrm>
            <a:off x="411480" y="1645920"/>
            <a:ext cx="4663440" cy="4663440"/>
          </a:xfrm>
          <a:prstGeom prst="ellipse">
            <a:avLst/>
          </a:prstGeom>
          <a:solidFill>
            <a:srgbClr val="E9F1FA"/>
          </a:solidFill>
          <a:ln/>
        </p:spPr>
      </p:sp>
      <p:sp>
        <p:nvSpPr>
          <p:cNvPr id="5" name="Shape 3"/>
          <p:cNvSpPr/>
          <p:nvPr/>
        </p:nvSpPr>
        <p:spPr>
          <a:xfrm>
            <a:off x="1097280" y="3017520"/>
            <a:ext cx="3291840" cy="3291840"/>
          </a:xfrm>
          <a:prstGeom prst="ellipse">
            <a:avLst/>
          </a:prstGeom>
          <a:solidFill>
            <a:srgbClr val="BFD5EC"/>
          </a:solidFill>
          <a:ln/>
        </p:spPr>
      </p:sp>
      <p:sp>
        <p:nvSpPr>
          <p:cNvPr id="6" name="Shape 4"/>
          <p:cNvSpPr/>
          <p:nvPr/>
        </p:nvSpPr>
        <p:spPr>
          <a:xfrm>
            <a:off x="1874520" y="4572000"/>
            <a:ext cx="1737360" cy="1737360"/>
          </a:xfrm>
          <a:prstGeom prst="ellipse">
            <a:avLst/>
          </a:prstGeom>
          <a:solidFill>
            <a:srgbClr val="C9A227"/>
          </a:solidFill>
          <a:ln/>
        </p:spPr>
      </p:sp>
      <p:sp>
        <p:nvSpPr>
          <p:cNvPr id="7" name="Text 5"/>
          <p:cNvSpPr/>
          <p:nvPr/>
        </p:nvSpPr>
        <p:spPr>
          <a:xfrm>
            <a:off x="914400" y="1810512"/>
            <a:ext cx="3657600" cy="274320"/>
          </a:xfrm>
          <a:prstGeom prst="rect">
            <a:avLst/>
          </a:prstGeom>
          <a:noFill/>
          <a:ln/>
        </p:spPr>
        <p:txBody>
          <a:bodyPr wrap="square" lIns="0" tIns="0" rIns="0" bIns="0" rtlCol="0" anchor="ctr"/>
          <a:lstStyle/>
          <a:p>
            <a:pPr algn="ctr" indent="0" marL="0">
              <a:buNone/>
            </a:pPr>
            <a:r>
              <a:rPr lang="en-US" sz="1100" b="1" spc="100" kern="0" dirty="0">
                <a:solidFill>
                  <a:srgbClr val="1F4E79"/>
                </a:solidFill>
                <a:latin typeface="Calibri" pitchFamily="34" charset="0"/>
                <a:ea typeface="Calibri" pitchFamily="34" charset="-122"/>
                <a:cs typeface="Calibri" pitchFamily="34" charset="-120"/>
              </a:rPr>
              <a:t>SẢN PHẨM GIA TĂNG</a:t>
            </a:r>
            <a:endParaRPr lang="en-US" sz="1100" dirty="0"/>
          </a:p>
        </p:txBody>
      </p:sp>
      <p:sp>
        <p:nvSpPr>
          <p:cNvPr id="8" name="Text 6"/>
          <p:cNvSpPr/>
          <p:nvPr/>
        </p:nvSpPr>
        <p:spPr>
          <a:xfrm>
            <a:off x="1280160" y="3182112"/>
            <a:ext cx="2926080" cy="274320"/>
          </a:xfrm>
          <a:prstGeom prst="rect">
            <a:avLst/>
          </a:prstGeom>
          <a:noFill/>
          <a:ln/>
        </p:spPr>
        <p:txBody>
          <a:bodyPr wrap="square" lIns="0" tIns="0" rIns="0" bIns="0" rtlCol="0" anchor="ctr"/>
          <a:lstStyle/>
          <a:p>
            <a:pPr algn="ctr" indent="0" marL="0">
              <a:buNone/>
            </a:pPr>
            <a:r>
              <a:rPr lang="en-US" sz="1100" b="1" spc="100" kern="0" dirty="0">
                <a:solidFill>
                  <a:srgbClr val="10243E"/>
                </a:solidFill>
                <a:latin typeface="Calibri" pitchFamily="34" charset="0"/>
                <a:ea typeface="Calibri" pitchFamily="34" charset="-122"/>
                <a:cs typeface="Calibri" pitchFamily="34" charset="-120"/>
              </a:rPr>
              <a:t>SẢN PHẨM HIỆN HỮU</a:t>
            </a:r>
            <a:endParaRPr lang="en-US" sz="1100" dirty="0"/>
          </a:p>
        </p:txBody>
      </p:sp>
      <p:sp>
        <p:nvSpPr>
          <p:cNvPr id="9" name="Text 7"/>
          <p:cNvSpPr/>
          <p:nvPr/>
        </p:nvSpPr>
        <p:spPr>
          <a:xfrm>
            <a:off x="1874520" y="4773168"/>
            <a:ext cx="1737360" cy="1325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GIÁ TRỊ LÕI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Chắc chắn,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kiểm toán được</a:t>
            </a:r>
            <a:endParaRPr lang="en-US" sz="1000" dirty="0"/>
          </a:p>
        </p:txBody>
      </p:sp>
      <p:sp>
        <p:nvSpPr>
          <p:cNvPr id="10" name="Shape 8"/>
          <p:cNvSpPr/>
          <p:nvPr/>
        </p:nvSpPr>
        <p:spPr>
          <a:xfrm>
            <a:off x="5623560" y="1298448"/>
            <a:ext cx="6062472" cy="1572768"/>
          </a:xfrm>
          <a:prstGeom prst="roundRect">
            <a:avLst>
              <a:gd name="adj" fmla="val 4070"/>
            </a:avLst>
          </a:prstGeom>
          <a:solidFill>
            <a:srgbClr val="F7EFD8"/>
          </a:solidFill>
          <a:ln/>
        </p:spPr>
      </p:sp>
      <p:sp>
        <p:nvSpPr>
          <p:cNvPr id="11" name="Shape 9"/>
          <p:cNvSpPr/>
          <p:nvPr/>
        </p:nvSpPr>
        <p:spPr>
          <a:xfrm>
            <a:off x="5870448" y="1682496"/>
            <a:ext cx="640080" cy="640080"/>
          </a:xfrm>
          <a:prstGeom prst="ellipse">
            <a:avLst/>
          </a:prstGeom>
          <a:solidFill>
            <a:srgbClr val="C9A227"/>
          </a:solidFill>
          <a:ln/>
        </p:spPr>
      </p:sp>
      <p:pic>
        <p:nvPicPr>
          <p:cNvPr id="12" name="Image 0" descr="icons/target_w.png">    </p:cNvPr>
          <p:cNvPicPr>
            <a:picLocks noChangeAspect="1"/>
          </p:cNvPicPr>
          <p:nvPr/>
        </p:nvPicPr>
        <p:blipFill>
          <a:blip r:embed="rId1"/>
          <a:stretch>
            <a:fillRect/>
          </a:stretch>
        </p:blipFill>
        <p:spPr>
          <a:xfrm>
            <a:off x="6030468" y="1842516"/>
            <a:ext cx="320040" cy="320040"/>
          </a:xfrm>
          <a:prstGeom prst="rect">
            <a:avLst/>
          </a:prstGeom>
        </p:spPr>
      </p:pic>
      <p:sp>
        <p:nvSpPr>
          <p:cNvPr id="13" name="Text 10"/>
          <p:cNvSpPr/>
          <p:nvPr/>
        </p:nvSpPr>
        <p:spPr>
          <a:xfrm>
            <a:off x="6675120" y="1408176"/>
            <a:ext cx="4846320" cy="274320"/>
          </a:xfrm>
          <a:prstGeom prst="rect">
            <a:avLst/>
          </a:prstGeom>
          <a:noFill/>
          <a:ln/>
        </p:spPr>
        <p:txBody>
          <a:bodyPr wrap="square" lIns="0" tIns="0" rIns="0" bIns="0" rtlCol="0" anchor="ctr"/>
          <a:lstStyle/>
          <a:p>
            <a:pPr indent="0" marL="0">
              <a:buNone/>
            </a:pPr>
            <a:r>
              <a:rPr lang="en-US" sz="1150" b="1" spc="100" kern="0" dirty="0">
                <a:solidFill>
                  <a:srgbClr val="9A7A14"/>
                </a:solidFill>
                <a:latin typeface="Calibri" pitchFamily="34" charset="0"/>
                <a:ea typeface="Calibri" pitchFamily="34" charset="-122"/>
                <a:cs typeface="Calibri" pitchFamily="34" charset="-120"/>
              </a:rPr>
              <a:t>1 · GIÁ TRỊ LÕI</a:t>
            </a:r>
            <a:endParaRPr lang="en-US" sz="1150" dirty="0"/>
          </a:p>
        </p:txBody>
      </p:sp>
      <p:sp>
        <p:nvSpPr>
          <p:cNvPr id="14" name="Text 11"/>
          <p:cNvSpPr/>
          <p:nvPr/>
        </p:nvSpPr>
        <p:spPr>
          <a:xfrm>
            <a:off x="6675120" y="1700784"/>
            <a:ext cx="4846320" cy="1133856"/>
          </a:xfrm>
          <a:prstGeom prst="rect">
            <a:avLst/>
          </a:prstGeom>
          <a:noFill/>
          <a:ln/>
        </p:spPr>
        <p:txBody>
          <a:bodyPr wrap="square" lIns="0" tIns="0" rIns="0" bIns="0" rtlCol="0" anchor="t"/>
          <a:lstStyle/>
          <a:p>
            <a:pPr indent="0" marL="0">
              <a:lnSpc>
                <a:spcPct val="105000"/>
              </a:lnSpc>
              <a:buNone/>
            </a:pPr>
            <a:r>
              <a:rPr lang="en-US" sz="940" dirty="0">
                <a:solidFill>
                  <a:srgbClr val="1A2430"/>
                </a:solidFill>
                <a:latin typeface="Calibri" pitchFamily="34" charset="0"/>
                <a:ea typeface="Calibri" pitchFamily="34" charset="-122"/>
                <a:cs typeface="Calibri" pitchFamily="34" charset="-120"/>
              </a:rPr>
              <a:t>Đúng điều khoản, đúng phiên bản, đúng thời điểm — kèm bằng chứng mà ngân hàng bảo vệ được trước kiểm toán và thanh tra NHNN. Trả lại cho mỗi cán bộ tuân thủ 2–3 giờ mỗi ngày.</a:t>
            </a:r>
            <a:endParaRPr lang="en-US" sz="940" dirty="0"/>
          </a:p>
        </p:txBody>
      </p:sp>
      <p:sp>
        <p:nvSpPr>
          <p:cNvPr id="15" name="Shape 12"/>
          <p:cNvSpPr/>
          <p:nvPr/>
        </p:nvSpPr>
        <p:spPr>
          <a:xfrm>
            <a:off x="5623560" y="2999232"/>
            <a:ext cx="6062472" cy="1572768"/>
          </a:xfrm>
          <a:prstGeom prst="roundRect">
            <a:avLst>
              <a:gd name="adj" fmla="val 4070"/>
            </a:avLst>
          </a:prstGeom>
          <a:solidFill>
            <a:srgbClr val="E9F1FA"/>
          </a:solidFill>
          <a:ln/>
        </p:spPr>
      </p:sp>
      <p:sp>
        <p:nvSpPr>
          <p:cNvPr id="16" name="Shape 13"/>
          <p:cNvSpPr/>
          <p:nvPr/>
        </p:nvSpPr>
        <p:spPr>
          <a:xfrm>
            <a:off x="5870448" y="3383280"/>
            <a:ext cx="640080" cy="640080"/>
          </a:xfrm>
          <a:prstGeom prst="ellipse">
            <a:avLst/>
          </a:prstGeom>
          <a:solidFill>
            <a:srgbClr val="1F4E79"/>
          </a:solidFill>
          <a:ln/>
        </p:spPr>
      </p:sp>
      <p:pic>
        <p:nvPicPr>
          <p:cNvPr id="17" name="Image 1" descr="icons/grid_w.png">    </p:cNvPr>
          <p:cNvPicPr>
            <a:picLocks noChangeAspect="1"/>
          </p:cNvPicPr>
          <p:nvPr/>
        </p:nvPicPr>
        <p:blipFill>
          <a:blip r:embed="rId2"/>
          <a:stretch>
            <a:fillRect/>
          </a:stretch>
        </p:blipFill>
        <p:spPr>
          <a:xfrm>
            <a:off x="6030468" y="3543300"/>
            <a:ext cx="320040" cy="320040"/>
          </a:xfrm>
          <a:prstGeom prst="rect">
            <a:avLst/>
          </a:prstGeom>
        </p:spPr>
      </p:pic>
      <p:sp>
        <p:nvSpPr>
          <p:cNvPr id="18" name="Text 14"/>
          <p:cNvSpPr/>
          <p:nvPr/>
        </p:nvSpPr>
        <p:spPr>
          <a:xfrm>
            <a:off x="6675120" y="3108960"/>
            <a:ext cx="4846320" cy="274320"/>
          </a:xfrm>
          <a:prstGeom prst="rect">
            <a:avLst/>
          </a:prstGeom>
          <a:noFill/>
          <a:ln/>
        </p:spPr>
        <p:txBody>
          <a:bodyPr wrap="square" lIns="0" tIns="0" rIns="0" bIns="0" rtlCol="0" anchor="ctr"/>
          <a:lstStyle/>
          <a:p>
            <a:pPr indent="0" marL="0">
              <a:buNone/>
            </a:pPr>
            <a:r>
              <a:rPr lang="en-US" sz="1150" b="1" spc="100" kern="0" dirty="0">
                <a:solidFill>
                  <a:srgbClr val="1F4E79"/>
                </a:solidFill>
                <a:latin typeface="Calibri" pitchFamily="34" charset="0"/>
                <a:ea typeface="Calibri" pitchFamily="34" charset="-122"/>
                <a:cs typeface="Calibri" pitchFamily="34" charset="-120"/>
              </a:rPr>
              <a:t>2 · SẢN PHẨM HIỆN HỮU</a:t>
            </a:r>
            <a:endParaRPr lang="en-US" sz="1150" dirty="0"/>
          </a:p>
        </p:txBody>
      </p:sp>
      <p:sp>
        <p:nvSpPr>
          <p:cNvPr id="19" name="Text 15"/>
          <p:cNvSpPr/>
          <p:nvPr/>
        </p:nvSpPr>
        <p:spPr>
          <a:xfrm>
            <a:off x="6675120" y="3401568"/>
            <a:ext cx="4846320" cy="1133856"/>
          </a:xfrm>
          <a:prstGeom prst="rect">
            <a:avLst/>
          </a:prstGeom>
          <a:noFill/>
          <a:ln/>
        </p:spPr>
        <p:txBody>
          <a:bodyPr wrap="square" lIns="0" tIns="0" rIns="0" bIns="0" rtlCol="0" anchor="t"/>
          <a:lstStyle/>
          <a:p>
            <a:pPr indent="0" marL="0">
              <a:lnSpc>
                <a:spcPct val="105000"/>
              </a:lnSpc>
              <a:buNone/>
            </a:pPr>
            <a:r>
              <a:rPr lang="en-US" sz="940" dirty="0">
                <a:solidFill>
                  <a:srgbClr val="1A2430"/>
                </a:solidFill>
                <a:latin typeface="Calibri" pitchFamily="34" charset="0"/>
                <a:ea typeface="Calibri" pitchFamily="34" charset="-122"/>
                <a:cs typeface="Calibri" pitchFamily="34" charset="-120"/>
              </a:rPr>
              <a:t>Hai luồng nghiệp vụ (Thêm nguồn pháp lý · Kiểm tra tuân thủ tài liệu) · panel “Vì sao có câu trả lời này” · so sánh trực tiếp với Standard RAG · Compliance-Gap Radar · chuẩn hóa số/ngày pháp lý tiếng Việt · trực quan hóa đồ thị &amp; dòng thời gian điều khoản · audit log, RBAC — FastAPI · PostgreSQL · OpenSearch · Neo4j · Docker.</a:t>
            </a:r>
            <a:endParaRPr lang="en-US" sz="940" dirty="0"/>
          </a:p>
        </p:txBody>
      </p:sp>
      <p:sp>
        <p:nvSpPr>
          <p:cNvPr id="20" name="Shape 16"/>
          <p:cNvSpPr/>
          <p:nvPr/>
        </p:nvSpPr>
        <p:spPr>
          <a:xfrm>
            <a:off x="5623560" y="4700016"/>
            <a:ext cx="6062472" cy="1572768"/>
          </a:xfrm>
          <a:prstGeom prst="roundRect">
            <a:avLst>
              <a:gd name="adj" fmla="val 4070"/>
            </a:avLst>
          </a:prstGeom>
          <a:solidFill>
            <a:srgbClr val="E9F1FA"/>
          </a:solidFill>
          <a:ln/>
        </p:spPr>
      </p:sp>
      <p:sp>
        <p:nvSpPr>
          <p:cNvPr id="21" name="Shape 17"/>
          <p:cNvSpPr/>
          <p:nvPr/>
        </p:nvSpPr>
        <p:spPr>
          <a:xfrm>
            <a:off x="5870448" y="5084064"/>
            <a:ext cx="640080" cy="640080"/>
          </a:xfrm>
          <a:prstGeom prst="ellipse">
            <a:avLst/>
          </a:prstGeom>
          <a:solidFill>
            <a:srgbClr val="1F4E79"/>
          </a:solidFill>
          <a:ln/>
        </p:spPr>
      </p:sp>
      <p:pic>
        <p:nvPicPr>
          <p:cNvPr id="22" name="Image 2" descr="icons/handshake_w.png">    </p:cNvPr>
          <p:cNvPicPr>
            <a:picLocks noChangeAspect="1"/>
          </p:cNvPicPr>
          <p:nvPr/>
        </p:nvPicPr>
        <p:blipFill>
          <a:blip r:embed="rId3"/>
          <a:stretch>
            <a:fillRect/>
          </a:stretch>
        </p:blipFill>
        <p:spPr>
          <a:xfrm>
            <a:off x="6030468" y="5244084"/>
            <a:ext cx="320040" cy="320040"/>
          </a:xfrm>
          <a:prstGeom prst="rect">
            <a:avLst/>
          </a:prstGeom>
        </p:spPr>
      </p:pic>
      <p:sp>
        <p:nvSpPr>
          <p:cNvPr id="23" name="Text 18"/>
          <p:cNvSpPr/>
          <p:nvPr/>
        </p:nvSpPr>
        <p:spPr>
          <a:xfrm>
            <a:off x="6675120" y="4809744"/>
            <a:ext cx="4846320" cy="274320"/>
          </a:xfrm>
          <a:prstGeom prst="rect">
            <a:avLst/>
          </a:prstGeom>
          <a:noFill/>
          <a:ln/>
        </p:spPr>
        <p:txBody>
          <a:bodyPr wrap="square" lIns="0" tIns="0" rIns="0" bIns="0" rtlCol="0" anchor="ctr"/>
          <a:lstStyle/>
          <a:p>
            <a:pPr indent="0" marL="0">
              <a:buNone/>
            </a:pPr>
            <a:r>
              <a:rPr lang="en-US" sz="1150" b="1" spc="100" kern="0" dirty="0">
                <a:solidFill>
                  <a:srgbClr val="1F4E79"/>
                </a:solidFill>
                <a:latin typeface="Calibri" pitchFamily="34" charset="0"/>
                <a:ea typeface="Calibri" pitchFamily="34" charset="-122"/>
                <a:cs typeface="Calibri" pitchFamily="34" charset="-120"/>
              </a:rPr>
              <a:t>3 · SẢN PHẨM GIA TĂNG</a:t>
            </a:r>
            <a:endParaRPr lang="en-US" sz="1150" dirty="0"/>
          </a:p>
        </p:txBody>
      </p:sp>
      <p:sp>
        <p:nvSpPr>
          <p:cNvPr id="24" name="Text 19"/>
          <p:cNvSpPr/>
          <p:nvPr/>
        </p:nvSpPr>
        <p:spPr>
          <a:xfrm>
            <a:off x="6675120" y="5102352"/>
            <a:ext cx="4846320" cy="1133856"/>
          </a:xfrm>
          <a:prstGeom prst="rect">
            <a:avLst/>
          </a:prstGeom>
          <a:noFill/>
          <a:ln/>
        </p:spPr>
        <p:txBody>
          <a:bodyPr wrap="square" lIns="0" tIns="0" rIns="0" bIns="0" rtlCol="0" anchor="t"/>
          <a:lstStyle/>
          <a:p>
            <a:pPr indent="0" marL="0">
              <a:lnSpc>
                <a:spcPct val="105000"/>
              </a:lnSpc>
              <a:buNone/>
            </a:pPr>
            <a:r>
              <a:rPr lang="en-US" sz="940" dirty="0">
                <a:solidFill>
                  <a:srgbClr val="1A2430"/>
                </a:solidFill>
                <a:latin typeface="Calibri" pitchFamily="34" charset="0"/>
                <a:ea typeface="Calibri" pitchFamily="34" charset="-122"/>
                <a:cs typeface="Calibri" pitchFamily="34" charset="-120"/>
              </a:rPr>
              <a:t>Hộp duyệt Human Review tích hợp · vết kiểm toán đầy đủ phục vụ thanh tra · crawler SBV/VBPL giữ kho luôn mới · báo cáo Tác động quy định &amp; Rà soát tuân thủ · triển khai on-premise (tài liệu không rời ngân hàng) · onboarding + nghiệm thu bằng bộ benchmark.</a:t>
            </a:r>
            <a:endParaRPr lang="en-US" sz="940" dirty="0"/>
          </a:p>
        </p:txBody>
      </p:sp>
      <p:sp>
        <p:nvSpPr>
          <p:cNvPr id="25" name="Text 20"/>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26" name="Text 21"/>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II. PRODUCT CONCEPT — SẢN PHẨM VẬN HÀNH THẾ NÀO</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Hai luồng nghiệp vụ, một mô hình tin cậy</a:t>
            </a:r>
            <a:endParaRPr lang="en-US" sz="2600" dirty="0"/>
          </a:p>
        </p:txBody>
      </p:sp>
      <p:sp>
        <p:nvSpPr>
          <p:cNvPr id="4" name="Shape 2"/>
          <p:cNvSpPr/>
          <p:nvPr/>
        </p:nvSpPr>
        <p:spPr>
          <a:xfrm>
            <a:off x="502920" y="1325880"/>
            <a:ext cx="5532120" cy="3246120"/>
          </a:xfrm>
          <a:prstGeom prst="roundRect">
            <a:avLst>
              <a:gd name="adj" fmla="val 1972"/>
            </a:avLst>
          </a:prstGeom>
          <a:solidFill>
            <a:srgbClr val="E9F1FA"/>
          </a:solidFill>
          <a:ln/>
        </p:spPr>
      </p:sp>
      <p:sp>
        <p:nvSpPr>
          <p:cNvPr id="5" name="Shape 3"/>
          <p:cNvSpPr/>
          <p:nvPr/>
        </p:nvSpPr>
        <p:spPr>
          <a:xfrm>
            <a:off x="777240" y="1572768"/>
            <a:ext cx="603504" cy="603504"/>
          </a:xfrm>
          <a:prstGeom prst="ellipse">
            <a:avLst/>
          </a:prstGeom>
          <a:solidFill>
            <a:srgbClr val="1F4E79"/>
          </a:solidFill>
          <a:ln/>
        </p:spPr>
      </p:sp>
      <p:pic>
        <p:nvPicPr>
          <p:cNvPr id="6" name="Image 0" descr="icons/upload_w.png">    </p:cNvPr>
          <p:cNvPicPr>
            <a:picLocks noChangeAspect="1"/>
          </p:cNvPicPr>
          <p:nvPr/>
        </p:nvPicPr>
        <p:blipFill>
          <a:blip r:embed="rId1"/>
          <a:stretch>
            <a:fillRect/>
          </a:stretch>
        </p:blipFill>
        <p:spPr>
          <a:xfrm>
            <a:off x="928116" y="1723644"/>
            <a:ext cx="301752" cy="301752"/>
          </a:xfrm>
          <a:prstGeom prst="rect">
            <a:avLst/>
          </a:prstGeom>
        </p:spPr>
      </p:pic>
      <p:sp>
        <p:nvSpPr>
          <p:cNvPr id="7" name="Text 4"/>
          <p:cNvSpPr/>
          <p:nvPr/>
        </p:nvSpPr>
        <p:spPr>
          <a:xfrm>
            <a:off x="1536192" y="1700784"/>
            <a:ext cx="4389120" cy="274320"/>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LUỒNG A — THÊM NGUỒN PHÁP LÝ</a:t>
            </a:r>
            <a:endParaRPr lang="en-US" sz="1150" dirty="0"/>
          </a:p>
        </p:txBody>
      </p:sp>
      <p:sp>
        <p:nvSpPr>
          <p:cNvPr id="8" name="Text 5"/>
          <p:cNvSpPr/>
          <p:nvPr/>
        </p:nvSpPr>
        <p:spPr>
          <a:xfrm>
            <a:off x="822960" y="2286000"/>
            <a:ext cx="5029200" cy="2194560"/>
          </a:xfrm>
          <a:prstGeom prst="rect">
            <a:avLst/>
          </a:prstGeom>
          <a:noFill/>
          <a:ln/>
        </p:spPr>
        <p:txBody>
          <a:bodyPr wrap="square" lIns="0" tIns="0" rIns="0" bIns="0" rtlCol="0" anchor="t"/>
          <a:lstStyle/>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Upload → quét injection &amp; cách ly → parse Chương/Điều/Khoản/Điểm</a:t>
            </a:r>
            <a:endParaRPr lang="en-US" sz="1030" dirty="0"/>
          </a:p>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Gói review → CON NGƯỜI DUYỆT từng thay đổi được phát hiện</a:t>
            </a:r>
            <a:endParaRPr lang="en-US" sz="1030" dirty="0"/>
          </a:p>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Cổng kích hoạt cứng: HTTP 409 khi chưa duyệt xong mục critical</a:t>
            </a:r>
            <a:endParaRPr lang="en-US" sz="1030" dirty="0"/>
          </a:p>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Phiên bản tất định [valid_from, valid_to) + ChangeEvent tường minh</a:t>
            </a:r>
            <a:endParaRPr lang="en-US" sz="1030" dirty="0"/>
          </a:p>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Đầu ra: Báo cáo tác động — policy nội bộ nào bị ảnh hưởng</a:t>
            </a:r>
            <a:endParaRPr lang="en-US" sz="1030" dirty="0"/>
          </a:p>
        </p:txBody>
      </p:sp>
      <p:sp>
        <p:nvSpPr>
          <p:cNvPr id="9" name="Shape 6"/>
          <p:cNvSpPr/>
          <p:nvPr/>
        </p:nvSpPr>
        <p:spPr>
          <a:xfrm>
            <a:off x="6172200" y="1325880"/>
            <a:ext cx="5532120" cy="3246120"/>
          </a:xfrm>
          <a:prstGeom prst="roundRect">
            <a:avLst>
              <a:gd name="adj" fmla="val 1972"/>
            </a:avLst>
          </a:prstGeom>
          <a:solidFill>
            <a:srgbClr val="E9F1FA"/>
          </a:solidFill>
          <a:ln/>
        </p:spPr>
      </p:sp>
      <p:sp>
        <p:nvSpPr>
          <p:cNvPr id="10" name="Shape 7"/>
          <p:cNvSpPr/>
          <p:nvPr/>
        </p:nvSpPr>
        <p:spPr>
          <a:xfrm>
            <a:off x="6446520" y="1572768"/>
            <a:ext cx="603504" cy="603504"/>
          </a:xfrm>
          <a:prstGeom prst="ellipse">
            <a:avLst/>
          </a:prstGeom>
          <a:solidFill>
            <a:srgbClr val="1F4E79"/>
          </a:solidFill>
          <a:ln/>
        </p:spPr>
      </p:sp>
      <p:pic>
        <p:nvPicPr>
          <p:cNvPr id="11" name="Image 1" descr="icons/tasks_w.png">    </p:cNvPr>
          <p:cNvPicPr>
            <a:picLocks noChangeAspect="1"/>
          </p:cNvPicPr>
          <p:nvPr/>
        </p:nvPicPr>
        <p:blipFill>
          <a:blip r:embed="rId2"/>
          <a:stretch>
            <a:fillRect/>
          </a:stretch>
        </p:blipFill>
        <p:spPr>
          <a:xfrm>
            <a:off x="6597396" y="1723644"/>
            <a:ext cx="301752" cy="301752"/>
          </a:xfrm>
          <a:prstGeom prst="rect">
            <a:avLst/>
          </a:prstGeom>
        </p:spPr>
      </p:pic>
      <p:sp>
        <p:nvSpPr>
          <p:cNvPr id="12" name="Text 8"/>
          <p:cNvSpPr/>
          <p:nvPr/>
        </p:nvSpPr>
        <p:spPr>
          <a:xfrm>
            <a:off x="7205472" y="1700784"/>
            <a:ext cx="4389120" cy="274320"/>
          </a:xfrm>
          <a:prstGeom prst="rect">
            <a:avLst/>
          </a:prstGeom>
          <a:noFill/>
          <a:ln/>
        </p:spPr>
        <p:txBody>
          <a:bodyPr wrap="square" lIns="0" tIns="0" rIns="0" bIns="0" rtlCol="0" anchor="ctr"/>
          <a:lstStyle/>
          <a:p>
            <a:pPr indent="0" marL="0">
              <a:buNone/>
            </a:pPr>
            <a:r>
              <a:rPr lang="en-US" sz="1150" b="1" dirty="0">
                <a:solidFill>
                  <a:srgbClr val="1F4E79"/>
                </a:solidFill>
                <a:latin typeface="Calibri" pitchFamily="34" charset="0"/>
                <a:ea typeface="Calibri" pitchFamily="34" charset="-122"/>
                <a:cs typeface="Calibri" pitchFamily="34" charset="-120"/>
              </a:rPr>
              <a:t>LUỒNG B — KIỂM TRA TUÂN THỦ TÀI LIỆU</a:t>
            </a:r>
            <a:endParaRPr lang="en-US" sz="1150" dirty="0"/>
          </a:p>
        </p:txBody>
      </p:sp>
      <p:sp>
        <p:nvSpPr>
          <p:cNvPr id="13" name="Text 9"/>
          <p:cNvSpPr/>
          <p:nvPr/>
        </p:nvSpPr>
        <p:spPr>
          <a:xfrm>
            <a:off x="6492240" y="2286000"/>
            <a:ext cx="5029200" cy="1463040"/>
          </a:xfrm>
          <a:prstGeom prst="rect">
            <a:avLst/>
          </a:prstGeom>
          <a:noFill/>
          <a:ln/>
        </p:spPr>
        <p:txBody>
          <a:bodyPr wrap="square" lIns="0" tIns="0" rIns="0" bIns="0" rtlCol="0" anchor="t"/>
          <a:lstStyle/>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Upload policy/báo cáo dạng REVIEW_TARGET — không bao giờ vào kho pháp lý</a:t>
            </a:r>
            <a:endParaRPr lang="en-US" sz="1030" dirty="0"/>
          </a:p>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Trích claim: số tiền, tỷ lệ %, deadline, tham chiếu văn bản</a:t>
            </a:r>
            <a:endParaRPr lang="en-US" sz="1030" dirty="0"/>
          </a:p>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Chỉ đối chiếu với kho APPROVED + ACTIVE tại đúng ngày review</a:t>
            </a:r>
            <a:endParaRPr lang="en-US" sz="1030" dirty="0"/>
          </a:p>
          <a:p>
            <a:pPr marL="101600" indent="-101600">
              <a:lnSpc>
                <a:spcPct val="104000"/>
              </a:lnSpc>
              <a:spcAft>
                <a:spcPts val="600"/>
              </a:spcAft>
              <a:buSzPct val="100000"/>
              <a:buChar char="•"/>
            </a:pPr>
            <a:r>
              <a:rPr lang="en-US" sz="1030" dirty="0">
                <a:solidFill>
                  <a:srgbClr val="1A2430"/>
                </a:solidFill>
                <a:latin typeface="Calibri" pitchFamily="34" charset="0"/>
                <a:ea typeface="Calibri" pitchFamily="34" charset="-122"/>
                <a:cs typeface="Calibri" pitchFamily="34" charset="-120"/>
              </a:rPr>
              <a:t>Đầu ra: Báo cáo rà soát tuân thủ theo từng claim</a:t>
            </a:r>
            <a:endParaRPr lang="en-US" sz="1030" dirty="0"/>
          </a:p>
        </p:txBody>
      </p:sp>
      <p:sp>
        <p:nvSpPr>
          <p:cNvPr id="14" name="Shape 10"/>
          <p:cNvSpPr/>
          <p:nvPr/>
        </p:nvSpPr>
        <p:spPr>
          <a:xfrm>
            <a:off x="6492240" y="3822192"/>
            <a:ext cx="1143000" cy="274320"/>
          </a:xfrm>
          <a:prstGeom prst="roundRect">
            <a:avLst>
              <a:gd name="adj" fmla="val 50000"/>
            </a:avLst>
          </a:prstGeom>
          <a:solidFill>
            <a:srgbClr val="FFFFFF"/>
          </a:solidFill>
          <a:ln w="12700">
            <a:solidFill>
              <a:srgbClr val="1E7A46"/>
            </a:solidFill>
            <a:prstDash val="solid"/>
          </a:ln>
        </p:spPr>
      </p:sp>
      <p:sp>
        <p:nvSpPr>
          <p:cNvPr id="15" name="Text 11"/>
          <p:cNvSpPr/>
          <p:nvPr/>
        </p:nvSpPr>
        <p:spPr>
          <a:xfrm>
            <a:off x="6492240" y="3822192"/>
            <a:ext cx="1143000" cy="274320"/>
          </a:xfrm>
          <a:prstGeom prst="rect">
            <a:avLst/>
          </a:prstGeom>
          <a:noFill/>
          <a:ln/>
        </p:spPr>
        <p:txBody>
          <a:bodyPr wrap="square" lIns="0" tIns="0" rIns="0" bIns="0" rtlCol="0" anchor="ctr"/>
          <a:lstStyle/>
          <a:p>
            <a:pPr algn="ctr" indent="0" marL="0">
              <a:buNone/>
            </a:pPr>
            <a:r>
              <a:rPr lang="en-US" sz="800" b="1" dirty="0">
                <a:solidFill>
                  <a:srgbClr val="1E7A46"/>
                </a:solidFill>
                <a:latin typeface="Calibri" pitchFamily="34" charset="0"/>
                <a:ea typeface="Calibri" pitchFamily="34" charset="-122"/>
                <a:cs typeface="Calibri" pitchFamily="34" charset="-120"/>
              </a:rPr>
              <a:t>COMPLIANT</a:t>
            </a:r>
            <a:endParaRPr lang="en-US" sz="800" dirty="0"/>
          </a:p>
        </p:txBody>
      </p:sp>
      <p:sp>
        <p:nvSpPr>
          <p:cNvPr id="16" name="Shape 12"/>
          <p:cNvSpPr/>
          <p:nvPr/>
        </p:nvSpPr>
        <p:spPr>
          <a:xfrm>
            <a:off x="7744968" y="3822192"/>
            <a:ext cx="1463040" cy="274320"/>
          </a:xfrm>
          <a:prstGeom prst="roundRect">
            <a:avLst>
              <a:gd name="adj" fmla="val 50000"/>
            </a:avLst>
          </a:prstGeom>
          <a:solidFill>
            <a:srgbClr val="FFFFFF"/>
          </a:solidFill>
          <a:ln w="12700">
            <a:solidFill>
              <a:srgbClr val="B3261E"/>
            </a:solidFill>
            <a:prstDash val="solid"/>
          </a:ln>
        </p:spPr>
      </p:sp>
      <p:sp>
        <p:nvSpPr>
          <p:cNvPr id="17" name="Text 13"/>
          <p:cNvSpPr/>
          <p:nvPr/>
        </p:nvSpPr>
        <p:spPr>
          <a:xfrm>
            <a:off x="7744968" y="3822192"/>
            <a:ext cx="1463040" cy="274320"/>
          </a:xfrm>
          <a:prstGeom prst="rect">
            <a:avLst/>
          </a:prstGeom>
          <a:noFill/>
          <a:ln/>
        </p:spPr>
        <p:txBody>
          <a:bodyPr wrap="square" lIns="0" tIns="0" rIns="0" bIns="0" rtlCol="0" anchor="ctr"/>
          <a:lstStyle/>
          <a:p>
            <a:pPr algn="ctr" indent="0" marL="0">
              <a:buNone/>
            </a:pPr>
            <a:r>
              <a:rPr lang="en-US" sz="800" b="1" dirty="0">
                <a:solidFill>
                  <a:srgbClr val="B3261E"/>
                </a:solidFill>
                <a:latin typeface="Calibri" pitchFamily="34" charset="0"/>
                <a:ea typeface="Calibri" pitchFamily="34" charset="-122"/>
                <a:cs typeface="Calibri" pitchFamily="34" charset="-120"/>
              </a:rPr>
              <a:t>NON_COMPLIANT</a:t>
            </a:r>
            <a:endParaRPr lang="en-US" sz="800" dirty="0"/>
          </a:p>
        </p:txBody>
      </p:sp>
      <p:sp>
        <p:nvSpPr>
          <p:cNvPr id="18" name="Shape 14"/>
          <p:cNvSpPr/>
          <p:nvPr/>
        </p:nvSpPr>
        <p:spPr>
          <a:xfrm>
            <a:off x="9317736" y="3822192"/>
            <a:ext cx="2011680" cy="274320"/>
          </a:xfrm>
          <a:prstGeom prst="roundRect">
            <a:avLst>
              <a:gd name="adj" fmla="val 50000"/>
            </a:avLst>
          </a:prstGeom>
          <a:solidFill>
            <a:srgbClr val="FFFFFF"/>
          </a:solidFill>
          <a:ln w="12700">
            <a:solidFill>
              <a:srgbClr val="6B5B00"/>
            </a:solidFill>
            <a:prstDash val="solid"/>
          </a:ln>
        </p:spPr>
      </p:sp>
      <p:sp>
        <p:nvSpPr>
          <p:cNvPr id="19" name="Text 15"/>
          <p:cNvSpPr/>
          <p:nvPr/>
        </p:nvSpPr>
        <p:spPr>
          <a:xfrm>
            <a:off x="9317736" y="3822192"/>
            <a:ext cx="2011680" cy="274320"/>
          </a:xfrm>
          <a:prstGeom prst="rect">
            <a:avLst/>
          </a:prstGeom>
          <a:noFill/>
          <a:ln/>
        </p:spPr>
        <p:txBody>
          <a:bodyPr wrap="square" lIns="0" tIns="0" rIns="0" bIns="0" rtlCol="0" anchor="ctr"/>
          <a:lstStyle/>
          <a:p>
            <a:pPr algn="ctr" indent="0" marL="0">
              <a:buNone/>
            </a:pPr>
            <a:r>
              <a:rPr lang="en-US" sz="800" b="1" dirty="0">
                <a:solidFill>
                  <a:srgbClr val="6B5B00"/>
                </a:solidFill>
                <a:latin typeface="Calibri" pitchFamily="34" charset="0"/>
                <a:ea typeface="Calibri" pitchFamily="34" charset="-122"/>
                <a:cs typeface="Calibri" pitchFamily="34" charset="-120"/>
              </a:rPr>
              <a:t>PARTIALLY_COMPLIANT</a:t>
            </a:r>
            <a:endParaRPr lang="en-US" sz="800" dirty="0"/>
          </a:p>
        </p:txBody>
      </p:sp>
      <p:sp>
        <p:nvSpPr>
          <p:cNvPr id="20" name="Shape 16"/>
          <p:cNvSpPr/>
          <p:nvPr/>
        </p:nvSpPr>
        <p:spPr>
          <a:xfrm>
            <a:off x="6492240" y="4169664"/>
            <a:ext cx="2057400" cy="274320"/>
          </a:xfrm>
          <a:prstGeom prst="roundRect">
            <a:avLst>
              <a:gd name="adj" fmla="val 50000"/>
            </a:avLst>
          </a:prstGeom>
          <a:solidFill>
            <a:srgbClr val="FFFFFF"/>
          </a:solidFill>
          <a:ln w="12700">
            <a:solidFill>
              <a:srgbClr val="B3261E"/>
            </a:solidFill>
            <a:prstDash val="solid"/>
          </a:ln>
        </p:spPr>
      </p:sp>
      <p:sp>
        <p:nvSpPr>
          <p:cNvPr id="21" name="Text 17"/>
          <p:cNvSpPr/>
          <p:nvPr/>
        </p:nvSpPr>
        <p:spPr>
          <a:xfrm>
            <a:off x="6492240" y="4169664"/>
            <a:ext cx="2057400" cy="274320"/>
          </a:xfrm>
          <a:prstGeom prst="rect">
            <a:avLst/>
          </a:prstGeom>
          <a:noFill/>
          <a:ln/>
        </p:spPr>
        <p:txBody>
          <a:bodyPr wrap="square" lIns="0" tIns="0" rIns="0" bIns="0" rtlCol="0" anchor="ctr"/>
          <a:lstStyle/>
          <a:p>
            <a:pPr algn="ctr" indent="0" marL="0">
              <a:buNone/>
            </a:pPr>
            <a:r>
              <a:rPr lang="en-US" sz="800" b="1" dirty="0">
                <a:solidFill>
                  <a:srgbClr val="B3261E"/>
                </a:solidFill>
                <a:latin typeface="Calibri" pitchFamily="34" charset="0"/>
                <a:ea typeface="Calibri" pitchFamily="34" charset="-122"/>
                <a:cs typeface="Calibri" pitchFamily="34" charset="-120"/>
              </a:rPr>
              <a:t>OUTDATED_REFERENCE</a:t>
            </a:r>
            <a:endParaRPr lang="en-US" sz="800" dirty="0"/>
          </a:p>
        </p:txBody>
      </p:sp>
      <p:sp>
        <p:nvSpPr>
          <p:cNvPr id="22" name="Shape 18"/>
          <p:cNvSpPr/>
          <p:nvPr/>
        </p:nvSpPr>
        <p:spPr>
          <a:xfrm>
            <a:off x="8659368" y="4169664"/>
            <a:ext cx="1691640" cy="274320"/>
          </a:xfrm>
          <a:prstGeom prst="roundRect">
            <a:avLst>
              <a:gd name="adj" fmla="val 50000"/>
            </a:avLst>
          </a:prstGeom>
          <a:solidFill>
            <a:srgbClr val="FFFFFF"/>
          </a:solidFill>
          <a:ln w="12700">
            <a:solidFill>
              <a:srgbClr val="5B6B7C"/>
            </a:solidFill>
            <a:prstDash val="solid"/>
          </a:ln>
        </p:spPr>
      </p:sp>
      <p:sp>
        <p:nvSpPr>
          <p:cNvPr id="23" name="Text 19"/>
          <p:cNvSpPr/>
          <p:nvPr/>
        </p:nvSpPr>
        <p:spPr>
          <a:xfrm>
            <a:off x="8659368" y="4169664"/>
            <a:ext cx="1691640" cy="274320"/>
          </a:xfrm>
          <a:prstGeom prst="rect">
            <a:avLst/>
          </a:prstGeom>
          <a:noFill/>
          <a:ln/>
        </p:spPr>
        <p:txBody>
          <a:bodyPr wrap="square" lIns="0" tIns="0" rIns="0" bIns="0" rtlCol="0" anchor="ctr"/>
          <a:lstStyle/>
          <a:p>
            <a:pPr algn="ctr" indent="0" marL="0">
              <a:buNone/>
            </a:pPr>
            <a:r>
              <a:rPr lang="en-US" sz="800" b="1" dirty="0">
                <a:solidFill>
                  <a:srgbClr val="5B6B7C"/>
                </a:solidFill>
                <a:latin typeface="Calibri" pitchFamily="34" charset="0"/>
                <a:ea typeface="Calibri" pitchFamily="34" charset="-122"/>
                <a:cs typeface="Calibri" pitchFamily="34" charset="-120"/>
              </a:rPr>
              <a:t>MISSING_EVIDENCE</a:t>
            </a:r>
            <a:endParaRPr lang="en-US" sz="800" dirty="0"/>
          </a:p>
        </p:txBody>
      </p:sp>
      <p:sp>
        <p:nvSpPr>
          <p:cNvPr id="24" name="Shape 20"/>
          <p:cNvSpPr/>
          <p:nvPr/>
        </p:nvSpPr>
        <p:spPr>
          <a:xfrm>
            <a:off x="6492240" y="4517136"/>
            <a:ext cx="1234440" cy="274320"/>
          </a:xfrm>
          <a:prstGeom prst="roundRect">
            <a:avLst>
              <a:gd name="adj" fmla="val 50000"/>
            </a:avLst>
          </a:prstGeom>
          <a:solidFill>
            <a:srgbClr val="FFFFFF"/>
          </a:solidFill>
          <a:ln w="12700">
            <a:solidFill>
              <a:srgbClr val="6B5B00"/>
            </a:solidFill>
            <a:prstDash val="solid"/>
          </a:ln>
        </p:spPr>
      </p:sp>
      <p:sp>
        <p:nvSpPr>
          <p:cNvPr id="25" name="Text 21"/>
          <p:cNvSpPr/>
          <p:nvPr/>
        </p:nvSpPr>
        <p:spPr>
          <a:xfrm>
            <a:off x="6492240" y="4517136"/>
            <a:ext cx="1234440" cy="274320"/>
          </a:xfrm>
          <a:prstGeom prst="rect">
            <a:avLst/>
          </a:prstGeom>
          <a:noFill/>
          <a:ln/>
        </p:spPr>
        <p:txBody>
          <a:bodyPr wrap="square" lIns="0" tIns="0" rIns="0" bIns="0" rtlCol="0" anchor="ctr"/>
          <a:lstStyle/>
          <a:p>
            <a:pPr algn="ctr" indent="0" marL="0">
              <a:buNone/>
            </a:pPr>
            <a:r>
              <a:rPr lang="en-US" sz="800" b="1" dirty="0">
                <a:solidFill>
                  <a:srgbClr val="6B5B00"/>
                </a:solidFill>
                <a:latin typeface="Calibri" pitchFamily="34" charset="0"/>
                <a:ea typeface="Calibri" pitchFamily="34" charset="-122"/>
                <a:cs typeface="Calibri" pitchFamily="34" charset="-120"/>
              </a:rPr>
              <a:t>AMBIGUOUS</a:t>
            </a:r>
            <a:endParaRPr lang="en-US" sz="800" dirty="0"/>
          </a:p>
        </p:txBody>
      </p:sp>
      <p:sp>
        <p:nvSpPr>
          <p:cNvPr id="26" name="Shape 22"/>
          <p:cNvSpPr/>
          <p:nvPr/>
        </p:nvSpPr>
        <p:spPr>
          <a:xfrm>
            <a:off x="7836408" y="4517136"/>
            <a:ext cx="2011680" cy="274320"/>
          </a:xfrm>
          <a:prstGeom prst="roundRect">
            <a:avLst>
              <a:gd name="adj" fmla="val 50000"/>
            </a:avLst>
          </a:prstGeom>
          <a:solidFill>
            <a:srgbClr val="FFFFFF"/>
          </a:solidFill>
          <a:ln w="12700">
            <a:solidFill>
              <a:srgbClr val="1F4E79"/>
            </a:solidFill>
            <a:prstDash val="solid"/>
          </a:ln>
        </p:spPr>
      </p:sp>
      <p:sp>
        <p:nvSpPr>
          <p:cNvPr id="27" name="Text 23"/>
          <p:cNvSpPr/>
          <p:nvPr/>
        </p:nvSpPr>
        <p:spPr>
          <a:xfrm>
            <a:off x="7836408" y="4517136"/>
            <a:ext cx="2011680" cy="274320"/>
          </a:xfrm>
          <a:prstGeom prst="rect">
            <a:avLst/>
          </a:prstGeom>
          <a:noFill/>
          <a:ln/>
        </p:spPr>
        <p:txBody>
          <a:bodyPr wrap="square" lIns="0" tIns="0" rIns="0" bIns="0" rtlCol="0" anchor="ctr"/>
          <a:lstStyle/>
          <a:p>
            <a:pPr algn="ctr" indent="0" marL="0">
              <a:buNone/>
            </a:pPr>
            <a:r>
              <a:rPr lang="en-US" sz="800" b="1" dirty="0">
                <a:solidFill>
                  <a:srgbClr val="1F4E79"/>
                </a:solidFill>
                <a:latin typeface="Calibri" pitchFamily="34" charset="0"/>
                <a:ea typeface="Calibri" pitchFamily="34" charset="-122"/>
                <a:cs typeface="Calibri" pitchFamily="34" charset="-120"/>
              </a:rPr>
              <a:t>NEEDS_HUMAN_REVIEW</a:t>
            </a:r>
            <a:endParaRPr lang="en-US" sz="800" dirty="0"/>
          </a:p>
        </p:txBody>
      </p:sp>
      <p:sp>
        <p:nvSpPr>
          <p:cNvPr id="28" name="Shape 24"/>
          <p:cNvSpPr/>
          <p:nvPr/>
        </p:nvSpPr>
        <p:spPr>
          <a:xfrm>
            <a:off x="502920" y="4892040"/>
            <a:ext cx="2743200" cy="1417320"/>
          </a:xfrm>
          <a:prstGeom prst="roundRect">
            <a:avLst>
              <a:gd name="adj" fmla="val 4516"/>
            </a:avLst>
          </a:prstGeom>
          <a:solidFill>
            <a:srgbClr val="F7EFD8"/>
          </a:solidFill>
          <a:ln/>
        </p:spPr>
      </p:sp>
      <p:sp>
        <p:nvSpPr>
          <p:cNvPr id="29" name="Shape 25"/>
          <p:cNvSpPr/>
          <p:nvPr/>
        </p:nvSpPr>
        <p:spPr>
          <a:xfrm>
            <a:off x="704088" y="5074920"/>
            <a:ext cx="475488" cy="475488"/>
          </a:xfrm>
          <a:prstGeom prst="ellipse">
            <a:avLst/>
          </a:prstGeom>
          <a:solidFill>
            <a:srgbClr val="C9A227"/>
          </a:solidFill>
          <a:ln/>
        </p:spPr>
      </p:sp>
      <p:pic>
        <p:nvPicPr>
          <p:cNvPr id="30" name="Image 2" descr="icons/eye_n.png">    </p:cNvPr>
          <p:cNvPicPr>
            <a:picLocks noChangeAspect="1"/>
          </p:cNvPicPr>
          <p:nvPr/>
        </p:nvPicPr>
        <p:blipFill>
          <a:blip r:embed="rId3"/>
          <a:stretch>
            <a:fillRect/>
          </a:stretch>
        </p:blipFill>
        <p:spPr>
          <a:xfrm>
            <a:off x="822960" y="5193792"/>
            <a:ext cx="237744" cy="237744"/>
          </a:xfrm>
          <a:prstGeom prst="rect">
            <a:avLst/>
          </a:prstGeom>
        </p:spPr>
      </p:pic>
      <p:sp>
        <p:nvSpPr>
          <p:cNvPr id="31" name="Text 26"/>
          <p:cNvSpPr/>
          <p:nvPr/>
        </p:nvSpPr>
        <p:spPr>
          <a:xfrm>
            <a:off x="1307592" y="5074920"/>
            <a:ext cx="1874520" cy="502920"/>
          </a:xfrm>
          <a:prstGeom prst="rect">
            <a:avLst/>
          </a:prstGeom>
          <a:noFill/>
          <a:ln/>
        </p:spPr>
        <p:txBody>
          <a:bodyPr wrap="square" lIns="0" tIns="0" rIns="0" bIns="0" rtlCol="0" anchor="t"/>
          <a:lstStyle/>
          <a:p>
            <a:pPr indent="0" marL="0">
              <a:buNone/>
            </a:pPr>
            <a:r>
              <a:rPr lang="en-US" sz="1000" b="1" dirty="0">
                <a:solidFill>
                  <a:srgbClr val="10243E"/>
                </a:solidFill>
                <a:latin typeface="Calibri" pitchFamily="34" charset="0"/>
                <a:ea typeface="Calibri" pitchFamily="34" charset="-122"/>
                <a:cs typeface="Calibri" pitchFamily="34" charset="-120"/>
              </a:rPr>
              <a:t>Panel “Vì sao”</a:t>
            </a:r>
            <a:endParaRPr lang="en-US" sz="1000" dirty="0"/>
          </a:p>
        </p:txBody>
      </p:sp>
      <p:sp>
        <p:nvSpPr>
          <p:cNvPr id="32" name="Text 27"/>
          <p:cNvSpPr/>
          <p:nvPr/>
        </p:nvSpPr>
        <p:spPr>
          <a:xfrm>
            <a:off x="704088" y="5632704"/>
            <a:ext cx="2377440" cy="621792"/>
          </a:xfrm>
          <a:prstGeom prst="rect">
            <a:avLst/>
          </a:prstGeom>
          <a:noFill/>
          <a:ln/>
        </p:spPr>
        <p:txBody>
          <a:bodyPr wrap="square" lIns="0" tIns="0" rIns="0" bIns="0" rtlCol="0" anchor="t"/>
          <a:lstStyle/>
          <a:p>
            <a:pPr indent="0" marL="0">
              <a:buNone/>
            </a:pPr>
            <a:r>
              <a:rPr lang="en-US" sz="880" dirty="0">
                <a:solidFill>
                  <a:srgbClr val="1A2430"/>
                </a:solidFill>
                <a:latin typeface="Calibri" pitchFamily="34" charset="0"/>
                <a:ea typeface="Calibri" pitchFamily="34" charset="-122"/>
                <a:cs typeface="Calibri" pitchFamily="34" charset="-120"/>
              </a:rPr>
              <a:t>bằng chứng đã dùng + nguồn BỊ LOẠI, kèm lý do</a:t>
            </a:r>
            <a:endParaRPr lang="en-US" sz="880" dirty="0"/>
          </a:p>
        </p:txBody>
      </p:sp>
      <p:sp>
        <p:nvSpPr>
          <p:cNvPr id="33" name="Shape 28"/>
          <p:cNvSpPr/>
          <p:nvPr/>
        </p:nvSpPr>
        <p:spPr>
          <a:xfrm>
            <a:off x="3364992" y="4892040"/>
            <a:ext cx="2743200" cy="1417320"/>
          </a:xfrm>
          <a:prstGeom prst="roundRect">
            <a:avLst>
              <a:gd name="adj" fmla="val 4516"/>
            </a:avLst>
          </a:prstGeom>
          <a:solidFill>
            <a:srgbClr val="F7EFD8"/>
          </a:solidFill>
          <a:ln/>
        </p:spPr>
      </p:sp>
      <p:sp>
        <p:nvSpPr>
          <p:cNvPr id="34" name="Shape 29"/>
          <p:cNvSpPr/>
          <p:nvPr/>
        </p:nvSpPr>
        <p:spPr>
          <a:xfrm>
            <a:off x="3566160" y="5074920"/>
            <a:ext cx="475488" cy="475488"/>
          </a:xfrm>
          <a:prstGeom prst="ellipse">
            <a:avLst/>
          </a:prstGeom>
          <a:solidFill>
            <a:srgbClr val="C9A227"/>
          </a:solidFill>
          <a:ln/>
        </p:spPr>
      </p:sp>
      <p:pic>
        <p:nvPicPr>
          <p:cNvPr id="35" name="Image 3" descr="icons/balance_n.png">    </p:cNvPr>
          <p:cNvPicPr>
            <a:picLocks noChangeAspect="1"/>
          </p:cNvPicPr>
          <p:nvPr/>
        </p:nvPicPr>
        <p:blipFill>
          <a:blip r:embed="rId4"/>
          <a:stretch>
            <a:fillRect/>
          </a:stretch>
        </p:blipFill>
        <p:spPr>
          <a:xfrm>
            <a:off x="3685032" y="5193792"/>
            <a:ext cx="237744" cy="237744"/>
          </a:xfrm>
          <a:prstGeom prst="rect">
            <a:avLst/>
          </a:prstGeom>
        </p:spPr>
      </p:pic>
      <p:sp>
        <p:nvSpPr>
          <p:cNvPr id="36" name="Text 30"/>
          <p:cNvSpPr/>
          <p:nvPr/>
        </p:nvSpPr>
        <p:spPr>
          <a:xfrm>
            <a:off x="4169664" y="5074920"/>
            <a:ext cx="1874520" cy="502920"/>
          </a:xfrm>
          <a:prstGeom prst="rect">
            <a:avLst/>
          </a:prstGeom>
          <a:noFill/>
          <a:ln/>
        </p:spPr>
        <p:txBody>
          <a:bodyPr wrap="square" lIns="0" tIns="0" rIns="0" bIns="0" rtlCol="0" anchor="t"/>
          <a:lstStyle/>
          <a:p>
            <a:pPr indent="0" marL="0">
              <a:buNone/>
            </a:pPr>
            <a:r>
              <a:rPr lang="en-US" sz="1000" b="1" dirty="0">
                <a:solidFill>
                  <a:srgbClr val="10243E"/>
                </a:solidFill>
                <a:latin typeface="Calibri" pitchFamily="34" charset="0"/>
                <a:ea typeface="Calibri" pitchFamily="34" charset="-122"/>
                <a:cs typeface="Calibri" pitchFamily="34" charset="-120"/>
              </a:rPr>
              <a:t>Nút so sánh trực tiếp</a:t>
            </a:r>
            <a:endParaRPr lang="en-US" sz="1000" dirty="0"/>
          </a:p>
        </p:txBody>
      </p:sp>
      <p:sp>
        <p:nvSpPr>
          <p:cNvPr id="37" name="Text 31"/>
          <p:cNvSpPr/>
          <p:nvPr/>
        </p:nvSpPr>
        <p:spPr>
          <a:xfrm>
            <a:off x="3566160" y="5632704"/>
            <a:ext cx="2377440" cy="621792"/>
          </a:xfrm>
          <a:prstGeom prst="rect">
            <a:avLst/>
          </a:prstGeom>
          <a:noFill/>
          <a:ln/>
        </p:spPr>
        <p:txBody>
          <a:bodyPr wrap="square" lIns="0" tIns="0" rIns="0" bIns="0" rtlCol="0" anchor="t"/>
          <a:lstStyle/>
          <a:p>
            <a:pPr indent="0" marL="0">
              <a:buNone/>
            </a:pPr>
            <a:r>
              <a:rPr lang="en-US" sz="880" dirty="0">
                <a:solidFill>
                  <a:srgbClr val="1A2430"/>
                </a:solidFill>
                <a:latin typeface="Calibri" pitchFamily="34" charset="0"/>
                <a:ea typeface="Calibri" pitchFamily="34" charset="-122"/>
                <a:cs typeface="Calibri" pitchFamily="34" charset="-120"/>
              </a:rPr>
              <a:t>Standard RAG sai ngay tại chỗ, cạnh câu trả lời có trích dẫn</a:t>
            </a:r>
            <a:endParaRPr lang="en-US" sz="880" dirty="0"/>
          </a:p>
        </p:txBody>
      </p:sp>
      <p:sp>
        <p:nvSpPr>
          <p:cNvPr id="38" name="Shape 32"/>
          <p:cNvSpPr/>
          <p:nvPr/>
        </p:nvSpPr>
        <p:spPr>
          <a:xfrm>
            <a:off x="6227064" y="4892040"/>
            <a:ext cx="2743200" cy="1417320"/>
          </a:xfrm>
          <a:prstGeom prst="roundRect">
            <a:avLst>
              <a:gd name="adj" fmla="val 4516"/>
            </a:avLst>
          </a:prstGeom>
          <a:solidFill>
            <a:srgbClr val="F7EFD8"/>
          </a:solidFill>
          <a:ln/>
        </p:spPr>
      </p:sp>
      <p:sp>
        <p:nvSpPr>
          <p:cNvPr id="39" name="Shape 33"/>
          <p:cNvSpPr/>
          <p:nvPr/>
        </p:nvSpPr>
        <p:spPr>
          <a:xfrm>
            <a:off x="6428232" y="5074920"/>
            <a:ext cx="475488" cy="475488"/>
          </a:xfrm>
          <a:prstGeom prst="ellipse">
            <a:avLst/>
          </a:prstGeom>
          <a:solidFill>
            <a:srgbClr val="C9A227"/>
          </a:solidFill>
          <a:ln/>
        </p:spPr>
      </p:sp>
      <p:pic>
        <p:nvPicPr>
          <p:cNvPr id="40" name="Image 4" descr="icons/radar_n.png">    </p:cNvPr>
          <p:cNvPicPr>
            <a:picLocks noChangeAspect="1"/>
          </p:cNvPicPr>
          <p:nvPr/>
        </p:nvPicPr>
        <p:blipFill>
          <a:blip r:embed="rId5"/>
          <a:stretch>
            <a:fillRect/>
          </a:stretch>
        </p:blipFill>
        <p:spPr>
          <a:xfrm>
            <a:off x="6547104" y="5193792"/>
            <a:ext cx="237744" cy="237744"/>
          </a:xfrm>
          <a:prstGeom prst="rect">
            <a:avLst/>
          </a:prstGeom>
        </p:spPr>
      </p:pic>
      <p:sp>
        <p:nvSpPr>
          <p:cNvPr id="41" name="Text 34"/>
          <p:cNvSpPr/>
          <p:nvPr/>
        </p:nvSpPr>
        <p:spPr>
          <a:xfrm>
            <a:off x="7031736" y="5074920"/>
            <a:ext cx="1874520" cy="502920"/>
          </a:xfrm>
          <a:prstGeom prst="rect">
            <a:avLst/>
          </a:prstGeom>
          <a:noFill/>
          <a:ln/>
        </p:spPr>
        <p:txBody>
          <a:bodyPr wrap="square" lIns="0" tIns="0" rIns="0" bIns="0" rtlCol="0" anchor="t"/>
          <a:lstStyle/>
          <a:p>
            <a:pPr indent="0" marL="0">
              <a:buNone/>
            </a:pPr>
            <a:r>
              <a:rPr lang="en-US" sz="1000" b="1" dirty="0">
                <a:solidFill>
                  <a:srgbClr val="10243E"/>
                </a:solidFill>
                <a:latin typeface="Calibri" pitchFamily="34" charset="0"/>
                <a:ea typeface="Calibri" pitchFamily="34" charset="-122"/>
                <a:cs typeface="Calibri" pitchFamily="34" charset="-120"/>
              </a:rPr>
              <a:t>Compliance-Gap Radar</a:t>
            </a:r>
            <a:endParaRPr lang="en-US" sz="1000" dirty="0"/>
          </a:p>
        </p:txBody>
      </p:sp>
      <p:sp>
        <p:nvSpPr>
          <p:cNvPr id="42" name="Text 35"/>
          <p:cNvSpPr/>
          <p:nvPr/>
        </p:nvSpPr>
        <p:spPr>
          <a:xfrm>
            <a:off x="6428232" y="5632704"/>
            <a:ext cx="2377440" cy="621792"/>
          </a:xfrm>
          <a:prstGeom prst="rect">
            <a:avLst/>
          </a:prstGeom>
          <a:noFill/>
          <a:ln/>
        </p:spPr>
        <p:txBody>
          <a:bodyPr wrap="square" lIns="0" tIns="0" rIns="0" bIns="0" rtlCol="0" anchor="t"/>
          <a:lstStyle/>
          <a:p>
            <a:pPr indent="0" marL="0">
              <a:buNone/>
            </a:pPr>
            <a:r>
              <a:rPr lang="en-US" sz="880" dirty="0">
                <a:solidFill>
                  <a:srgbClr val="1A2430"/>
                </a:solidFill>
                <a:latin typeface="Calibri" pitchFamily="34" charset="0"/>
                <a:ea typeface="Calibri" pitchFamily="34" charset="-122"/>
                <a:cs typeface="Calibri" pitchFamily="34" charset="-120"/>
              </a:rPr>
              <a:t>quy định đổi → policy nội bộ lỗi thời bị gắn cờ</a:t>
            </a:r>
            <a:endParaRPr lang="en-US" sz="880" dirty="0"/>
          </a:p>
        </p:txBody>
      </p:sp>
      <p:sp>
        <p:nvSpPr>
          <p:cNvPr id="43" name="Shape 36"/>
          <p:cNvSpPr/>
          <p:nvPr/>
        </p:nvSpPr>
        <p:spPr>
          <a:xfrm>
            <a:off x="9089136" y="4892040"/>
            <a:ext cx="2743200" cy="1417320"/>
          </a:xfrm>
          <a:prstGeom prst="roundRect">
            <a:avLst>
              <a:gd name="adj" fmla="val 4516"/>
            </a:avLst>
          </a:prstGeom>
          <a:solidFill>
            <a:srgbClr val="F7EFD8"/>
          </a:solidFill>
          <a:ln/>
        </p:spPr>
      </p:sp>
      <p:sp>
        <p:nvSpPr>
          <p:cNvPr id="44" name="Shape 37"/>
          <p:cNvSpPr/>
          <p:nvPr/>
        </p:nvSpPr>
        <p:spPr>
          <a:xfrm>
            <a:off x="9290304" y="5074920"/>
            <a:ext cx="475488" cy="475488"/>
          </a:xfrm>
          <a:prstGeom prst="ellipse">
            <a:avLst/>
          </a:prstGeom>
          <a:solidFill>
            <a:srgbClr val="C9A227"/>
          </a:solidFill>
          <a:ln/>
        </p:spPr>
      </p:sp>
      <p:pic>
        <p:nvPicPr>
          <p:cNvPr id="45" name="Image 5" descr="icons/lang_n.png">    </p:cNvPr>
          <p:cNvPicPr>
            <a:picLocks noChangeAspect="1"/>
          </p:cNvPicPr>
          <p:nvPr/>
        </p:nvPicPr>
        <p:blipFill>
          <a:blip r:embed="rId6"/>
          <a:stretch>
            <a:fillRect/>
          </a:stretch>
        </p:blipFill>
        <p:spPr>
          <a:xfrm>
            <a:off x="9409176" y="5193792"/>
            <a:ext cx="237744" cy="237744"/>
          </a:xfrm>
          <a:prstGeom prst="rect">
            <a:avLst/>
          </a:prstGeom>
        </p:spPr>
      </p:pic>
      <p:sp>
        <p:nvSpPr>
          <p:cNvPr id="46" name="Text 38"/>
          <p:cNvSpPr/>
          <p:nvPr/>
        </p:nvSpPr>
        <p:spPr>
          <a:xfrm>
            <a:off x="9893808" y="5074920"/>
            <a:ext cx="1874520" cy="502920"/>
          </a:xfrm>
          <a:prstGeom prst="rect">
            <a:avLst/>
          </a:prstGeom>
          <a:noFill/>
          <a:ln/>
        </p:spPr>
        <p:txBody>
          <a:bodyPr wrap="square" lIns="0" tIns="0" rIns="0" bIns="0" rtlCol="0" anchor="t"/>
          <a:lstStyle/>
          <a:p>
            <a:pPr indent="0" marL="0">
              <a:buNone/>
            </a:pPr>
            <a:r>
              <a:rPr lang="en-US" sz="1000" b="1" dirty="0">
                <a:solidFill>
                  <a:srgbClr val="10243E"/>
                </a:solidFill>
                <a:latin typeface="Calibri" pitchFamily="34" charset="0"/>
                <a:ea typeface="Calibri" pitchFamily="34" charset="-122"/>
                <a:cs typeface="Calibri" pitchFamily="34" charset="-120"/>
              </a:rPr>
              <a:t>Chuẩn hóa pháp lý VN</a:t>
            </a:r>
            <a:endParaRPr lang="en-US" sz="1000" dirty="0"/>
          </a:p>
        </p:txBody>
      </p:sp>
      <p:sp>
        <p:nvSpPr>
          <p:cNvPr id="47" name="Text 39"/>
          <p:cNvSpPr/>
          <p:nvPr/>
        </p:nvSpPr>
        <p:spPr>
          <a:xfrm>
            <a:off x="9290304" y="5632704"/>
            <a:ext cx="2377440" cy="621792"/>
          </a:xfrm>
          <a:prstGeom prst="rect">
            <a:avLst/>
          </a:prstGeom>
          <a:noFill/>
          <a:ln/>
        </p:spPr>
        <p:txBody>
          <a:bodyPr wrap="square" lIns="0" tIns="0" rIns="0" bIns="0" rtlCol="0" anchor="t"/>
          <a:lstStyle/>
          <a:p>
            <a:pPr indent="0" marL="0">
              <a:buNone/>
            </a:pPr>
            <a:r>
              <a:rPr lang="en-US" sz="880" dirty="0">
                <a:solidFill>
                  <a:srgbClr val="1A2430"/>
                </a:solidFill>
                <a:latin typeface="Calibri" pitchFamily="34" charset="0"/>
                <a:ea typeface="Calibri" pitchFamily="34" charset="-122"/>
                <a:cs typeface="Calibri" pitchFamily="34" charset="-120"/>
              </a:rPr>
              <a:t>“500 triệu” = “500.000.000” = “0,5 tỷ” + ngày kiểu VN</a:t>
            </a:r>
            <a:endParaRPr lang="en-US" sz="880" dirty="0"/>
          </a:p>
        </p:txBody>
      </p:sp>
      <p:sp>
        <p:nvSpPr>
          <p:cNvPr id="48" name="Text 40"/>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49" name="Text 41"/>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III. KHÁCH HÀNG MỤC TIÊU (B2B) — CHÂN DUNG KHÁCH HÀNG</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Chị Thu Hà — Trưởng phòng Pháp chế &amp; Tuân thủ</a:t>
            </a:r>
            <a:endParaRPr lang="en-US" sz="2600" dirty="0"/>
          </a:p>
        </p:txBody>
      </p:sp>
      <p:sp>
        <p:nvSpPr>
          <p:cNvPr id="4" name="Shape 2"/>
          <p:cNvSpPr/>
          <p:nvPr/>
        </p:nvSpPr>
        <p:spPr>
          <a:xfrm>
            <a:off x="502920" y="1298448"/>
            <a:ext cx="3154680" cy="5074920"/>
          </a:xfrm>
          <a:prstGeom prst="roundRect">
            <a:avLst>
              <a:gd name="adj" fmla="val 2029"/>
            </a:avLst>
          </a:prstGeom>
          <a:solidFill>
            <a:srgbClr val="10243E"/>
          </a:solidFill>
          <a:ln/>
        </p:spPr>
      </p:sp>
      <p:sp>
        <p:nvSpPr>
          <p:cNvPr id="5" name="Shape 3"/>
          <p:cNvSpPr/>
          <p:nvPr/>
        </p:nvSpPr>
        <p:spPr>
          <a:xfrm>
            <a:off x="1673352" y="1554480"/>
            <a:ext cx="822960" cy="822960"/>
          </a:xfrm>
          <a:prstGeom prst="ellipse">
            <a:avLst/>
          </a:prstGeom>
          <a:solidFill>
            <a:srgbClr val="C9A227"/>
          </a:solidFill>
          <a:ln/>
        </p:spPr>
      </p:sp>
      <p:pic>
        <p:nvPicPr>
          <p:cNvPr id="6" name="Image 0" descr="icons/usertie_n.png">    </p:cNvPr>
          <p:cNvPicPr>
            <a:picLocks noChangeAspect="1"/>
          </p:cNvPicPr>
          <p:nvPr/>
        </p:nvPicPr>
        <p:blipFill>
          <a:blip r:embed="rId1"/>
          <a:stretch>
            <a:fillRect/>
          </a:stretch>
        </p:blipFill>
        <p:spPr>
          <a:xfrm>
            <a:off x="1883664" y="1764792"/>
            <a:ext cx="402336" cy="402336"/>
          </a:xfrm>
          <a:prstGeom prst="rect">
            <a:avLst/>
          </a:prstGeom>
        </p:spPr>
      </p:pic>
      <p:sp>
        <p:nvSpPr>
          <p:cNvPr id="7" name="Text 4"/>
          <p:cNvSpPr/>
          <p:nvPr/>
        </p:nvSpPr>
        <p:spPr>
          <a:xfrm>
            <a:off x="685800" y="2450592"/>
            <a:ext cx="27889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Chị Thu Hà</a:t>
            </a:r>
            <a:endParaRPr lang="en-US" sz="1800" dirty="0"/>
          </a:p>
        </p:txBody>
      </p:sp>
      <p:sp>
        <p:nvSpPr>
          <p:cNvPr id="8" name="Text 5"/>
          <p:cNvSpPr/>
          <p:nvPr/>
        </p:nvSpPr>
        <p:spPr>
          <a:xfrm>
            <a:off x="685800" y="2816352"/>
            <a:ext cx="2788920" cy="502920"/>
          </a:xfrm>
          <a:prstGeom prst="rect">
            <a:avLst/>
          </a:prstGeom>
          <a:noFill/>
          <a:ln/>
        </p:spPr>
        <p:txBody>
          <a:bodyPr wrap="square" lIns="0" tIns="0" rIns="0" bIns="0" rtlCol="0" anchor="ctr"/>
          <a:lstStyle/>
          <a:p>
            <a:pPr algn="ctr" indent="0" marL="0">
              <a:buNone/>
            </a:pPr>
            <a:r>
              <a:rPr lang="en-US" sz="1000" dirty="0">
                <a:solidFill>
                  <a:srgbClr val="BFD5EC"/>
                </a:solidFill>
                <a:latin typeface="Calibri" pitchFamily="34" charset="0"/>
                <a:ea typeface="Calibri" pitchFamily="34" charset="-122"/>
                <a:cs typeface="Calibri" pitchFamily="34" charset="-120"/>
              </a:rPr>
              <a:t>Trưởng phòng Pháp chế &amp; Tuân thủ</a:t>
            </a:r>
            <a:endParaRPr lang="en-US" sz="1000" dirty="0"/>
          </a:p>
          <a:p>
            <a:pPr algn="ctr" indent="0" marL="0">
              <a:buNone/>
            </a:pPr>
            <a:r>
              <a:rPr lang="en-US" sz="1000" dirty="0">
                <a:solidFill>
                  <a:srgbClr val="BFD5EC"/>
                </a:solidFill>
                <a:latin typeface="Calibri" pitchFamily="34" charset="0"/>
                <a:ea typeface="Calibri" pitchFamily="34" charset="-122"/>
                <a:cs typeface="Calibri" pitchFamily="34" charset="-120"/>
              </a:rPr>
              <a:t>Ngân hàng TMCP, Hà Nội</a:t>
            </a:r>
            <a:endParaRPr lang="en-US" sz="1000" dirty="0"/>
          </a:p>
        </p:txBody>
      </p:sp>
      <p:sp>
        <p:nvSpPr>
          <p:cNvPr id="9" name="Text 6"/>
          <p:cNvSpPr/>
          <p:nvPr/>
        </p:nvSpPr>
        <p:spPr>
          <a:xfrm>
            <a:off x="777240" y="3429000"/>
            <a:ext cx="2651760" cy="2834640"/>
          </a:xfrm>
          <a:prstGeom prst="rect">
            <a:avLst/>
          </a:prstGeom>
          <a:noFill/>
          <a:ln/>
        </p:spPr>
        <p:txBody>
          <a:bodyPr wrap="square" lIns="0" tIns="0" rIns="0" bIns="0" rtlCol="0" anchor="t"/>
          <a:lstStyle/>
          <a:p>
            <a:pPr marL="101600" indent="-101600">
              <a:lnSpc>
                <a:spcPct val="104000"/>
              </a:lnSpc>
              <a:spcAft>
                <a:spcPts val="500"/>
              </a:spcAft>
              <a:buSzPct val="100000"/>
              <a:buChar char="•"/>
            </a:pPr>
            <a:r>
              <a:rPr lang="en-US" sz="920" dirty="0">
                <a:solidFill>
                  <a:srgbClr val="D9E6F5"/>
                </a:solidFill>
                <a:latin typeface="Calibri" pitchFamily="34" charset="0"/>
                <a:ea typeface="Calibri" pitchFamily="34" charset="-122"/>
                <a:cs typeface="Calibri" pitchFamily="34" charset="-120"/>
              </a:rPr>
              <a:t>Nữ, 41 tuổi · Thạc sĩ Luật Ngân hàng</a:t>
            </a:r>
            <a:endParaRPr lang="en-US" sz="920" dirty="0"/>
          </a:p>
          <a:p>
            <a:pPr marL="101600" indent="-101600">
              <a:lnSpc>
                <a:spcPct val="104000"/>
              </a:lnSpc>
              <a:spcAft>
                <a:spcPts val="500"/>
              </a:spcAft>
              <a:buSzPct val="100000"/>
              <a:buChar char="•"/>
            </a:pPr>
            <a:r>
              <a:rPr lang="en-US" sz="920" dirty="0">
                <a:solidFill>
                  <a:srgbClr val="D9E6F5"/>
                </a:solidFill>
                <a:latin typeface="Calibri" pitchFamily="34" charset="0"/>
                <a:ea typeface="Calibri" pitchFamily="34" charset="-122"/>
                <a:cs typeface="Calibri" pitchFamily="34" charset="-120"/>
              </a:rPr>
              <a:t>15 năm ngành ngân hàng · quản lý ~25 cán bộ</a:t>
            </a:r>
            <a:endParaRPr lang="en-US" sz="920" dirty="0"/>
          </a:p>
          <a:p>
            <a:pPr marL="101600" indent="-101600">
              <a:lnSpc>
                <a:spcPct val="104000"/>
              </a:lnSpc>
              <a:spcAft>
                <a:spcPts val="500"/>
              </a:spcAft>
              <a:buSzPct val="100000"/>
              <a:buChar char="•"/>
            </a:pPr>
            <a:r>
              <a:rPr lang="en-US" sz="920" dirty="0">
                <a:solidFill>
                  <a:srgbClr val="D9E6F5"/>
                </a:solidFill>
                <a:latin typeface="Calibri" pitchFamily="34" charset="0"/>
                <a:ea typeface="Calibri" pitchFamily="34" charset="-122"/>
                <a:cs typeface="Calibri" pitchFamily="34" charset="-120"/>
              </a:rPr>
              <a:t>Thu nhập ~70 triệu/tháng · đã kết hôn, 2 con</a:t>
            </a:r>
            <a:endParaRPr lang="en-US" sz="920" dirty="0"/>
          </a:p>
          <a:p>
            <a:pPr marL="101600" indent="-101600">
              <a:lnSpc>
                <a:spcPct val="104000"/>
              </a:lnSpc>
              <a:spcAft>
                <a:spcPts val="500"/>
              </a:spcAft>
              <a:buSzPct val="100000"/>
              <a:buChar char="•"/>
            </a:pPr>
            <a:r>
              <a:rPr lang="en-US" sz="920" dirty="0">
                <a:solidFill>
                  <a:srgbClr val="D9E6F5"/>
                </a:solidFill>
                <a:latin typeface="Calibri" pitchFamily="34" charset="0"/>
                <a:ea typeface="Calibri" pitchFamily="34" charset="-122"/>
                <a:cs typeface="Calibri" pitchFamily="34" charset="-120"/>
              </a:rPr>
              <a:t>Kênh: cổng NHNN · VBPL · thuvienphapluat · nhóm Zalo pháp chế · hội thảo VNBA · tư vấn Big-4</a:t>
            </a:r>
            <a:endParaRPr lang="en-US" sz="920" dirty="0"/>
          </a:p>
          <a:p>
            <a:pPr marL="101600" indent="-101600">
              <a:lnSpc>
                <a:spcPct val="104000"/>
              </a:lnSpc>
              <a:spcAft>
                <a:spcPts val="500"/>
              </a:spcAft>
              <a:buSzPct val="100000"/>
              <a:buChar char="•"/>
            </a:pPr>
            <a:r>
              <a:rPr lang="en-US" sz="920" dirty="0">
                <a:solidFill>
                  <a:srgbClr val="D9E6F5"/>
                </a:solidFill>
                <a:latin typeface="Calibri" pitchFamily="34" charset="0"/>
                <a:ea typeface="Calibri" pitchFamily="34" charset="-122"/>
                <a:cs typeface="Calibri" pitchFamily="34" charset="-120"/>
              </a:rPr>
              <a:t>Đơn vị B2B: Người dùng = cán bộ · Người mua = Trưởng phòng/CCO · Phủ quyết = CTO/CISO</a:t>
            </a:r>
            <a:endParaRPr lang="en-US" sz="920" dirty="0"/>
          </a:p>
          <a:p>
            <a:pPr marL="101600" indent="-101600">
              <a:lnSpc>
                <a:spcPct val="104000"/>
              </a:lnSpc>
              <a:spcAft>
                <a:spcPts val="500"/>
              </a:spcAft>
              <a:buSzPct val="100000"/>
              <a:buChar char="•"/>
            </a:pPr>
            <a:r>
              <a:rPr lang="en-US" sz="920" dirty="0">
                <a:solidFill>
                  <a:srgbClr val="D9E6F5"/>
                </a:solidFill>
                <a:latin typeface="Calibri" pitchFamily="34" charset="0"/>
                <a:ea typeface="Calibri" pitchFamily="34" charset="-122"/>
                <a:cs typeface="Calibri" pitchFamily="34" charset="-120"/>
              </a:rPr>
              <a:t>Tài chính: có ngân sách công cụ pháp lý; chi khi rủi ro giảm đo đếm được</a:t>
            </a:r>
            <a:endParaRPr lang="en-US" sz="920" dirty="0"/>
          </a:p>
        </p:txBody>
      </p:sp>
      <p:sp>
        <p:nvSpPr>
          <p:cNvPr id="10" name="Shape 7"/>
          <p:cNvSpPr/>
          <p:nvPr/>
        </p:nvSpPr>
        <p:spPr>
          <a:xfrm>
            <a:off x="3794760" y="1298448"/>
            <a:ext cx="3886200" cy="1600200"/>
          </a:xfrm>
          <a:prstGeom prst="roundRect">
            <a:avLst>
              <a:gd name="adj" fmla="val 4000"/>
            </a:avLst>
          </a:prstGeom>
          <a:solidFill>
            <a:srgbClr val="E9F1FA"/>
          </a:solidFill>
          <a:ln/>
        </p:spPr>
      </p:sp>
      <p:sp>
        <p:nvSpPr>
          <p:cNvPr id="11" name="Text 8"/>
          <p:cNvSpPr/>
          <p:nvPr/>
        </p:nvSpPr>
        <p:spPr>
          <a:xfrm>
            <a:off x="4023360" y="1426464"/>
            <a:ext cx="3429000" cy="256032"/>
          </a:xfrm>
          <a:prstGeom prst="rect">
            <a:avLst/>
          </a:prstGeom>
          <a:noFill/>
          <a:ln/>
        </p:spPr>
        <p:txBody>
          <a:bodyPr wrap="square" lIns="0" tIns="0" rIns="0" bIns="0" rtlCol="0" anchor="ctr"/>
          <a:lstStyle/>
          <a:p>
            <a:pPr indent="0" marL="0">
              <a:buNone/>
            </a:pPr>
            <a:r>
              <a:rPr lang="en-US" sz="1050" b="1" spc="100" kern="0" dirty="0">
                <a:solidFill>
                  <a:srgbClr val="1F4E79"/>
                </a:solidFill>
                <a:latin typeface="Calibri" pitchFamily="34" charset="0"/>
                <a:ea typeface="Calibri" pitchFamily="34" charset="-122"/>
                <a:cs typeface="Calibri" pitchFamily="34" charset="-120"/>
              </a:rPr>
              <a:t>MONG MUỐN &amp; KHÁT VỌNG</a:t>
            </a:r>
            <a:endParaRPr lang="en-US" sz="1050" dirty="0"/>
          </a:p>
        </p:txBody>
      </p:sp>
      <p:sp>
        <p:nvSpPr>
          <p:cNvPr id="12" name="Text 9"/>
          <p:cNvSpPr/>
          <p:nvPr/>
        </p:nvSpPr>
        <p:spPr>
          <a:xfrm>
            <a:off x="4023360" y="1737360"/>
            <a:ext cx="3429000" cy="1051560"/>
          </a:xfrm>
          <a:prstGeom prst="rect">
            <a:avLst/>
          </a:prstGeom>
          <a:noFill/>
          <a:ln/>
        </p:spPr>
        <p:txBody>
          <a:bodyPr wrap="square" lIns="0" tIns="0" rIns="0" bIns="0" rtlCol="0" anchor="t"/>
          <a:lstStyle/>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Không có phát hiện nào trong đợt thanh tra NHNN tới</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Đội dành thời gian cho phán đoán, không phải đối chiếu tay</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Pháp chế được nhìn nhận là bệ phóng, không phải nút thắt</a:t>
            </a:r>
            <a:endParaRPr lang="en-US" sz="920" dirty="0"/>
          </a:p>
        </p:txBody>
      </p:sp>
      <p:sp>
        <p:nvSpPr>
          <p:cNvPr id="13" name="Shape 10"/>
          <p:cNvSpPr/>
          <p:nvPr/>
        </p:nvSpPr>
        <p:spPr>
          <a:xfrm>
            <a:off x="7799832" y="1298448"/>
            <a:ext cx="3886200" cy="1600200"/>
          </a:xfrm>
          <a:prstGeom prst="roundRect">
            <a:avLst>
              <a:gd name="adj" fmla="val 4000"/>
            </a:avLst>
          </a:prstGeom>
          <a:solidFill>
            <a:srgbClr val="E9F1FA"/>
          </a:solidFill>
          <a:ln/>
        </p:spPr>
      </p:sp>
      <p:sp>
        <p:nvSpPr>
          <p:cNvPr id="14" name="Text 11"/>
          <p:cNvSpPr/>
          <p:nvPr/>
        </p:nvSpPr>
        <p:spPr>
          <a:xfrm>
            <a:off x="8028432" y="1426464"/>
            <a:ext cx="3429000" cy="256032"/>
          </a:xfrm>
          <a:prstGeom prst="rect">
            <a:avLst/>
          </a:prstGeom>
          <a:noFill/>
          <a:ln/>
        </p:spPr>
        <p:txBody>
          <a:bodyPr wrap="square" lIns="0" tIns="0" rIns="0" bIns="0" rtlCol="0" anchor="ctr"/>
          <a:lstStyle/>
          <a:p>
            <a:pPr indent="0" marL="0">
              <a:buNone/>
            </a:pPr>
            <a:r>
              <a:rPr lang="en-US" sz="1050" b="1" spc="100" kern="0" dirty="0">
                <a:solidFill>
                  <a:srgbClr val="1F4E79"/>
                </a:solidFill>
                <a:latin typeface="Calibri" pitchFamily="34" charset="0"/>
                <a:ea typeface="Calibri" pitchFamily="34" charset="-122"/>
                <a:cs typeface="Calibri" pitchFamily="34" charset="-120"/>
              </a:rPr>
              <a:t>HÀNH VI</a:t>
            </a:r>
            <a:endParaRPr lang="en-US" sz="1050" dirty="0"/>
          </a:p>
        </p:txBody>
      </p:sp>
      <p:sp>
        <p:nvSpPr>
          <p:cNvPr id="15" name="Text 12"/>
          <p:cNvSpPr/>
          <p:nvPr/>
        </p:nvSpPr>
        <p:spPr>
          <a:xfrm>
            <a:off x="8028432" y="1737360"/>
            <a:ext cx="3429000" cy="1051560"/>
          </a:xfrm>
          <a:prstGeom prst="rect">
            <a:avLst/>
          </a:prstGeom>
          <a:noFill/>
          <a:ln/>
        </p:spPr>
        <p:txBody>
          <a:bodyPr wrap="square" lIns="0" tIns="0" rIns="0" bIns="0" rtlCol="0" anchor="t"/>
          <a:lstStyle/>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Sáng nào cũng rà văn bản mới của NHNN/Chính phủ</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Phân công cán bộ dò tác động lên policy nội bộ</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Ký ý kiến tuân thủ — tên chị nằm trên từng kết luận</a:t>
            </a:r>
            <a:endParaRPr lang="en-US" sz="920" dirty="0"/>
          </a:p>
        </p:txBody>
      </p:sp>
      <p:sp>
        <p:nvSpPr>
          <p:cNvPr id="16" name="Shape 13"/>
          <p:cNvSpPr/>
          <p:nvPr/>
        </p:nvSpPr>
        <p:spPr>
          <a:xfrm>
            <a:off x="3794760" y="3017520"/>
            <a:ext cx="3886200" cy="1783080"/>
          </a:xfrm>
          <a:prstGeom prst="roundRect">
            <a:avLst>
              <a:gd name="adj" fmla="val 3590"/>
            </a:avLst>
          </a:prstGeom>
          <a:solidFill>
            <a:srgbClr val="FBEAE8"/>
          </a:solidFill>
          <a:ln/>
        </p:spPr>
      </p:sp>
      <p:sp>
        <p:nvSpPr>
          <p:cNvPr id="17" name="Text 14"/>
          <p:cNvSpPr/>
          <p:nvPr/>
        </p:nvSpPr>
        <p:spPr>
          <a:xfrm>
            <a:off x="4023360" y="3145536"/>
            <a:ext cx="3429000" cy="256032"/>
          </a:xfrm>
          <a:prstGeom prst="rect">
            <a:avLst/>
          </a:prstGeom>
          <a:noFill/>
          <a:ln/>
        </p:spPr>
        <p:txBody>
          <a:bodyPr wrap="square" lIns="0" tIns="0" rIns="0" bIns="0" rtlCol="0" anchor="ctr"/>
          <a:lstStyle/>
          <a:p>
            <a:pPr indent="0" marL="0">
              <a:buNone/>
            </a:pPr>
            <a:r>
              <a:rPr lang="en-US" sz="1050" b="1" spc="100" kern="0" dirty="0">
                <a:solidFill>
                  <a:srgbClr val="B3261E"/>
                </a:solidFill>
                <a:latin typeface="Calibri" pitchFamily="34" charset="0"/>
                <a:ea typeface="Calibri" pitchFamily="34" charset="-122"/>
                <a:cs typeface="Calibri" pitchFamily="34" charset="-120"/>
              </a:rPr>
              <a:t>LO LẮNG &amp; NỖI SỢ</a:t>
            </a:r>
            <a:endParaRPr lang="en-US" sz="1050" dirty="0"/>
          </a:p>
        </p:txBody>
      </p:sp>
      <p:sp>
        <p:nvSpPr>
          <p:cNvPr id="18" name="Text 15"/>
          <p:cNvSpPr/>
          <p:nvPr/>
        </p:nvSpPr>
        <p:spPr>
          <a:xfrm>
            <a:off x="4023360" y="3456432"/>
            <a:ext cx="3429000" cy="1234440"/>
          </a:xfrm>
          <a:prstGeom prst="rect">
            <a:avLst/>
          </a:prstGeom>
          <a:noFill/>
          <a:ln/>
        </p:spPr>
        <p:txBody>
          <a:bodyPr wrap="square" lIns="0" tIns="0" rIns="0" bIns="0" rtlCol="0" anchor="t"/>
          <a:lstStyle/>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Báo cáo trích 500 triệu khi quy định đã là 700 triệu</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Một sửa đổi chạm 5 điều của 3 văn bản — sót một policy</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Kết luận “vẫn phù hợp” mà không có vết bằng chứng</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AI bịa trích dẫn · dữ liệu ngân hàng lọt ra ngoài</a:t>
            </a:r>
            <a:endParaRPr lang="en-US" sz="920" dirty="0"/>
          </a:p>
        </p:txBody>
      </p:sp>
      <p:sp>
        <p:nvSpPr>
          <p:cNvPr id="19" name="Shape 16"/>
          <p:cNvSpPr/>
          <p:nvPr/>
        </p:nvSpPr>
        <p:spPr>
          <a:xfrm>
            <a:off x="7799832" y="3017520"/>
            <a:ext cx="3886200" cy="1783080"/>
          </a:xfrm>
          <a:prstGeom prst="roundRect">
            <a:avLst>
              <a:gd name="adj" fmla="val 3590"/>
            </a:avLst>
          </a:prstGeom>
          <a:solidFill>
            <a:srgbClr val="E9F1FA"/>
          </a:solidFill>
          <a:ln/>
        </p:spPr>
      </p:sp>
      <p:sp>
        <p:nvSpPr>
          <p:cNvPr id="20" name="Text 17"/>
          <p:cNvSpPr/>
          <p:nvPr/>
        </p:nvSpPr>
        <p:spPr>
          <a:xfrm>
            <a:off x="8028432" y="3145536"/>
            <a:ext cx="3429000" cy="256032"/>
          </a:xfrm>
          <a:prstGeom prst="rect">
            <a:avLst/>
          </a:prstGeom>
          <a:noFill/>
          <a:ln/>
        </p:spPr>
        <p:txBody>
          <a:bodyPr wrap="square" lIns="0" tIns="0" rIns="0" bIns="0" rtlCol="0" anchor="ctr"/>
          <a:lstStyle/>
          <a:p>
            <a:pPr indent="0" marL="0">
              <a:buNone/>
            </a:pPr>
            <a:r>
              <a:rPr lang="en-US" sz="1050" b="1" spc="100" kern="0" dirty="0">
                <a:solidFill>
                  <a:srgbClr val="1F4E79"/>
                </a:solidFill>
                <a:latin typeface="Calibri" pitchFamily="34" charset="0"/>
                <a:ea typeface="Calibri" pitchFamily="34" charset="-122"/>
                <a:cs typeface="Calibri" pitchFamily="34" charset="-120"/>
              </a:rPr>
              <a:t>ĐANG TÌM KIẾM</a:t>
            </a:r>
            <a:endParaRPr lang="en-US" sz="1050" dirty="0"/>
          </a:p>
        </p:txBody>
      </p:sp>
      <p:sp>
        <p:nvSpPr>
          <p:cNvPr id="21" name="Text 18"/>
          <p:cNvSpPr/>
          <p:nvPr/>
        </p:nvSpPr>
        <p:spPr>
          <a:xfrm>
            <a:off x="8028432" y="3456432"/>
            <a:ext cx="3429000" cy="1234440"/>
          </a:xfrm>
          <a:prstGeom prst="rect">
            <a:avLst/>
          </a:prstGeom>
          <a:noFill/>
          <a:ln/>
        </p:spPr>
        <p:txBody>
          <a:bodyPr wrap="square" lIns="0" tIns="0" rIns="0" bIns="0" rtlCol="0" anchor="t"/>
          <a:lstStyle/>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Luôn trả lời trên đúng phiên bản đang hiệu lực</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Hiển thị bằng chứng — cả nguồn bị loại kèm lý do</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Quyết định cuối cùng thuộc về đội của chị (HITL)</a:t>
            </a:r>
            <a:endParaRPr lang="en-US" sz="920" dirty="0"/>
          </a:p>
          <a:p>
            <a:pPr marL="101600" indent="-101600">
              <a:lnSpc>
                <a:spcPct val="104000"/>
              </a:lnSpc>
              <a:spcAft>
                <a:spcPts val="300"/>
              </a:spcAft>
              <a:buSzPct val="100000"/>
              <a:buChar char="•"/>
            </a:pPr>
            <a:r>
              <a:rPr lang="en-US" sz="920" dirty="0">
                <a:solidFill>
                  <a:srgbClr val="1A2430"/>
                </a:solidFill>
                <a:latin typeface="Calibri" pitchFamily="34" charset="0"/>
                <a:ea typeface="Calibri" pitchFamily="34" charset="-122"/>
                <a:cs typeface="Calibri" pitchFamily="34" charset="-120"/>
              </a:rPr>
              <a:t>Triển khai được trong hạ tầng của chính ngân hàng</a:t>
            </a:r>
            <a:endParaRPr lang="en-US" sz="920" dirty="0"/>
          </a:p>
        </p:txBody>
      </p:sp>
      <p:sp>
        <p:nvSpPr>
          <p:cNvPr id="22" name="Shape 19"/>
          <p:cNvSpPr/>
          <p:nvPr/>
        </p:nvSpPr>
        <p:spPr>
          <a:xfrm>
            <a:off x="3794760" y="4937760"/>
            <a:ext cx="7891272" cy="1435608"/>
          </a:xfrm>
          <a:prstGeom prst="roundRect">
            <a:avLst>
              <a:gd name="adj" fmla="val 4459"/>
            </a:avLst>
          </a:prstGeom>
          <a:solidFill>
            <a:srgbClr val="F7EFD8"/>
          </a:solidFill>
          <a:ln/>
        </p:spPr>
      </p:sp>
      <p:sp>
        <p:nvSpPr>
          <p:cNvPr id="23" name="Text 20"/>
          <p:cNvSpPr/>
          <p:nvPr/>
        </p:nvSpPr>
        <p:spPr>
          <a:xfrm>
            <a:off x="4023360" y="5065776"/>
            <a:ext cx="7406640" cy="256032"/>
          </a:xfrm>
          <a:prstGeom prst="rect">
            <a:avLst/>
          </a:prstGeom>
          <a:noFill/>
          <a:ln/>
        </p:spPr>
        <p:txBody>
          <a:bodyPr wrap="square" lIns="0" tIns="0" rIns="0" bIns="0" rtlCol="0" anchor="ctr"/>
          <a:lstStyle/>
          <a:p>
            <a:pPr indent="0" marL="0">
              <a:buNone/>
            </a:pPr>
            <a:r>
              <a:rPr lang="en-US" sz="1050" b="1" spc="100" kern="0" dirty="0">
                <a:solidFill>
                  <a:srgbClr val="9A7A14"/>
                </a:solidFill>
                <a:latin typeface="Calibri" pitchFamily="34" charset="0"/>
                <a:ea typeface="Calibri" pitchFamily="34" charset="-122"/>
                <a:cs typeface="Calibri" pitchFamily="34" charset="-120"/>
              </a:rPr>
              <a:t>GIÚP CHỊ NHẸ VIỆC HƠN</a:t>
            </a:r>
            <a:endParaRPr lang="en-US" sz="1050" dirty="0"/>
          </a:p>
        </p:txBody>
      </p:sp>
      <p:sp>
        <p:nvSpPr>
          <p:cNvPr id="24" name="Text 21"/>
          <p:cNvSpPr/>
          <p:nvPr/>
        </p:nvSpPr>
        <p:spPr>
          <a:xfrm>
            <a:off x="4023360" y="5376672"/>
            <a:ext cx="7406640" cy="914400"/>
          </a:xfrm>
          <a:prstGeom prst="rect">
            <a:avLst/>
          </a:prstGeom>
          <a:noFill/>
          <a:ln/>
        </p:spPr>
        <p:txBody>
          <a:bodyPr wrap="square" lIns="0" tIns="0" rIns="0" bIns="0" rtlCol="0" anchor="t"/>
          <a:lstStyle/>
          <a:p>
            <a:pPr marL="101600" indent="-101600">
              <a:lnSpc>
                <a:spcPct val="104000"/>
              </a:lnSpc>
              <a:spcAft>
                <a:spcPts val="300"/>
              </a:spcAft>
              <a:buSzPct val="100000"/>
              <a:buChar char="•"/>
            </a:pPr>
            <a:r>
              <a:rPr lang="en-US" sz="960" dirty="0">
                <a:solidFill>
                  <a:srgbClr val="1A2430"/>
                </a:solidFill>
                <a:latin typeface="Calibri" pitchFamily="34" charset="0"/>
                <a:ea typeface="Calibri" pitchFamily="34" charset="-122"/>
                <a:cs typeface="Calibri" pitchFamily="34" charset="-120"/>
              </a:rPr>
              <a:t>Thông tư mới → báo cáo tác động tự động: policy nào lỗi thời, kèm trước/sau và ngày hiệu lực</a:t>
            </a:r>
            <a:endParaRPr lang="en-US" sz="960" dirty="0"/>
          </a:p>
          <a:p>
            <a:pPr marL="101600" indent="-101600">
              <a:lnSpc>
                <a:spcPct val="104000"/>
              </a:lnSpc>
              <a:spcAft>
                <a:spcPts val="300"/>
              </a:spcAft>
              <a:buSzPct val="100000"/>
              <a:buChar char="•"/>
            </a:pPr>
            <a:r>
              <a:rPr lang="en-US" sz="960" dirty="0">
                <a:solidFill>
                  <a:srgbClr val="1A2430"/>
                </a:solidFill>
                <a:latin typeface="Calibri" pitchFamily="34" charset="0"/>
                <a:ea typeface="Calibri" pitchFamily="34" charset="-122"/>
                <a:cs typeface="Calibri" pitchFamily="34" charset="-120"/>
              </a:rPr>
              <a:t>Policy/báo cáo dự thảo → kiểm tra tuân thủ một chạm, trạng thái theo từng claim kèm gợi ý sửa</a:t>
            </a:r>
            <a:endParaRPr lang="en-US" sz="960" dirty="0"/>
          </a:p>
          <a:p>
            <a:pPr marL="101600" indent="-101600">
              <a:lnSpc>
                <a:spcPct val="104000"/>
              </a:lnSpc>
              <a:spcAft>
                <a:spcPts val="300"/>
              </a:spcAft>
              <a:buSzPct val="100000"/>
              <a:buChar char="•"/>
            </a:pPr>
            <a:r>
              <a:rPr lang="en-US" sz="960" dirty="0">
                <a:solidFill>
                  <a:srgbClr val="1A2430"/>
                </a:solidFill>
                <a:latin typeface="Calibri" pitchFamily="34" charset="0"/>
                <a:ea typeface="Calibri" pitchFamily="34" charset="-122"/>
                <a:cs typeface="Calibri" pitchFamily="34" charset="-120"/>
              </a:rPr>
              <a:t>Mọi kết luận → gói bằng chứng bảo vệ được trước kiểm toán và thanh tra</a:t>
            </a:r>
            <a:endParaRPr lang="en-US" sz="960" dirty="0"/>
          </a:p>
        </p:txBody>
      </p:sp>
      <p:sp>
        <p:nvSpPr>
          <p:cNvPr id="25" name="Text 22"/>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26" name="Text 23"/>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IV. ĐÁNH GIÁ DỰ ÁN — TIÊU CHÍ 1/5</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Innovation — giải pháp hiện có đều trượt bài kiểm tra tuân thủ</a:t>
            </a:r>
            <a:endParaRPr lang="en-US" sz="2600" dirty="0"/>
          </a:p>
        </p:txBody>
      </p:sp>
      <p:sp>
        <p:nvSpPr>
          <p:cNvPr id="4" name="Shape 2"/>
          <p:cNvSpPr/>
          <p:nvPr/>
        </p:nvSpPr>
        <p:spPr>
          <a:xfrm>
            <a:off x="502920" y="1298448"/>
            <a:ext cx="5029200" cy="4023360"/>
          </a:xfrm>
          <a:prstGeom prst="roundRect">
            <a:avLst>
              <a:gd name="adj" fmla="val 1591"/>
            </a:avLst>
          </a:prstGeom>
          <a:solidFill>
            <a:srgbClr val="E9F1FA"/>
          </a:solidFill>
          <a:ln/>
        </p:spPr>
      </p:sp>
      <p:sp>
        <p:nvSpPr>
          <p:cNvPr id="5" name="Text 3"/>
          <p:cNvSpPr/>
          <p:nvPr/>
        </p:nvSpPr>
        <p:spPr>
          <a:xfrm>
            <a:off x="777240" y="1463040"/>
            <a:ext cx="4480560" cy="274320"/>
          </a:xfrm>
          <a:prstGeom prst="rect">
            <a:avLst/>
          </a:prstGeom>
          <a:noFill/>
          <a:ln/>
        </p:spPr>
        <p:txBody>
          <a:bodyPr wrap="square" lIns="0" tIns="0" rIns="0" bIns="0" rtlCol="0" anchor="ctr"/>
          <a:lstStyle/>
          <a:p>
            <a:pPr indent="0" marL="0">
              <a:buNone/>
            </a:pPr>
            <a:r>
              <a:rPr lang="en-US" sz="1050" b="1" spc="100" kern="0" dirty="0">
                <a:solidFill>
                  <a:srgbClr val="1F4E79"/>
                </a:solidFill>
                <a:latin typeface="Calibri" pitchFamily="34" charset="0"/>
                <a:ea typeface="Calibri" pitchFamily="34" charset="-122"/>
                <a:cs typeface="Calibri" pitchFamily="34" charset="-120"/>
              </a:rPr>
              <a:t>HÔM NAY CHỊ HÀ MUA ĐƯỢC GÌ</a:t>
            </a:r>
            <a:endParaRPr lang="en-US" sz="1050" dirty="0"/>
          </a:p>
        </p:txBody>
      </p:sp>
      <p:pic>
        <p:nvPicPr>
          <p:cNvPr id="6" name="Image 0" descr="icons/ban_b.png">    </p:cNvPr>
          <p:cNvPicPr>
            <a:picLocks noChangeAspect="1"/>
          </p:cNvPicPr>
          <p:nvPr/>
        </p:nvPicPr>
        <p:blipFill>
          <a:blip r:embed="rId1"/>
          <a:stretch>
            <a:fillRect/>
          </a:stretch>
        </p:blipFill>
        <p:spPr>
          <a:xfrm>
            <a:off x="777240" y="1874520"/>
            <a:ext cx="274320" cy="274320"/>
          </a:xfrm>
          <a:prstGeom prst="rect">
            <a:avLst/>
          </a:prstGeom>
        </p:spPr>
      </p:pic>
      <p:sp>
        <p:nvSpPr>
          <p:cNvPr id="7" name="Text 4"/>
          <p:cNvSpPr/>
          <p:nvPr/>
        </p:nvSpPr>
        <p:spPr>
          <a:xfrm>
            <a:off x="1188720" y="1828800"/>
            <a:ext cx="4206240" cy="320040"/>
          </a:xfrm>
          <a:prstGeom prst="rect">
            <a:avLst/>
          </a:prstGeom>
          <a:noFill/>
          <a:ln/>
        </p:spPr>
        <p:txBody>
          <a:bodyPr wrap="square" lIns="0" tIns="0" rIns="0" bIns="0" rtlCol="0" anchor="ctr"/>
          <a:lstStyle/>
          <a:p>
            <a:pPr indent="0" marL="0">
              <a:buNone/>
            </a:pPr>
            <a:r>
              <a:rPr lang="en-US" sz="1050" b="1" dirty="0">
                <a:solidFill>
                  <a:srgbClr val="10243E"/>
                </a:solidFill>
                <a:latin typeface="Calibri" pitchFamily="34" charset="0"/>
                <a:ea typeface="Calibri" pitchFamily="34" charset="-122"/>
                <a:cs typeface="Calibri" pitchFamily="34" charset="-120"/>
              </a:rPr>
              <a:t>CSDL pháp luật (thuvienphapluat, LuatVietnam)</a:t>
            </a:r>
            <a:endParaRPr lang="en-US" sz="1050" dirty="0"/>
          </a:p>
        </p:txBody>
      </p:sp>
      <p:sp>
        <p:nvSpPr>
          <p:cNvPr id="8" name="Text 5"/>
          <p:cNvSpPr/>
          <p:nvPr/>
        </p:nvSpPr>
        <p:spPr>
          <a:xfrm>
            <a:off x="1188720" y="2139696"/>
            <a:ext cx="4206240" cy="822960"/>
          </a:xfrm>
          <a:prstGeom prst="rect">
            <a:avLst/>
          </a:prstGeom>
          <a:noFill/>
          <a:ln/>
        </p:spPr>
        <p:txBody>
          <a:bodyPr wrap="square" lIns="0" tIns="0" rIns="0" bIns="0" rtlCol="0" anchor="t"/>
          <a:lstStyle/>
          <a:p>
            <a:pPr indent="0" marL="0">
              <a:lnSpc>
                <a:spcPct val="105000"/>
              </a:lnSpc>
              <a:buNone/>
            </a:pPr>
            <a:r>
              <a:rPr lang="en-US" sz="940" dirty="0">
                <a:solidFill>
                  <a:srgbClr val="1A2430"/>
                </a:solidFill>
                <a:latin typeface="Calibri" pitchFamily="34" charset="0"/>
                <a:ea typeface="Calibri" pitchFamily="34" charset="-122"/>
                <a:cs typeface="Calibri" pitchFamily="34" charset="-120"/>
              </a:rPr>
              <a:t>Phủ rộng — nhưng chỉ tra cứu: chị vẫn phải tự đọc, tự đối chiếu, tự đánh giá tác động.</a:t>
            </a:r>
            <a:endParaRPr lang="en-US" sz="940" dirty="0"/>
          </a:p>
        </p:txBody>
      </p:sp>
      <p:pic>
        <p:nvPicPr>
          <p:cNvPr id="9" name="Image 1" descr="icons/ban_b.png">    </p:cNvPr>
          <p:cNvPicPr>
            <a:picLocks noChangeAspect="1"/>
          </p:cNvPicPr>
          <p:nvPr/>
        </p:nvPicPr>
        <p:blipFill>
          <a:blip r:embed="rId2"/>
          <a:stretch>
            <a:fillRect/>
          </a:stretch>
        </p:blipFill>
        <p:spPr>
          <a:xfrm>
            <a:off x="777240" y="3044952"/>
            <a:ext cx="274320" cy="274320"/>
          </a:xfrm>
          <a:prstGeom prst="rect">
            <a:avLst/>
          </a:prstGeom>
        </p:spPr>
      </p:pic>
      <p:sp>
        <p:nvSpPr>
          <p:cNvPr id="10" name="Text 6"/>
          <p:cNvSpPr/>
          <p:nvPr/>
        </p:nvSpPr>
        <p:spPr>
          <a:xfrm>
            <a:off x="1188720" y="2999232"/>
            <a:ext cx="4206240" cy="320040"/>
          </a:xfrm>
          <a:prstGeom prst="rect">
            <a:avLst/>
          </a:prstGeom>
          <a:noFill/>
          <a:ln/>
        </p:spPr>
        <p:txBody>
          <a:bodyPr wrap="square" lIns="0" tIns="0" rIns="0" bIns="0" rtlCol="0" anchor="ctr"/>
          <a:lstStyle/>
          <a:p>
            <a:pPr indent="0" marL="0">
              <a:buNone/>
            </a:pPr>
            <a:r>
              <a:rPr lang="en-US" sz="1050" b="1" dirty="0">
                <a:solidFill>
                  <a:srgbClr val="10243E"/>
                </a:solidFill>
                <a:latin typeface="Calibri" pitchFamily="34" charset="0"/>
                <a:ea typeface="Calibri" pitchFamily="34" charset="-122"/>
                <a:cs typeface="Calibri" pitchFamily="34" charset="-120"/>
              </a:rPr>
              <a:t>Chatbot thường / standard RAG</a:t>
            </a:r>
            <a:endParaRPr lang="en-US" sz="1050" dirty="0"/>
          </a:p>
        </p:txBody>
      </p:sp>
      <p:sp>
        <p:nvSpPr>
          <p:cNvPr id="11" name="Text 7"/>
          <p:cNvSpPr/>
          <p:nvPr/>
        </p:nvSpPr>
        <p:spPr>
          <a:xfrm>
            <a:off x="1188720" y="3310128"/>
            <a:ext cx="4206240" cy="822960"/>
          </a:xfrm>
          <a:prstGeom prst="rect">
            <a:avLst/>
          </a:prstGeom>
          <a:noFill/>
          <a:ln/>
        </p:spPr>
        <p:txBody>
          <a:bodyPr wrap="square" lIns="0" tIns="0" rIns="0" bIns="0" rtlCol="0" anchor="t"/>
          <a:lstStyle/>
          <a:p>
            <a:pPr indent="0" marL="0">
              <a:lnSpc>
                <a:spcPct val="105000"/>
              </a:lnSpc>
              <a:buNone/>
            </a:pPr>
            <a:r>
              <a:rPr lang="en-US" sz="940" dirty="0">
                <a:solidFill>
                  <a:srgbClr val="1A2430"/>
                </a:solidFill>
                <a:latin typeface="Calibri" pitchFamily="34" charset="0"/>
                <a:ea typeface="Calibri" pitchFamily="34" charset="-122"/>
                <a:cs typeface="Calibri" pitchFamily="34" charset="-120"/>
              </a:rPr>
              <a:t>Trôi chảy — nhưng mù phiên bản: trộn bản cũ với bản mới; trích dẫn không kiểm chứng được; không có vết kiểm toán.</a:t>
            </a:r>
            <a:endParaRPr lang="en-US" sz="940" dirty="0"/>
          </a:p>
        </p:txBody>
      </p:sp>
      <p:pic>
        <p:nvPicPr>
          <p:cNvPr id="12" name="Image 2" descr="icons/ban_b.png">    </p:cNvPr>
          <p:cNvPicPr>
            <a:picLocks noChangeAspect="1"/>
          </p:cNvPicPr>
          <p:nvPr/>
        </p:nvPicPr>
        <p:blipFill>
          <a:blip r:embed="rId3"/>
          <a:stretch>
            <a:fillRect/>
          </a:stretch>
        </p:blipFill>
        <p:spPr>
          <a:xfrm>
            <a:off x="777240" y="4215384"/>
            <a:ext cx="274320" cy="274320"/>
          </a:xfrm>
          <a:prstGeom prst="rect">
            <a:avLst/>
          </a:prstGeom>
        </p:spPr>
      </p:pic>
      <p:sp>
        <p:nvSpPr>
          <p:cNvPr id="13" name="Text 8"/>
          <p:cNvSpPr/>
          <p:nvPr/>
        </p:nvSpPr>
        <p:spPr>
          <a:xfrm>
            <a:off x="1188720" y="4169664"/>
            <a:ext cx="4206240" cy="320040"/>
          </a:xfrm>
          <a:prstGeom prst="rect">
            <a:avLst/>
          </a:prstGeom>
          <a:noFill/>
          <a:ln/>
        </p:spPr>
        <p:txBody>
          <a:bodyPr wrap="square" lIns="0" tIns="0" rIns="0" bIns="0" rtlCol="0" anchor="ctr"/>
          <a:lstStyle/>
          <a:p>
            <a:pPr indent="0" marL="0">
              <a:buNone/>
            </a:pPr>
            <a:r>
              <a:rPr lang="en-US" sz="1050" b="1" dirty="0">
                <a:solidFill>
                  <a:srgbClr val="10243E"/>
                </a:solidFill>
                <a:latin typeface="Calibri" pitchFamily="34" charset="0"/>
                <a:ea typeface="Calibri" pitchFamily="34" charset="-122"/>
                <a:cs typeface="Calibri" pitchFamily="34" charset="-120"/>
              </a:rPr>
              <a:t>Bộ GRC toàn cầu (Thomson Reuters, Wolters Kluwer…)</a:t>
            </a:r>
            <a:endParaRPr lang="en-US" sz="1050" dirty="0"/>
          </a:p>
        </p:txBody>
      </p:sp>
      <p:sp>
        <p:nvSpPr>
          <p:cNvPr id="14" name="Text 9"/>
          <p:cNvSpPr/>
          <p:nvPr/>
        </p:nvSpPr>
        <p:spPr>
          <a:xfrm>
            <a:off x="1188720" y="4480560"/>
            <a:ext cx="4206240" cy="822960"/>
          </a:xfrm>
          <a:prstGeom prst="rect">
            <a:avLst/>
          </a:prstGeom>
          <a:noFill/>
          <a:ln/>
        </p:spPr>
        <p:txBody>
          <a:bodyPr wrap="square" lIns="0" tIns="0" rIns="0" bIns="0" rtlCol="0" anchor="t"/>
          <a:lstStyle/>
          <a:p>
            <a:pPr indent="0" marL="0">
              <a:lnSpc>
                <a:spcPct val="105000"/>
              </a:lnSpc>
              <a:buNone/>
            </a:pPr>
            <a:r>
              <a:rPr lang="en-US" sz="940" dirty="0">
                <a:solidFill>
                  <a:srgbClr val="1A2430"/>
                </a:solidFill>
                <a:latin typeface="Calibri" pitchFamily="34" charset="0"/>
                <a:ea typeface="Calibri" pitchFamily="34" charset="-122"/>
                <a:cs typeface="Calibri" pitchFamily="34" charset="-120"/>
              </a:rPr>
              <a:t>Trưởng thành — nhưng đắt, chỉ cloud, không hiểu cấu trúc Điều/Khoản/Điểm hay chuẩn hóa tiếng Việt.</a:t>
            </a:r>
            <a:endParaRPr lang="en-US" sz="940" dirty="0"/>
          </a:p>
        </p:txBody>
      </p:sp>
      <p:sp>
        <p:nvSpPr>
          <p:cNvPr id="15" name="Shape 10"/>
          <p:cNvSpPr/>
          <p:nvPr/>
        </p:nvSpPr>
        <p:spPr>
          <a:xfrm>
            <a:off x="5806440" y="1298448"/>
            <a:ext cx="5879592" cy="4023360"/>
          </a:xfrm>
          <a:prstGeom prst="roundRect">
            <a:avLst>
              <a:gd name="adj" fmla="val 1591"/>
            </a:avLst>
          </a:prstGeom>
          <a:solidFill>
            <a:srgbClr val="FFFFFF"/>
          </a:solidFill>
          <a:ln w="12700">
            <a:solidFill>
              <a:srgbClr val="D7DFEA"/>
            </a:solidFill>
            <a:prstDash val="solid"/>
          </a:ln>
        </p:spPr>
      </p:sp>
      <p:sp>
        <p:nvSpPr>
          <p:cNvPr id="16" name="Text 11"/>
          <p:cNvSpPr/>
          <p:nvPr/>
        </p:nvSpPr>
        <p:spPr>
          <a:xfrm>
            <a:off x="6080760" y="1463040"/>
            <a:ext cx="5303520" cy="274320"/>
          </a:xfrm>
          <a:prstGeom prst="rect">
            <a:avLst/>
          </a:prstGeom>
          <a:noFill/>
          <a:ln/>
        </p:spPr>
        <p:txBody>
          <a:bodyPr wrap="square" lIns="0" tIns="0" rIns="0" bIns="0" rtlCol="0" anchor="ctr"/>
          <a:lstStyle/>
          <a:p>
            <a:pPr indent="0" marL="0">
              <a:buNone/>
            </a:pPr>
            <a:r>
              <a:rPr lang="en-US" sz="1050" b="1" spc="100" kern="0" dirty="0">
                <a:solidFill>
                  <a:srgbClr val="9A7A14"/>
                </a:solidFill>
                <a:latin typeface="Calibri" pitchFamily="34" charset="0"/>
                <a:ea typeface="Calibri" pitchFamily="34" charset="-122"/>
                <a:cs typeface="Calibri" pitchFamily="34" charset="-120"/>
              </a:rPr>
              <a:t>REGVAULT LÀM KHÁC Ở ĐÂU</a:t>
            </a:r>
            <a:endParaRPr lang="en-US" sz="1050" dirty="0"/>
          </a:p>
        </p:txBody>
      </p:sp>
      <p:sp>
        <p:nvSpPr>
          <p:cNvPr id="17" name="Shape 12"/>
          <p:cNvSpPr/>
          <p:nvPr/>
        </p:nvSpPr>
        <p:spPr>
          <a:xfrm>
            <a:off x="6080760" y="1828800"/>
            <a:ext cx="384048" cy="384048"/>
          </a:xfrm>
          <a:prstGeom prst="ellipse">
            <a:avLst/>
          </a:prstGeom>
          <a:solidFill>
            <a:srgbClr val="C9A227"/>
          </a:solidFill>
          <a:ln/>
        </p:spPr>
      </p:sp>
      <p:sp>
        <p:nvSpPr>
          <p:cNvPr id="18" name="Text 13"/>
          <p:cNvSpPr/>
          <p:nvPr/>
        </p:nvSpPr>
        <p:spPr>
          <a:xfrm>
            <a:off x="6080760" y="1828800"/>
            <a:ext cx="384048" cy="384048"/>
          </a:xfrm>
          <a:prstGeom prst="rect">
            <a:avLst/>
          </a:prstGeom>
          <a:noFill/>
          <a:ln/>
        </p:spPr>
        <p:txBody>
          <a:bodyPr wrap="square" lIns="0" tIns="0" rIns="0" bIns="0" rtlCol="0" anchor="ctr"/>
          <a:lstStyle/>
          <a:p>
            <a:pPr algn="ctr" indent="0" marL="0">
              <a:buNone/>
            </a:pPr>
            <a:r>
              <a:rPr lang="en-US" sz="1400" b="1" dirty="0">
                <a:solidFill>
                  <a:srgbClr val="10243E"/>
                </a:solidFill>
                <a:latin typeface="Cambria" pitchFamily="34" charset="0"/>
                <a:ea typeface="Cambria" pitchFamily="34" charset="-122"/>
                <a:cs typeface="Cambria" pitchFamily="34" charset="-120"/>
              </a:rPr>
              <a:t>1</a:t>
            </a:r>
            <a:endParaRPr lang="en-US" sz="1400" dirty="0"/>
          </a:p>
        </p:txBody>
      </p:sp>
      <p:sp>
        <p:nvSpPr>
          <p:cNvPr id="19" name="Text 14"/>
          <p:cNvSpPr/>
          <p:nvPr/>
        </p:nvSpPr>
        <p:spPr>
          <a:xfrm>
            <a:off x="6629400" y="1773936"/>
            <a:ext cx="4892040" cy="713232"/>
          </a:xfrm>
          <a:prstGeom prst="rect">
            <a:avLst/>
          </a:prstGeom>
          <a:noFill/>
          <a:ln/>
        </p:spPr>
        <p:txBody>
          <a:bodyPr wrap="square" lIns="0" tIns="0" rIns="0" bIns="0" rtlCol="0" anchor="t"/>
          <a:lstStyle/>
          <a:p>
            <a:pPr indent="0" marL="0">
              <a:lnSpc>
                <a:spcPct val="102000"/>
              </a:lnSpc>
              <a:buNone/>
            </a:pPr>
            <a:r>
              <a:rPr lang="en-US" sz="950" b="1" dirty="0">
                <a:solidFill>
                  <a:srgbClr val="10243E"/>
                </a:solidFill>
                <a:latin typeface="Calibri" pitchFamily="34" charset="0"/>
                <a:ea typeface="Calibri" pitchFamily="34" charset="-122"/>
                <a:cs typeface="Calibri" pitchFamily="34" charset="-120"/>
              </a:rPr>
              <a:t>Đồ thị tri thức thời gian với ChangeEvent tường minh</a:t>
            </a:r>
            <a:pPr indent="0" marL="0">
              <a:lnSpc>
                <a:spcPct val="102000"/>
              </a:lnSpc>
              <a:buNone/>
            </a:pPr>
            <a:r>
              <a:rPr lang="en-US" sz="950" dirty="0">
                <a:solidFill>
                  <a:srgbClr val="1A2430"/>
                </a:solidFill>
                <a:latin typeface="Calibri" pitchFamily="34" charset="0"/>
                <a:ea typeface="Calibri" pitchFamily="34" charset="-122"/>
                <a:cs typeface="Calibri" pitchFamily="34" charset="-120"/>
              </a:rPr>
              <a:t> — sửa đổi là node hạng nhất: bằng chứng, thao tác, trước/sau, ngày hiệu lực</a:t>
            </a:r>
            <a:endParaRPr lang="en-US" sz="950" dirty="0"/>
          </a:p>
        </p:txBody>
      </p:sp>
      <p:sp>
        <p:nvSpPr>
          <p:cNvPr id="20" name="Shape 15"/>
          <p:cNvSpPr/>
          <p:nvPr/>
        </p:nvSpPr>
        <p:spPr>
          <a:xfrm>
            <a:off x="6080760" y="2523744"/>
            <a:ext cx="384048" cy="384048"/>
          </a:xfrm>
          <a:prstGeom prst="ellipse">
            <a:avLst/>
          </a:prstGeom>
          <a:solidFill>
            <a:srgbClr val="C9A227"/>
          </a:solidFill>
          <a:ln/>
        </p:spPr>
      </p:sp>
      <p:sp>
        <p:nvSpPr>
          <p:cNvPr id="21" name="Text 16"/>
          <p:cNvSpPr/>
          <p:nvPr/>
        </p:nvSpPr>
        <p:spPr>
          <a:xfrm>
            <a:off x="6080760" y="2523744"/>
            <a:ext cx="384048" cy="384048"/>
          </a:xfrm>
          <a:prstGeom prst="rect">
            <a:avLst/>
          </a:prstGeom>
          <a:noFill/>
          <a:ln/>
        </p:spPr>
        <p:txBody>
          <a:bodyPr wrap="square" lIns="0" tIns="0" rIns="0" bIns="0" rtlCol="0" anchor="ctr"/>
          <a:lstStyle/>
          <a:p>
            <a:pPr algn="ctr" indent="0" marL="0">
              <a:buNone/>
            </a:pPr>
            <a:r>
              <a:rPr lang="en-US" sz="1400" b="1" dirty="0">
                <a:solidFill>
                  <a:srgbClr val="10243E"/>
                </a:solidFill>
                <a:latin typeface="Cambria" pitchFamily="34" charset="0"/>
                <a:ea typeface="Cambria" pitchFamily="34" charset="-122"/>
                <a:cs typeface="Cambria" pitchFamily="34" charset="-120"/>
              </a:rPr>
              <a:t>2</a:t>
            </a:r>
            <a:endParaRPr lang="en-US" sz="1400" dirty="0"/>
          </a:p>
        </p:txBody>
      </p:sp>
      <p:sp>
        <p:nvSpPr>
          <p:cNvPr id="22" name="Text 17"/>
          <p:cNvSpPr/>
          <p:nvPr/>
        </p:nvSpPr>
        <p:spPr>
          <a:xfrm>
            <a:off x="6629400" y="2468880"/>
            <a:ext cx="4892040" cy="713232"/>
          </a:xfrm>
          <a:prstGeom prst="rect">
            <a:avLst/>
          </a:prstGeom>
          <a:noFill/>
          <a:ln/>
        </p:spPr>
        <p:txBody>
          <a:bodyPr wrap="square" lIns="0" tIns="0" rIns="0" bIns="0" rtlCol="0" anchor="t"/>
          <a:lstStyle/>
          <a:p>
            <a:pPr indent="0" marL="0">
              <a:lnSpc>
                <a:spcPct val="102000"/>
              </a:lnSpc>
              <a:buNone/>
            </a:pPr>
            <a:r>
              <a:rPr lang="en-US" sz="950" b="1" dirty="0">
                <a:solidFill>
                  <a:srgbClr val="10243E"/>
                </a:solidFill>
                <a:latin typeface="Calibri" pitchFamily="34" charset="0"/>
                <a:ea typeface="Calibri" pitchFamily="34" charset="-122"/>
                <a:cs typeface="Calibri" pitchFamily="34" charset="-120"/>
              </a:rPr>
              <a:t>Lọc thời gian TRƯỚC khi lấy top-k</a:t>
            </a:r>
            <a:pPr indent="0" marL="0">
              <a:lnSpc>
                <a:spcPct val="102000"/>
              </a:lnSpc>
              <a:buNone/>
            </a:pPr>
            <a:r>
              <a:rPr lang="en-US" sz="950" dirty="0">
                <a:solidFill>
                  <a:srgbClr val="1A2430"/>
                </a:solidFill>
                <a:latin typeface="Calibri" pitchFamily="34" charset="0"/>
                <a:ea typeface="Calibri" pitchFamily="34" charset="-122"/>
                <a:cs typeface="Calibri" pitchFamily="34" charset="-120"/>
              </a:rPr>
              <a:t> — triệt tận gốc lỗi trộn phiên bản — lỗi câm điển hình của RAG</a:t>
            </a:r>
            <a:endParaRPr lang="en-US" sz="950" dirty="0"/>
          </a:p>
        </p:txBody>
      </p:sp>
      <p:sp>
        <p:nvSpPr>
          <p:cNvPr id="23" name="Shape 18"/>
          <p:cNvSpPr/>
          <p:nvPr/>
        </p:nvSpPr>
        <p:spPr>
          <a:xfrm>
            <a:off x="6080760" y="3218688"/>
            <a:ext cx="384048" cy="384048"/>
          </a:xfrm>
          <a:prstGeom prst="ellipse">
            <a:avLst/>
          </a:prstGeom>
          <a:solidFill>
            <a:srgbClr val="C9A227"/>
          </a:solidFill>
          <a:ln/>
        </p:spPr>
      </p:sp>
      <p:sp>
        <p:nvSpPr>
          <p:cNvPr id="24" name="Text 19"/>
          <p:cNvSpPr/>
          <p:nvPr/>
        </p:nvSpPr>
        <p:spPr>
          <a:xfrm>
            <a:off x="6080760" y="3218688"/>
            <a:ext cx="384048" cy="384048"/>
          </a:xfrm>
          <a:prstGeom prst="rect">
            <a:avLst/>
          </a:prstGeom>
          <a:noFill/>
          <a:ln/>
        </p:spPr>
        <p:txBody>
          <a:bodyPr wrap="square" lIns="0" tIns="0" rIns="0" bIns="0" rtlCol="0" anchor="ctr"/>
          <a:lstStyle/>
          <a:p>
            <a:pPr algn="ctr" indent="0" marL="0">
              <a:buNone/>
            </a:pPr>
            <a:r>
              <a:rPr lang="en-US" sz="1400" b="1" dirty="0">
                <a:solidFill>
                  <a:srgbClr val="10243E"/>
                </a:solidFill>
                <a:latin typeface="Cambria" pitchFamily="34" charset="0"/>
                <a:ea typeface="Cambria" pitchFamily="34" charset="-122"/>
                <a:cs typeface="Cambria" pitchFamily="34" charset="-120"/>
              </a:rPr>
              <a:t>3</a:t>
            </a:r>
            <a:endParaRPr lang="en-US" sz="1400" dirty="0"/>
          </a:p>
        </p:txBody>
      </p:sp>
      <p:sp>
        <p:nvSpPr>
          <p:cNvPr id="25" name="Text 20"/>
          <p:cNvSpPr/>
          <p:nvPr/>
        </p:nvSpPr>
        <p:spPr>
          <a:xfrm>
            <a:off x="6629400" y="3163824"/>
            <a:ext cx="4892040" cy="713232"/>
          </a:xfrm>
          <a:prstGeom prst="rect">
            <a:avLst/>
          </a:prstGeom>
          <a:noFill/>
          <a:ln/>
        </p:spPr>
        <p:txBody>
          <a:bodyPr wrap="square" lIns="0" tIns="0" rIns="0" bIns="0" rtlCol="0" anchor="t"/>
          <a:lstStyle/>
          <a:p>
            <a:pPr indent="0" marL="0">
              <a:lnSpc>
                <a:spcPct val="102000"/>
              </a:lnSpc>
              <a:buNone/>
            </a:pPr>
            <a:r>
              <a:rPr lang="en-US" sz="950" b="1" dirty="0">
                <a:solidFill>
                  <a:srgbClr val="10243E"/>
                </a:solidFill>
                <a:latin typeface="Calibri" pitchFamily="34" charset="0"/>
                <a:ea typeface="Calibri" pitchFamily="34" charset="-122"/>
                <a:cs typeface="Calibri" pitchFamily="34" charset="-120"/>
              </a:rPr>
              <a:t>Patch tất định — LLM không bao giờ viết lại điều luật</a:t>
            </a:r>
            <a:pPr indent="0" marL="0">
              <a:lnSpc>
                <a:spcPct val="102000"/>
              </a:lnSpc>
              <a:buNone/>
            </a:pPr>
            <a:r>
              <a:rPr lang="en-US" sz="950" dirty="0">
                <a:solidFill>
                  <a:srgbClr val="1A2430"/>
                </a:solidFill>
                <a:latin typeface="Calibri" pitchFamily="34" charset="0"/>
                <a:ea typeface="Calibri" pitchFamily="34" charset="-122"/>
                <a:cs typeface="Calibri" pitchFamily="34" charset="-120"/>
              </a:rPr>
              <a:t> — REPLACE/INSERT/DELETE exact-match; mơ hồ là buộc con người duyệt</a:t>
            </a:r>
            <a:endParaRPr lang="en-US" sz="950" dirty="0"/>
          </a:p>
        </p:txBody>
      </p:sp>
      <p:sp>
        <p:nvSpPr>
          <p:cNvPr id="26" name="Shape 21"/>
          <p:cNvSpPr/>
          <p:nvPr/>
        </p:nvSpPr>
        <p:spPr>
          <a:xfrm>
            <a:off x="6080760" y="3913632"/>
            <a:ext cx="384048" cy="384048"/>
          </a:xfrm>
          <a:prstGeom prst="ellipse">
            <a:avLst/>
          </a:prstGeom>
          <a:solidFill>
            <a:srgbClr val="C9A227"/>
          </a:solidFill>
          <a:ln/>
        </p:spPr>
      </p:sp>
      <p:sp>
        <p:nvSpPr>
          <p:cNvPr id="27" name="Text 22"/>
          <p:cNvSpPr/>
          <p:nvPr/>
        </p:nvSpPr>
        <p:spPr>
          <a:xfrm>
            <a:off x="6080760" y="3913632"/>
            <a:ext cx="384048" cy="384048"/>
          </a:xfrm>
          <a:prstGeom prst="rect">
            <a:avLst/>
          </a:prstGeom>
          <a:noFill/>
          <a:ln/>
        </p:spPr>
        <p:txBody>
          <a:bodyPr wrap="square" lIns="0" tIns="0" rIns="0" bIns="0" rtlCol="0" anchor="ctr"/>
          <a:lstStyle/>
          <a:p>
            <a:pPr algn="ctr" indent="0" marL="0">
              <a:buNone/>
            </a:pPr>
            <a:r>
              <a:rPr lang="en-US" sz="1400" b="1" dirty="0">
                <a:solidFill>
                  <a:srgbClr val="10243E"/>
                </a:solidFill>
                <a:latin typeface="Cambria" pitchFamily="34" charset="0"/>
                <a:ea typeface="Cambria" pitchFamily="34" charset="-122"/>
                <a:cs typeface="Cambria" pitchFamily="34" charset="-120"/>
              </a:rPr>
              <a:t>4</a:t>
            </a:r>
            <a:endParaRPr lang="en-US" sz="1400" dirty="0"/>
          </a:p>
        </p:txBody>
      </p:sp>
      <p:sp>
        <p:nvSpPr>
          <p:cNvPr id="28" name="Text 23"/>
          <p:cNvSpPr/>
          <p:nvPr/>
        </p:nvSpPr>
        <p:spPr>
          <a:xfrm>
            <a:off x="6629400" y="3858768"/>
            <a:ext cx="4892040" cy="713232"/>
          </a:xfrm>
          <a:prstGeom prst="rect">
            <a:avLst/>
          </a:prstGeom>
          <a:noFill/>
          <a:ln/>
        </p:spPr>
        <p:txBody>
          <a:bodyPr wrap="square" lIns="0" tIns="0" rIns="0" bIns="0" rtlCol="0" anchor="t"/>
          <a:lstStyle/>
          <a:p>
            <a:pPr indent="0" marL="0">
              <a:lnSpc>
                <a:spcPct val="102000"/>
              </a:lnSpc>
              <a:buNone/>
            </a:pPr>
            <a:r>
              <a:rPr lang="en-US" sz="950" b="1" dirty="0">
                <a:solidFill>
                  <a:srgbClr val="10243E"/>
                </a:solidFill>
                <a:latin typeface="Calibri" pitchFamily="34" charset="0"/>
                <a:ea typeface="Calibri" pitchFamily="34" charset="-122"/>
                <a:cs typeface="Calibri" pitchFamily="34" charset="-120"/>
              </a:rPr>
              <a:t>“LLM bị nhốt” + vết bằng chứng kiểm chứng được</a:t>
            </a:r>
            <a:pPr indent="0" marL="0">
              <a:lnSpc>
                <a:spcPct val="102000"/>
              </a:lnSpc>
              <a:buNone/>
            </a:pPr>
            <a:r>
              <a:rPr lang="en-US" sz="950" dirty="0">
                <a:solidFill>
                  <a:srgbClr val="1A2430"/>
                </a:solidFill>
                <a:latin typeface="Calibri" pitchFamily="34" charset="0"/>
                <a:ea typeface="Calibri" pitchFamily="34" charset="-122"/>
                <a:cs typeface="Calibri" pitchFamily="34" charset="-120"/>
              </a:rPr>
              <a:t> — LLM không chọn phiên bản, không tự tạo trích dẫn; hiển thị cả nguồn BỊ LOẠI kèm lý do</a:t>
            </a:r>
            <a:endParaRPr lang="en-US" sz="950" dirty="0"/>
          </a:p>
        </p:txBody>
      </p:sp>
      <p:sp>
        <p:nvSpPr>
          <p:cNvPr id="29" name="Shape 24"/>
          <p:cNvSpPr/>
          <p:nvPr/>
        </p:nvSpPr>
        <p:spPr>
          <a:xfrm>
            <a:off x="6080760" y="4608576"/>
            <a:ext cx="384048" cy="384048"/>
          </a:xfrm>
          <a:prstGeom prst="ellipse">
            <a:avLst/>
          </a:prstGeom>
          <a:solidFill>
            <a:srgbClr val="C9A227"/>
          </a:solidFill>
          <a:ln/>
        </p:spPr>
      </p:sp>
      <p:sp>
        <p:nvSpPr>
          <p:cNvPr id="30" name="Text 25"/>
          <p:cNvSpPr/>
          <p:nvPr/>
        </p:nvSpPr>
        <p:spPr>
          <a:xfrm>
            <a:off x="6080760" y="4608576"/>
            <a:ext cx="384048" cy="384048"/>
          </a:xfrm>
          <a:prstGeom prst="rect">
            <a:avLst/>
          </a:prstGeom>
          <a:noFill/>
          <a:ln/>
        </p:spPr>
        <p:txBody>
          <a:bodyPr wrap="square" lIns="0" tIns="0" rIns="0" bIns="0" rtlCol="0" anchor="ctr"/>
          <a:lstStyle/>
          <a:p>
            <a:pPr algn="ctr" indent="0" marL="0">
              <a:buNone/>
            </a:pPr>
            <a:r>
              <a:rPr lang="en-US" sz="1400" b="1" dirty="0">
                <a:solidFill>
                  <a:srgbClr val="10243E"/>
                </a:solidFill>
                <a:latin typeface="Cambria" pitchFamily="34" charset="0"/>
                <a:ea typeface="Cambria" pitchFamily="34" charset="-122"/>
                <a:cs typeface="Cambria" pitchFamily="34" charset="-120"/>
              </a:rPr>
              <a:t>5</a:t>
            </a:r>
            <a:endParaRPr lang="en-US" sz="1400" dirty="0"/>
          </a:p>
        </p:txBody>
      </p:sp>
      <p:sp>
        <p:nvSpPr>
          <p:cNvPr id="31" name="Text 26"/>
          <p:cNvSpPr/>
          <p:nvPr/>
        </p:nvSpPr>
        <p:spPr>
          <a:xfrm>
            <a:off x="6629400" y="4553712"/>
            <a:ext cx="4892040" cy="713232"/>
          </a:xfrm>
          <a:prstGeom prst="rect">
            <a:avLst/>
          </a:prstGeom>
          <a:noFill/>
          <a:ln/>
        </p:spPr>
        <p:txBody>
          <a:bodyPr wrap="square" lIns="0" tIns="0" rIns="0" bIns="0" rtlCol="0" anchor="t"/>
          <a:lstStyle/>
          <a:p>
            <a:pPr indent="0" marL="0">
              <a:lnSpc>
                <a:spcPct val="102000"/>
              </a:lnSpc>
              <a:buNone/>
            </a:pPr>
            <a:r>
              <a:rPr lang="en-US" sz="950" b="1" dirty="0">
                <a:solidFill>
                  <a:srgbClr val="10243E"/>
                </a:solidFill>
                <a:latin typeface="Calibri" pitchFamily="34" charset="0"/>
                <a:ea typeface="Calibri" pitchFamily="34" charset="-122"/>
                <a:cs typeface="Calibri" pitchFamily="34" charset="-120"/>
              </a:rPr>
              <a:t>Chuẩn hóa pháp lý tiếng Việt + benchmark trong sản phẩm</a:t>
            </a:r>
            <a:pPr indent="0" marL="0">
              <a:lnSpc>
                <a:spcPct val="102000"/>
              </a:lnSpc>
              <a:buNone/>
            </a:pPr>
            <a:r>
              <a:rPr lang="en-US" sz="950" dirty="0">
                <a:solidFill>
                  <a:srgbClr val="1A2430"/>
                </a:solidFill>
                <a:latin typeface="Calibri" pitchFamily="34" charset="0"/>
                <a:ea typeface="Calibri" pitchFamily="34" charset="-122"/>
                <a:cs typeface="Calibri" pitchFamily="34" charset="-120"/>
              </a:rPr>
              <a:t> — “500 triệu” = “500.000.000” = “0,5 tỷ”; /compare chứng minh trực tiếp</a:t>
            </a:r>
            <a:endParaRPr lang="en-US" sz="950" dirty="0"/>
          </a:p>
        </p:txBody>
      </p:sp>
      <p:sp>
        <p:nvSpPr>
          <p:cNvPr id="32" name="Shape 27"/>
          <p:cNvSpPr/>
          <p:nvPr/>
        </p:nvSpPr>
        <p:spPr>
          <a:xfrm>
            <a:off x="502920" y="5623560"/>
            <a:ext cx="1691640" cy="384048"/>
          </a:xfrm>
          <a:prstGeom prst="roundRect">
            <a:avLst>
              <a:gd name="adj" fmla="val 50000"/>
            </a:avLst>
          </a:prstGeom>
          <a:solidFill>
            <a:srgbClr val="10243E"/>
          </a:solidFill>
          <a:ln/>
        </p:spPr>
      </p:sp>
      <p:sp>
        <p:nvSpPr>
          <p:cNvPr id="33" name="Text 28"/>
          <p:cNvSpPr/>
          <p:nvPr/>
        </p:nvSpPr>
        <p:spPr>
          <a:xfrm>
            <a:off x="502920" y="5623560"/>
            <a:ext cx="1691640" cy="384048"/>
          </a:xfrm>
          <a:prstGeom prst="rect">
            <a:avLst/>
          </a:prstGeom>
          <a:noFill/>
          <a:ln/>
        </p:spPr>
        <p:txBody>
          <a:bodyPr wrap="square" lIns="0" tIns="0" rIns="0" bIns="0" rtlCol="0" anchor="ctr"/>
          <a:lstStyle/>
          <a:p>
            <a:pPr algn="ctr" indent="0" marL="0">
              <a:buNone/>
            </a:pPr>
            <a:r>
              <a:rPr lang="en-US" sz="850" b="1" spc="50" kern="0" dirty="0">
                <a:solidFill>
                  <a:srgbClr val="D9E6F5"/>
                </a:solidFill>
                <a:latin typeface="Calibri" pitchFamily="34" charset="0"/>
                <a:ea typeface="Calibri" pitchFamily="34" charset="-122"/>
                <a:cs typeface="Calibri" pitchFamily="34" charset="-120"/>
              </a:rPr>
              <a:t>TRÍ TUỆ NHÂN TẠO</a:t>
            </a:r>
            <a:endParaRPr lang="en-US" sz="850" dirty="0"/>
          </a:p>
        </p:txBody>
      </p:sp>
      <p:sp>
        <p:nvSpPr>
          <p:cNvPr id="34" name="Shape 29"/>
          <p:cNvSpPr/>
          <p:nvPr/>
        </p:nvSpPr>
        <p:spPr>
          <a:xfrm>
            <a:off x="2368296" y="5623560"/>
            <a:ext cx="1874520" cy="384048"/>
          </a:xfrm>
          <a:prstGeom prst="roundRect">
            <a:avLst>
              <a:gd name="adj" fmla="val 50000"/>
            </a:avLst>
          </a:prstGeom>
          <a:solidFill>
            <a:srgbClr val="10243E"/>
          </a:solidFill>
          <a:ln/>
        </p:spPr>
      </p:sp>
      <p:sp>
        <p:nvSpPr>
          <p:cNvPr id="35" name="Text 30"/>
          <p:cNvSpPr/>
          <p:nvPr/>
        </p:nvSpPr>
        <p:spPr>
          <a:xfrm>
            <a:off x="2368296" y="5623560"/>
            <a:ext cx="1874520" cy="384048"/>
          </a:xfrm>
          <a:prstGeom prst="rect">
            <a:avLst/>
          </a:prstGeom>
          <a:noFill/>
          <a:ln/>
        </p:spPr>
        <p:txBody>
          <a:bodyPr wrap="square" lIns="0" tIns="0" rIns="0" bIns="0" rtlCol="0" anchor="ctr"/>
          <a:lstStyle/>
          <a:p>
            <a:pPr algn="ctr" indent="0" marL="0">
              <a:buNone/>
            </a:pPr>
            <a:r>
              <a:rPr lang="en-US" sz="850" b="1" spc="50" kern="0" dirty="0">
                <a:solidFill>
                  <a:srgbClr val="D9E6F5"/>
                </a:solidFill>
                <a:latin typeface="Calibri" pitchFamily="34" charset="0"/>
                <a:ea typeface="Calibri" pitchFamily="34" charset="-122"/>
                <a:cs typeface="Calibri" pitchFamily="34" charset="-120"/>
              </a:rPr>
              <a:t>BIG DATA &amp; PHÂN TÍCH</a:t>
            </a:r>
            <a:endParaRPr lang="en-US" sz="850" dirty="0"/>
          </a:p>
        </p:txBody>
      </p:sp>
      <p:sp>
        <p:nvSpPr>
          <p:cNvPr id="36" name="Shape 31"/>
          <p:cNvSpPr/>
          <p:nvPr/>
        </p:nvSpPr>
        <p:spPr>
          <a:xfrm>
            <a:off x="4416552" y="5623560"/>
            <a:ext cx="1737360" cy="384048"/>
          </a:xfrm>
          <a:prstGeom prst="roundRect">
            <a:avLst>
              <a:gd name="adj" fmla="val 50000"/>
            </a:avLst>
          </a:prstGeom>
          <a:solidFill>
            <a:srgbClr val="10243E"/>
          </a:solidFill>
          <a:ln/>
        </p:spPr>
      </p:sp>
      <p:sp>
        <p:nvSpPr>
          <p:cNvPr id="37" name="Text 32"/>
          <p:cNvSpPr/>
          <p:nvPr/>
        </p:nvSpPr>
        <p:spPr>
          <a:xfrm>
            <a:off x="4416552" y="5623560"/>
            <a:ext cx="1737360" cy="384048"/>
          </a:xfrm>
          <a:prstGeom prst="rect">
            <a:avLst/>
          </a:prstGeom>
          <a:noFill/>
          <a:ln/>
        </p:spPr>
        <p:txBody>
          <a:bodyPr wrap="square" lIns="0" tIns="0" rIns="0" bIns="0" rtlCol="0" anchor="ctr"/>
          <a:lstStyle/>
          <a:p>
            <a:pPr algn="ctr" indent="0" marL="0">
              <a:buNone/>
            </a:pPr>
            <a:r>
              <a:rPr lang="en-US" sz="850" b="1" spc="50" kern="0" dirty="0">
                <a:solidFill>
                  <a:srgbClr val="D9E6F5"/>
                </a:solidFill>
                <a:latin typeface="Calibri" pitchFamily="34" charset="0"/>
                <a:ea typeface="Calibri" pitchFamily="34" charset="-122"/>
                <a:cs typeface="Calibri" pitchFamily="34" charset="-120"/>
              </a:rPr>
              <a:t>KNOWLEDGE GRAPH</a:t>
            </a:r>
            <a:endParaRPr lang="en-US" sz="850" dirty="0"/>
          </a:p>
        </p:txBody>
      </p:sp>
      <p:sp>
        <p:nvSpPr>
          <p:cNvPr id="38" name="Shape 33"/>
          <p:cNvSpPr/>
          <p:nvPr/>
        </p:nvSpPr>
        <p:spPr>
          <a:xfrm>
            <a:off x="6327648" y="5623560"/>
            <a:ext cx="868680" cy="384048"/>
          </a:xfrm>
          <a:prstGeom prst="roundRect">
            <a:avLst>
              <a:gd name="adj" fmla="val 50000"/>
            </a:avLst>
          </a:prstGeom>
          <a:solidFill>
            <a:srgbClr val="10243E"/>
          </a:solidFill>
          <a:ln/>
        </p:spPr>
      </p:sp>
      <p:sp>
        <p:nvSpPr>
          <p:cNvPr id="39" name="Text 34"/>
          <p:cNvSpPr/>
          <p:nvPr/>
        </p:nvSpPr>
        <p:spPr>
          <a:xfrm>
            <a:off x="6327648" y="5623560"/>
            <a:ext cx="868680" cy="384048"/>
          </a:xfrm>
          <a:prstGeom prst="rect">
            <a:avLst/>
          </a:prstGeom>
          <a:noFill/>
          <a:ln/>
        </p:spPr>
        <p:txBody>
          <a:bodyPr wrap="square" lIns="0" tIns="0" rIns="0" bIns="0" rtlCol="0" anchor="ctr"/>
          <a:lstStyle/>
          <a:p>
            <a:pPr algn="ctr" indent="0" marL="0">
              <a:buNone/>
            </a:pPr>
            <a:r>
              <a:rPr lang="en-US" sz="850" b="1" spc="50" kern="0" dirty="0">
                <a:solidFill>
                  <a:srgbClr val="D9E6F5"/>
                </a:solidFill>
                <a:latin typeface="Calibri" pitchFamily="34" charset="0"/>
                <a:ea typeface="Calibri" pitchFamily="34" charset="-122"/>
                <a:cs typeface="Calibri" pitchFamily="34" charset="-120"/>
              </a:rPr>
              <a:t>CLOUD</a:t>
            </a:r>
            <a:endParaRPr lang="en-US" sz="850" dirty="0"/>
          </a:p>
        </p:txBody>
      </p:sp>
      <p:sp>
        <p:nvSpPr>
          <p:cNvPr id="40" name="Shape 35"/>
          <p:cNvSpPr/>
          <p:nvPr/>
        </p:nvSpPr>
        <p:spPr>
          <a:xfrm>
            <a:off x="7370064" y="5623560"/>
            <a:ext cx="1463040" cy="384048"/>
          </a:xfrm>
          <a:prstGeom prst="roundRect">
            <a:avLst>
              <a:gd name="adj" fmla="val 50000"/>
            </a:avLst>
          </a:prstGeom>
          <a:solidFill>
            <a:srgbClr val="10243E"/>
          </a:solidFill>
          <a:ln/>
        </p:spPr>
      </p:sp>
      <p:sp>
        <p:nvSpPr>
          <p:cNvPr id="41" name="Text 36"/>
          <p:cNvSpPr/>
          <p:nvPr/>
        </p:nvSpPr>
        <p:spPr>
          <a:xfrm>
            <a:off x="7370064" y="5623560"/>
            <a:ext cx="1463040" cy="384048"/>
          </a:xfrm>
          <a:prstGeom prst="rect">
            <a:avLst/>
          </a:prstGeom>
          <a:noFill/>
          <a:ln/>
        </p:spPr>
        <p:txBody>
          <a:bodyPr wrap="square" lIns="0" tIns="0" rIns="0" bIns="0" rtlCol="0" anchor="ctr"/>
          <a:lstStyle/>
          <a:p>
            <a:pPr algn="ctr" indent="0" marL="0">
              <a:buNone/>
            </a:pPr>
            <a:r>
              <a:rPr lang="en-US" sz="850" b="1" spc="50" kern="0" dirty="0">
                <a:solidFill>
                  <a:srgbClr val="D9E6F5"/>
                </a:solidFill>
                <a:latin typeface="Calibri" pitchFamily="34" charset="0"/>
                <a:ea typeface="Calibri" pitchFamily="34" charset="-122"/>
                <a:cs typeface="Calibri" pitchFamily="34" charset="-120"/>
              </a:rPr>
              <a:t>AN NINH MẠNG</a:t>
            </a:r>
            <a:endParaRPr lang="en-US" sz="850" dirty="0"/>
          </a:p>
        </p:txBody>
      </p:sp>
      <p:sp>
        <p:nvSpPr>
          <p:cNvPr id="42" name="Shape 37"/>
          <p:cNvSpPr/>
          <p:nvPr/>
        </p:nvSpPr>
        <p:spPr>
          <a:xfrm>
            <a:off x="9006840" y="5623560"/>
            <a:ext cx="2148840" cy="384048"/>
          </a:xfrm>
          <a:prstGeom prst="roundRect">
            <a:avLst>
              <a:gd name="adj" fmla="val 50000"/>
            </a:avLst>
          </a:prstGeom>
          <a:solidFill>
            <a:srgbClr val="10243E"/>
          </a:solidFill>
          <a:ln/>
        </p:spPr>
      </p:sp>
      <p:sp>
        <p:nvSpPr>
          <p:cNvPr id="43" name="Text 38"/>
          <p:cNvSpPr/>
          <p:nvPr/>
        </p:nvSpPr>
        <p:spPr>
          <a:xfrm>
            <a:off x="9006840" y="5623560"/>
            <a:ext cx="2148840" cy="384048"/>
          </a:xfrm>
          <a:prstGeom prst="rect">
            <a:avLst/>
          </a:prstGeom>
          <a:noFill/>
          <a:ln/>
        </p:spPr>
        <p:txBody>
          <a:bodyPr wrap="square" lIns="0" tIns="0" rIns="0" bIns="0" rtlCol="0" anchor="ctr"/>
          <a:lstStyle/>
          <a:p>
            <a:pPr algn="ctr" indent="0" marL="0">
              <a:buNone/>
            </a:pPr>
            <a:r>
              <a:rPr lang="en-US" sz="850" b="1" spc="50" kern="0" dirty="0">
                <a:solidFill>
                  <a:srgbClr val="D9E6F5"/>
                </a:solidFill>
                <a:latin typeface="Calibri" pitchFamily="34" charset="0"/>
                <a:ea typeface="Calibri" pitchFamily="34" charset="-122"/>
                <a:cs typeface="Calibri" pitchFamily="34" charset="-120"/>
              </a:rPr>
              <a:t>EVERYTHING-AS-A-SERVICE</a:t>
            </a:r>
            <a:endParaRPr lang="en-US" sz="850" dirty="0"/>
          </a:p>
        </p:txBody>
      </p:sp>
      <p:sp>
        <p:nvSpPr>
          <p:cNvPr id="44" name="Text 39"/>
          <p:cNvSpPr/>
          <p:nvPr/>
        </p:nvSpPr>
        <p:spPr>
          <a:xfrm>
            <a:off x="502920" y="6053328"/>
            <a:ext cx="5486400" cy="237744"/>
          </a:xfrm>
          <a:prstGeom prst="rect">
            <a:avLst/>
          </a:prstGeom>
          <a:noFill/>
          <a:ln/>
        </p:spPr>
        <p:txBody>
          <a:bodyPr wrap="square" lIns="0" tIns="0" rIns="0" bIns="0" rtlCol="0" anchor="ctr"/>
          <a:lstStyle/>
          <a:p>
            <a:pPr indent="0" marL="0">
              <a:buNone/>
            </a:pPr>
            <a:r>
              <a:rPr lang="en-US" sz="850" i="1" dirty="0">
                <a:solidFill>
                  <a:srgbClr val="5B6B7C"/>
                </a:solidFill>
                <a:latin typeface="Calibri" pitchFamily="34" charset="0"/>
                <a:ea typeface="Calibri" pitchFamily="34" charset="-122"/>
                <a:cs typeface="Calibri" pitchFamily="34" charset="-120"/>
              </a:rPr>
              <a:t>Các công nghệ Industry 4.0 trong sản phẩm</a:t>
            </a:r>
            <a:endParaRPr lang="en-US" sz="850" dirty="0"/>
          </a:p>
        </p:txBody>
      </p:sp>
      <p:sp>
        <p:nvSpPr>
          <p:cNvPr id="45" name="Text 40"/>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46" name="Text 41"/>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IV. ĐÁNH GIÁ DỰ ÁN — TIÊU CHÍ 2/5</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Feasibility — không phải kế hoạch: MVP đã chạy</a:t>
            </a:r>
            <a:endParaRPr lang="en-US" sz="2600" dirty="0"/>
          </a:p>
        </p:txBody>
      </p:sp>
      <p:sp>
        <p:nvSpPr>
          <p:cNvPr id="4" name="Shape 2"/>
          <p:cNvSpPr/>
          <p:nvPr/>
        </p:nvSpPr>
        <p:spPr>
          <a:xfrm>
            <a:off x="502920" y="1371600"/>
            <a:ext cx="2743200" cy="1353312"/>
          </a:xfrm>
          <a:prstGeom prst="roundRect">
            <a:avLst>
              <a:gd name="adj" fmla="val 4730"/>
            </a:avLst>
          </a:prstGeom>
          <a:solidFill>
            <a:srgbClr val="E9F1FA"/>
          </a:solidFill>
          <a:ln/>
        </p:spPr>
      </p:sp>
      <p:sp>
        <p:nvSpPr>
          <p:cNvPr id="5" name="Shape 3"/>
          <p:cNvSpPr/>
          <p:nvPr/>
        </p:nvSpPr>
        <p:spPr>
          <a:xfrm>
            <a:off x="685800" y="1536192"/>
            <a:ext cx="457200" cy="457200"/>
          </a:xfrm>
          <a:prstGeom prst="ellipse">
            <a:avLst/>
          </a:prstGeom>
          <a:solidFill>
            <a:srgbClr val="1F4E79"/>
          </a:solidFill>
          <a:ln/>
        </p:spPr>
      </p:sp>
      <p:pic>
        <p:nvPicPr>
          <p:cNvPr id="6" name="Image 0" descr="icons/check_w.png">    </p:cNvPr>
          <p:cNvPicPr>
            <a:picLocks noChangeAspect="1"/>
          </p:cNvPicPr>
          <p:nvPr/>
        </p:nvPicPr>
        <p:blipFill>
          <a:blip r:embed="rId1"/>
          <a:stretch>
            <a:fillRect/>
          </a:stretch>
        </p:blipFill>
        <p:spPr>
          <a:xfrm>
            <a:off x="800100" y="1650492"/>
            <a:ext cx="228600" cy="228600"/>
          </a:xfrm>
          <a:prstGeom prst="rect">
            <a:avLst/>
          </a:prstGeom>
        </p:spPr>
      </p:pic>
      <p:sp>
        <p:nvSpPr>
          <p:cNvPr id="7" name="Text 4"/>
          <p:cNvSpPr/>
          <p:nvPr/>
        </p:nvSpPr>
        <p:spPr>
          <a:xfrm>
            <a:off x="1252728" y="1481328"/>
            <a:ext cx="1874520" cy="457200"/>
          </a:xfrm>
          <a:prstGeom prst="rect">
            <a:avLst/>
          </a:prstGeom>
          <a:noFill/>
          <a:ln/>
        </p:spPr>
        <p:txBody>
          <a:bodyPr wrap="square" lIns="0" tIns="0" rIns="0" bIns="0" rtlCol="0" anchor="ctr"/>
          <a:lstStyle/>
          <a:p>
            <a:pPr indent="0" marL="0">
              <a:buNone/>
            </a:pPr>
            <a:r>
              <a:rPr lang="en-US" sz="2100" b="1" dirty="0">
                <a:solidFill>
                  <a:srgbClr val="10243E"/>
                </a:solidFill>
                <a:latin typeface="Cambria" pitchFamily="34" charset="0"/>
                <a:ea typeface="Cambria" pitchFamily="34" charset="-122"/>
                <a:cs typeface="Cambria" pitchFamily="34" charset="-120"/>
              </a:rPr>
              <a:t>97</a:t>
            </a:r>
            <a:endParaRPr lang="en-US" sz="2100" dirty="0"/>
          </a:p>
        </p:txBody>
      </p:sp>
      <p:sp>
        <p:nvSpPr>
          <p:cNvPr id="8" name="Text 5"/>
          <p:cNvSpPr/>
          <p:nvPr/>
        </p:nvSpPr>
        <p:spPr>
          <a:xfrm>
            <a:off x="685800" y="1993392"/>
            <a:ext cx="2377440" cy="685800"/>
          </a:xfrm>
          <a:prstGeom prst="rect">
            <a:avLst/>
          </a:prstGeom>
          <a:noFill/>
          <a:ln/>
        </p:spPr>
        <p:txBody>
          <a:bodyPr wrap="square" lIns="0" tIns="0" rIns="0" bIns="0" rtlCol="0" anchor="t"/>
          <a:lstStyle/>
          <a:p>
            <a:pPr indent="0" marL="0">
              <a:lnSpc>
                <a:spcPct val="102000"/>
              </a:lnSpc>
              <a:buNone/>
            </a:pPr>
            <a:r>
              <a:rPr lang="en-US" sz="900" dirty="0">
                <a:solidFill>
                  <a:srgbClr val="1A2430"/>
                </a:solidFill>
                <a:latin typeface="Calibri" pitchFamily="34" charset="0"/>
                <a:ea typeface="Calibri" pitchFamily="34" charset="-122"/>
                <a:cs typeface="Calibri" pitchFamily="34" charset="-120"/>
              </a:rPr>
              <a:t>test tự động pass — phủ toàn bộ pipeline</a:t>
            </a:r>
            <a:endParaRPr lang="en-US" sz="900" dirty="0"/>
          </a:p>
        </p:txBody>
      </p:sp>
      <p:sp>
        <p:nvSpPr>
          <p:cNvPr id="9" name="Shape 6"/>
          <p:cNvSpPr/>
          <p:nvPr/>
        </p:nvSpPr>
        <p:spPr>
          <a:xfrm>
            <a:off x="3364992" y="1371600"/>
            <a:ext cx="2743200" cy="1353312"/>
          </a:xfrm>
          <a:prstGeom prst="roundRect">
            <a:avLst>
              <a:gd name="adj" fmla="val 4730"/>
            </a:avLst>
          </a:prstGeom>
          <a:solidFill>
            <a:srgbClr val="E9F1FA"/>
          </a:solidFill>
          <a:ln/>
        </p:spPr>
      </p:sp>
      <p:sp>
        <p:nvSpPr>
          <p:cNvPr id="10" name="Shape 7"/>
          <p:cNvSpPr/>
          <p:nvPr/>
        </p:nvSpPr>
        <p:spPr>
          <a:xfrm>
            <a:off x="3547872" y="1536192"/>
            <a:ext cx="457200" cy="457200"/>
          </a:xfrm>
          <a:prstGeom prst="ellipse">
            <a:avLst/>
          </a:prstGeom>
          <a:solidFill>
            <a:srgbClr val="1F4E79"/>
          </a:solidFill>
          <a:ln/>
        </p:spPr>
      </p:sp>
      <p:pic>
        <p:nvPicPr>
          <p:cNvPr id="11" name="Image 1" descr="icons/db_w.png">    </p:cNvPr>
          <p:cNvPicPr>
            <a:picLocks noChangeAspect="1"/>
          </p:cNvPicPr>
          <p:nvPr/>
        </p:nvPicPr>
        <p:blipFill>
          <a:blip r:embed="rId2"/>
          <a:stretch>
            <a:fillRect/>
          </a:stretch>
        </p:blipFill>
        <p:spPr>
          <a:xfrm>
            <a:off x="3662172" y="1650492"/>
            <a:ext cx="228600" cy="228600"/>
          </a:xfrm>
          <a:prstGeom prst="rect">
            <a:avLst/>
          </a:prstGeom>
        </p:spPr>
      </p:pic>
      <p:sp>
        <p:nvSpPr>
          <p:cNvPr id="12" name="Text 8"/>
          <p:cNvSpPr/>
          <p:nvPr/>
        </p:nvSpPr>
        <p:spPr>
          <a:xfrm>
            <a:off x="4114800" y="1481328"/>
            <a:ext cx="1874520" cy="457200"/>
          </a:xfrm>
          <a:prstGeom prst="rect">
            <a:avLst/>
          </a:prstGeom>
          <a:noFill/>
          <a:ln/>
        </p:spPr>
        <p:txBody>
          <a:bodyPr wrap="square" lIns="0" tIns="0" rIns="0" bIns="0" rtlCol="0" anchor="ctr"/>
          <a:lstStyle/>
          <a:p>
            <a:pPr indent="0" marL="0">
              <a:buNone/>
            </a:pPr>
            <a:r>
              <a:rPr lang="en-US" sz="2100" b="1" dirty="0">
                <a:solidFill>
                  <a:srgbClr val="10243E"/>
                </a:solidFill>
                <a:latin typeface="Cambria" pitchFamily="34" charset="0"/>
                <a:ea typeface="Cambria" pitchFamily="34" charset="-122"/>
                <a:cs typeface="Cambria" pitchFamily="34" charset="-120"/>
              </a:rPr>
              <a:t>40+ / 30</a:t>
            </a:r>
            <a:endParaRPr lang="en-US" sz="2100" dirty="0"/>
          </a:p>
        </p:txBody>
      </p:sp>
      <p:sp>
        <p:nvSpPr>
          <p:cNvPr id="13" name="Text 9"/>
          <p:cNvSpPr/>
          <p:nvPr/>
        </p:nvSpPr>
        <p:spPr>
          <a:xfrm>
            <a:off x="3547872" y="1993392"/>
            <a:ext cx="2377440" cy="685800"/>
          </a:xfrm>
          <a:prstGeom prst="rect">
            <a:avLst/>
          </a:prstGeom>
          <a:noFill/>
          <a:ln/>
        </p:spPr>
        <p:txBody>
          <a:bodyPr wrap="square" lIns="0" tIns="0" rIns="0" bIns="0" rtlCol="0" anchor="t"/>
          <a:lstStyle/>
          <a:p>
            <a:pPr indent="0" marL="0">
              <a:lnSpc>
                <a:spcPct val="102000"/>
              </a:lnSpc>
              <a:buNone/>
            </a:pPr>
            <a:r>
              <a:rPr lang="en-US" sz="900" dirty="0">
                <a:solidFill>
                  <a:srgbClr val="1A2430"/>
                </a:solidFill>
                <a:latin typeface="Calibri" pitchFamily="34" charset="0"/>
                <a:ea typeface="Calibri" pitchFamily="34" charset="-122"/>
                <a:cs typeface="Calibri" pitchFamily="34" charset="-120"/>
              </a:rPr>
              <a:t>văn bản NHNN thật · quan hệ sửa đổi thật khai thác từ SBV &amp; VBPL</a:t>
            </a:r>
            <a:endParaRPr lang="en-US" sz="900" dirty="0"/>
          </a:p>
        </p:txBody>
      </p:sp>
      <p:sp>
        <p:nvSpPr>
          <p:cNvPr id="14" name="Shape 10"/>
          <p:cNvSpPr/>
          <p:nvPr/>
        </p:nvSpPr>
        <p:spPr>
          <a:xfrm>
            <a:off x="502920" y="2852928"/>
            <a:ext cx="2743200" cy="1353312"/>
          </a:xfrm>
          <a:prstGeom prst="roundRect">
            <a:avLst>
              <a:gd name="adj" fmla="val 4730"/>
            </a:avLst>
          </a:prstGeom>
          <a:solidFill>
            <a:srgbClr val="E9F1FA"/>
          </a:solidFill>
          <a:ln/>
        </p:spPr>
      </p:sp>
      <p:sp>
        <p:nvSpPr>
          <p:cNvPr id="15" name="Shape 11"/>
          <p:cNvSpPr/>
          <p:nvPr/>
        </p:nvSpPr>
        <p:spPr>
          <a:xfrm>
            <a:off x="685800" y="3017520"/>
            <a:ext cx="457200" cy="457200"/>
          </a:xfrm>
          <a:prstGeom prst="ellipse">
            <a:avLst/>
          </a:prstGeom>
          <a:solidFill>
            <a:srgbClr val="1F4E79"/>
          </a:solidFill>
          <a:ln/>
        </p:spPr>
      </p:sp>
      <p:pic>
        <p:nvPicPr>
          <p:cNvPr id="16" name="Image 2" descr="icons/lock_w.png">    </p:cNvPr>
          <p:cNvPicPr>
            <a:picLocks noChangeAspect="1"/>
          </p:cNvPicPr>
          <p:nvPr/>
        </p:nvPicPr>
        <p:blipFill>
          <a:blip r:embed="rId3"/>
          <a:stretch>
            <a:fillRect/>
          </a:stretch>
        </p:blipFill>
        <p:spPr>
          <a:xfrm>
            <a:off x="800100" y="3131820"/>
            <a:ext cx="228600" cy="228600"/>
          </a:xfrm>
          <a:prstGeom prst="rect">
            <a:avLst/>
          </a:prstGeom>
        </p:spPr>
      </p:pic>
      <p:sp>
        <p:nvSpPr>
          <p:cNvPr id="17" name="Text 12"/>
          <p:cNvSpPr/>
          <p:nvPr/>
        </p:nvSpPr>
        <p:spPr>
          <a:xfrm>
            <a:off x="1252728" y="2962656"/>
            <a:ext cx="1874520" cy="457200"/>
          </a:xfrm>
          <a:prstGeom prst="rect">
            <a:avLst/>
          </a:prstGeom>
          <a:noFill/>
          <a:ln/>
        </p:spPr>
        <p:txBody>
          <a:bodyPr wrap="square" lIns="0" tIns="0" rIns="0" bIns="0" rtlCol="0" anchor="ctr"/>
          <a:lstStyle/>
          <a:p>
            <a:pPr indent="0" marL="0">
              <a:buNone/>
            </a:pPr>
            <a:r>
              <a:rPr lang="en-US" sz="2100" b="1" dirty="0">
                <a:solidFill>
                  <a:srgbClr val="10243E"/>
                </a:solidFill>
                <a:latin typeface="Cambria" pitchFamily="34" charset="0"/>
                <a:ea typeface="Cambria" pitchFamily="34" charset="-122"/>
                <a:cs typeface="Cambria" pitchFamily="34" charset="-120"/>
              </a:rPr>
              <a:t>HTTP 409</a:t>
            </a:r>
            <a:endParaRPr lang="en-US" sz="2100" dirty="0"/>
          </a:p>
        </p:txBody>
      </p:sp>
      <p:sp>
        <p:nvSpPr>
          <p:cNvPr id="18" name="Text 13"/>
          <p:cNvSpPr/>
          <p:nvPr/>
        </p:nvSpPr>
        <p:spPr>
          <a:xfrm>
            <a:off x="685800" y="3474720"/>
            <a:ext cx="2377440" cy="685800"/>
          </a:xfrm>
          <a:prstGeom prst="rect">
            <a:avLst/>
          </a:prstGeom>
          <a:noFill/>
          <a:ln/>
        </p:spPr>
        <p:txBody>
          <a:bodyPr wrap="square" lIns="0" tIns="0" rIns="0" bIns="0" rtlCol="0" anchor="t"/>
          <a:lstStyle/>
          <a:p>
            <a:pPr indent="0" marL="0">
              <a:lnSpc>
                <a:spcPct val="102000"/>
              </a:lnSpc>
              <a:buNone/>
            </a:pPr>
            <a:r>
              <a:rPr lang="en-US" sz="900" dirty="0">
                <a:solidFill>
                  <a:srgbClr val="1A2430"/>
                </a:solidFill>
                <a:latin typeface="Calibri" pitchFamily="34" charset="0"/>
                <a:ea typeface="Calibri" pitchFamily="34" charset="-122"/>
                <a:cs typeface="Calibri" pitchFamily="34" charset="-120"/>
              </a:rPr>
              <a:t>cổng kích hoạt chặn nguồn chưa duyệt — rule ở service layer, demo trực tiếp</a:t>
            </a:r>
            <a:endParaRPr lang="en-US" sz="900" dirty="0"/>
          </a:p>
        </p:txBody>
      </p:sp>
      <p:sp>
        <p:nvSpPr>
          <p:cNvPr id="19" name="Shape 14"/>
          <p:cNvSpPr/>
          <p:nvPr/>
        </p:nvSpPr>
        <p:spPr>
          <a:xfrm>
            <a:off x="3364992" y="2852928"/>
            <a:ext cx="2743200" cy="1353312"/>
          </a:xfrm>
          <a:prstGeom prst="roundRect">
            <a:avLst>
              <a:gd name="adj" fmla="val 4730"/>
            </a:avLst>
          </a:prstGeom>
          <a:solidFill>
            <a:srgbClr val="E9F1FA"/>
          </a:solidFill>
          <a:ln/>
        </p:spPr>
      </p:sp>
      <p:sp>
        <p:nvSpPr>
          <p:cNvPr id="20" name="Shape 15"/>
          <p:cNvSpPr/>
          <p:nvPr/>
        </p:nvSpPr>
        <p:spPr>
          <a:xfrm>
            <a:off x="3547872" y="3017520"/>
            <a:ext cx="457200" cy="457200"/>
          </a:xfrm>
          <a:prstGeom prst="ellipse">
            <a:avLst/>
          </a:prstGeom>
          <a:solidFill>
            <a:srgbClr val="1F4E79"/>
          </a:solidFill>
          <a:ln/>
        </p:spPr>
      </p:sp>
      <p:pic>
        <p:nvPicPr>
          <p:cNvPr id="21" name="Image 3" descr="icons/rocket_w.png">    </p:cNvPr>
          <p:cNvPicPr>
            <a:picLocks noChangeAspect="1"/>
          </p:cNvPicPr>
          <p:nvPr/>
        </p:nvPicPr>
        <p:blipFill>
          <a:blip r:embed="rId4"/>
          <a:stretch>
            <a:fillRect/>
          </a:stretch>
        </p:blipFill>
        <p:spPr>
          <a:xfrm>
            <a:off x="3662172" y="3131820"/>
            <a:ext cx="228600" cy="228600"/>
          </a:xfrm>
          <a:prstGeom prst="rect">
            <a:avLst/>
          </a:prstGeom>
        </p:spPr>
      </p:pic>
      <p:sp>
        <p:nvSpPr>
          <p:cNvPr id="22" name="Text 16"/>
          <p:cNvSpPr/>
          <p:nvPr/>
        </p:nvSpPr>
        <p:spPr>
          <a:xfrm>
            <a:off x="4114800" y="2962656"/>
            <a:ext cx="1874520" cy="457200"/>
          </a:xfrm>
          <a:prstGeom prst="rect">
            <a:avLst/>
          </a:prstGeom>
          <a:noFill/>
          <a:ln/>
        </p:spPr>
        <p:txBody>
          <a:bodyPr wrap="square" lIns="0" tIns="0" rIns="0" bIns="0" rtlCol="0" anchor="ctr"/>
          <a:lstStyle/>
          <a:p>
            <a:pPr indent="0" marL="0">
              <a:buNone/>
            </a:pPr>
            <a:r>
              <a:rPr lang="en-US" sz="2100" b="1" dirty="0">
                <a:solidFill>
                  <a:srgbClr val="10243E"/>
                </a:solidFill>
                <a:latin typeface="Cambria" pitchFamily="34" charset="0"/>
                <a:ea typeface="Cambria" pitchFamily="34" charset="-122"/>
                <a:cs typeface="Cambria" pitchFamily="34" charset="-120"/>
              </a:rPr>
              <a:t>Offline</a:t>
            </a:r>
            <a:endParaRPr lang="en-US" sz="2100" dirty="0"/>
          </a:p>
        </p:txBody>
      </p:sp>
      <p:sp>
        <p:nvSpPr>
          <p:cNvPr id="23" name="Text 17"/>
          <p:cNvSpPr/>
          <p:nvPr/>
        </p:nvSpPr>
        <p:spPr>
          <a:xfrm>
            <a:off x="3547872" y="3474720"/>
            <a:ext cx="2377440" cy="685800"/>
          </a:xfrm>
          <a:prstGeom prst="rect">
            <a:avLst/>
          </a:prstGeom>
          <a:noFill/>
          <a:ln/>
        </p:spPr>
        <p:txBody>
          <a:bodyPr wrap="square" lIns="0" tIns="0" rIns="0" bIns="0" rtlCol="0" anchor="t"/>
          <a:lstStyle/>
          <a:p>
            <a:pPr indent="0" marL="0">
              <a:lnSpc>
                <a:spcPct val="102000"/>
              </a:lnSpc>
              <a:buNone/>
            </a:pPr>
            <a:r>
              <a:rPr lang="en-US" sz="900" dirty="0">
                <a:solidFill>
                  <a:srgbClr val="1A2430"/>
                </a:solidFill>
                <a:latin typeface="Calibri" pitchFamily="34" charset="0"/>
                <a:ea typeface="Calibri" pitchFamily="34" charset="-122"/>
                <a:cs typeface="Calibri" pitchFamily="34" charset="-120"/>
              </a:rPr>
              <a:t>demo đầy đủ không cần Docker, không API key — kèm bản deploy 4-store</a:t>
            </a:r>
            <a:endParaRPr lang="en-US" sz="900" dirty="0"/>
          </a:p>
        </p:txBody>
      </p:sp>
      <p:sp>
        <p:nvSpPr>
          <p:cNvPr id="24" name="Shape 18"/>
          <p:cNvSpPr/>
          <p:nvPr/>
        </p:nvSpPr>
        <p:spPr>
          <a:xfrm>
            <a:off x="6949440" y="1600200"/>
            <a:ext cx="2103120" cy="2103120"/>
          </a:xfrm>
          <a:prstGeom prst="ellipse">
            <a:avLst/>
          </a:prstGeom>
          <a:solidFill>
            <a:srgbClr val="1F4E79">
              <a:alpha val="45000"/>
            </a:srgbClr>
          </a:solidFill>
          <a:ln/>
        </p:spPr>
      </p:sp>
      <p:sp>
        <p:nvSpPr>
          <p:cNvPr id="25" name="Shape 19"/>
          <p:cNvSpPr/>
          <p:nvPr/>
        </p:nvSpPr>
        <p:spPr>
          <a:xfrm>
            <a:off x="8366760" y="1600200"/>
            <a:ext cx="2103120" cy="2103120"/>
          </a:xfrm>
          <a:prstGeom prst="ellipse">
            <a:avLst/>
          </a:prstGeom>
          <a:solidFill>
            <a:srgbClr val="5B6B7C">
              <a:alpha val="40000"/>
            </a:srgbClr>
          </a:solidFill>
          <a:ln/>
        </p:spPr>
      </p:sp>
      <p:sp>
        <p:nvSpPr>
          <p:cNvPr id="26" name="Shape 20"/>
          <p:cNvSpPr/>
          <p:nvPr/>
        </p:nvSpPr>
        <p:spPr>
          <a:xfrm>
            <a:off x="7662672" y="2651760"/>
            <a:ext cx="2103120" cy="2103120"/>
          </a:xfrm>
          <a:prstGeom prst="ellipse">
            <a:avLst/>
          </a:prstGeom>
          <a:solidFill>
            <a:srgbClr val="C9A227">
              <a:alpha val="55000"/>
            </a:srgbClr>
          </a:solidFill>
          <a:ln/>
        </p:spPr>
      </p:sp>
      <p:sp>
        <p:nvSpPr>
          <p:cNvPr id="27" name="Text 21"/>
          <p:cNvSpPr/>
          <p:nvPr/>
        </p:nvSpPr>
        <p:spPr>
          <a:xfrm>
            <a:off x="6766560" y="2057400"/>
            <a:ext cx="1737360" cy="594360"/>
          </a:xfrm>
          <a:prstGeom prst="rect">
            <a:avLst/>
          </a:prstGeom>
          <a:noFill/>
          <a:ln/>
        </p:spPr>
        <p:txBody>
          <a:bodyPr wrap="square" lIns="0" tIns="0" rIns="0" bIns="0" rtlCol="0" anchor="ctr"/>
          <a:lstStyle/>
          <a:p>
            <a:pPr algn="ctr" indent="0" marL="0">
              <a:buNone/>
            </a:pPr>
            <a:r>
              <a:rPr lang="en-US" sz="860" b="1" dirty="0">
                <a:solidFill>
                  <a:srgbClr val="10243E"/>
                </a:solidFill>
                <a:latin typeface="Calibri" pitchFamily="34" charset="0"/>
                <a:ea typeface="Calibri" pitchFamily="34" charset="-122"/>
                <a:cs typeface="Calibri" pitchFamily="34" charset="-120"/>
              </a:rPr>
              <a:t>Ta làm tốt</a:t>
            </a:r>
            <a:endParaRPr lang="en-US" sz="860" dirty="0"/>
          </a:p>
          <a:p>
            <a:pPr algn="ctr" indent="0" marL="0">
              <a:buNone/>
            </a:pPr>
            <a:r>
              <a:rPr lang="en-US" sz="860" b="1" dirty="0">
                <a:solidFill>
                  <a:srgbClr val="10243E"/>
                </a:solidFill>
                <a:latin typeface="Calibri" pitchFamily="34" charset="0"/>
                <a:ea typeface="Calibri" pitchFamily="34" charset="-122"/>
                <a:cs typeface="Calibri" pitchFamily="34" charset="-120"/>
              </a:rPr>
              <a:t>duy nhất</a:t>
            </a:r>
            <a:endParaRPr lang="en-US" sz="860" dirty="0"/>
          </a:p>
        </p:txBody>
      </p:sp>
      <p:sp>
        <p:nvSpPr>
          <p:cNvPr id="28" name="Text 22"/>
          <p:cNvSpPr/>
          <p:nvPr/>
        </p:nvSpPr>
        <p:spPr>
          <a:xfrm>
            <a:off x="8961120" y="2057400"/>
            <a:ext cx="1737360" cy="594360"/>
          </a:xfrm>
          <a:prstGeom prst="rect">
            <a:avLst/>
          </a:prstGeom>
          <a:noFill/>
          <a:ln/>
        </p:spPr>
        <p:txBody>
          <a:bodyPr wrap="square" lIns="0" tIns="0" rIns="0" bIns="0" rtlCol="0" anchor="ctr"/>
          <a:lstStyle/>
          <a:p>
            <a:pPr algn="ctr" indent="0" marL="0">
              <a:buNone/>
            </a:pPr>
            <a:r>
              <a:rPr lang="en-US" sz="860" b="1" dirty="0">
                <a:solidFill>
                  <a:srgbClr val="10243E"/>
                </a:solidFill>
                <a:latin typeface="Calibri" pitchFamily="34" charset="0"/>
                <a:ea typeface="Calibri" pitchFamily="34" charset="-122"/>
                <a:cs typeface="Calibri" pitchFamily="34" charset="-120"/>
              </a:rPr>
              <a:t>Đối thủ</a:t>
            </a:r>
            <a:endParaRPr lang="en-US" sz="860" dirty="0"/>
          </a:p>
          <a:p>
            <a:pPr algn="ctr" indent="0" marL="0">
              <a:buNone/>
            </a:pPr>
            <a:r>
              <a:rPr lang="en-US" sz="860" b="1" dirty="0">
                <a:solidFill>
                  <a:srgbClr val="10243E"/>
                </a:solidFill>
                <a:latin typeface="Calibri" pitchFamily="34" charset="0"/>
                <a:ea typeface="Calibri" pitchFamily="34" charset="-122"/>
                <a:cs typeface="Calibri" pitchFamily="34" charset="-120"/>
              </a:rPr>
              <a:t>làm tốt</a:t>
            </a:r>
            <a:endParaRPr lang="en-US" sz="860" dirty="0"/>
          </a:p>
        </p:txBody>
      </p:sp>
      <p:sp>
        <p:nvSpPr>
          <p:cNvPr id="29" name="Text 23"/>
          <p:cNvSpPr/>
          <p:nvPr/>
        </p:nvSpPr>
        <p:spPr>
          <a:xfrm>
            <a:off x="7772400" y="4206240"/>
            <a:ext cx="1920240" cy="320040"/>
          </a:xfrm>
          <a:prstGeom prst="rect">
            <a:avLst/>
          </a:prstGeom>
          <a:noFill/>
          <a:ln/>
        </p:spPr>
        <p:txBody>
          <a:bodyPr wrap="square" lIns="0" tIns="0" rIns="0" bIns="0" rtlCol="0" anchor="ctr"/>
          <a:lstStyle/>
          <a:p>
            <a:pPr algn="ctr" indent="0" marL="0">
              <a:buNone/>
            </a:pPr>
            <a:r>
              <a:rPr lang="en-US" sz="860" b="1" dirty="0">
                <a:solidFill>
                  <a:srgbClr val="10243E"/>
                </a:solidFill>
                <a:latin typeface="Calibri" pitchFamily="34" charset="0"/>
                <a:ea typeface="Calibri" pitchFamily="34" charset="-122"/>
                <a:cs typeface="Calibri" pitchFamily="34" charset="-120"/>
              </a:rPr>
              <a:t>Khách hàng cần</a:t>
            </a:r>
            <a:endParaRPr lang="en-US" sz="860" dirty="0"/>
          </a:p>
        </p:txBody>
      </p:sp>
      <p:sp>
        <p:nvSpPr>
          <p:cNvPr id="30" name="Shape 24"/>
          <p:cNvSpPr/>
          <p:nvPr/>
        </p:nvSpPr>
        <p:spPr>
          <a:xfrm>
            <a:off x="7607808" y="2807208"/>
            <a:ext cx="777240" cy="777240"/>
          </a:xfrm>
          <a:prstGeom prst="ellipse">
            <a:avLst/>
          </a:prstGeom>
          <a:solidFill>
            <a:srgbClr val="10243E"/>
          </a:solidFill>
          <a:ln/>
        </p:spPr>
      </p:sp>
      <p:sp>
        <p:nvSpPr>
          <p:cNvPr id="31" name="Text 25"/>
          <p:cNvSpPr/>
          <p:nvPr/>
        </p:nvSpPr>
        <p:spPr>
          <a:xfrm>
            <a:off x="7607808" y="2807208"/>
            <a:ext cx="777240" cy="777240"/>
          </a:xfrm>
          <a:prstGeom prst="rect">
            <a:avLst/>
          </a:prstGeom>
          <a:noFill/>
          <a:ln/>
        </p:spPr>
        <p:txBody>
          <a:bodyPr wrap="square" lIns="0" tIns="0" rIns="0" bIns="0" rtlCol="0" anchor="ctr"/>
          <a:lstStyle/>
          <a:p>
            <a:pPr algn="ctr" indent="0" marL="0">
              <a:buNone/>
            </a:pPr>
            <a:r>
              <a:rPr lang="en-US" sz="1300" b="1" dirty="0">
                <a:solidFill>
                  <a:srgbClr val="C9A227"/>
                </a:solidFill>
                <a:latin typeface="Cambria" pitchFamily="34" charset="0"/>
                <a:ea typeface="Cambria" pitchFamily="34" charset="-122"/>
                <a:cs typeface="Cambria" pitchFamily="34" charset="-120"/>
              </a:rPr>
              <a:t>USP</a:t>
            </a:r>
            <a:endParaRPr lang="en-US" sz="1300" dirty="0"/>
          </a:p>
        </p:txBody>
      </p:sp>
      <p:sp>
        <p:nvSpPr>
          <p:cNvPr id="32" name="Shape 26"/>
          <p:cNvSpPr/>
          <p:nvPr/>
        </p:nvSpPr>
        <p:spPr>
          <a:xfrm>
            <a:off x="6172200" y="4892040"/>
            <a:ext cx="5513832" cy="1417320"/>
          </a:xfrm>
          <a:prstGeom prst="roundRect">
            <a:avLst>
              <a:gd name="adj" fmla="val 4516"/>
            </a:avLst>
          </a:prstGeom>
          <a:solidFill>
            <a:srgbClr val="F7EFD8"/>
          </a:solidFill>
          <a:ln/>
        </p:spPr>
      </p:sp>
      <p:sp>
        <p:nvSpPr>
          <p:cNvPr id="33" name="Text 27"/>
          <p:cNvSpPr/>
          <p:nvPr/>
        </p:nvSpPr>
        <p:spPr>
          <a:xfrm>
            <a:off x="6446520" y="5047488"/>
            <a:ext cx="4937760" cy="256032"/>
          </a:xfrm>
          <a:prstGeom prst="rect">
            <a:avLst/>
          </a:prstGeom>
          <a:noFill/>
          <a:ln/>
        </p:spPr>
        <p:txBody>
          <a:bodyPr wrap="square" lIns="0" tIns="0" rIns="0" bIns="0" rtlCol="0" anchor="ctr"/>
          <a:lstStyle/>
          <a:p>
            <a:pPr indent="0" marL="0">
              <a:buNone/>
            </a:pPr>
            <a:r>
              <a:rPr lang="en-US" sz="950" b="1" spc="150" kern="0" dirty="0">
                <a:solidFill>
                  <a:srgbClr val="9A7A14"/>
                </a:solidFill>
                <a:latin typeface="Calibri" pitchFamily="34" charset="0"/>
                <a:ea typeface="Calibri" pitchFamily="34" charset="-122"/>
                <a:cs typeface="Calibri" pitchFamily="34" charset="-120"/>
              </a:rPr>
              <a:t>UNIQUE SELLING PROPOSITION</a:t>
            </a:r>
            <a:endParaRPr lang="en-US" sz="950" dirty="0"/>
          </a:p>
        </p:txBody>
      </p:sp>
      <p:sp>
        <p:nvSpPr>
          <p:cNvPr id="34" name="Text 28"/>
          <p:cNvSpPr/>
          <p:nvPr/>
        </p:nvSpPr>
        <p:spPr>
          <a:xfrm>
            <a:off x="6446520" y="5321808"/>
            <a:ext cx="4937760" cy="868680"/>
          </a:xfrm>
          <a:prstGeom prst="rect">
            <a:avLst/>
          </a:prstGeom>
          <a:noFill/>
          <a:ln/>
        </p:spPr>
        <p:txBody>
          <a:bodyPr wrap="square" lIns="0" tIns="0" rIns="0" bIns="0" rtlCol="0" anchor="t"/>
          <a:lstStyle/>
          <a:p>
            <a:pPr indent="0" marL="0">
              <a:lnSpc>
                <a:spcPct val="110000"/>
              </a:lnSpc>
              <a:buNone/>
            </a:pPr>
            <a:r>
              <a:rPr lang="en-US" sz="1250" b="1" i="1" dirty="0">
                <a:solidFill>
                  <a:srgbClr val="10243E"/>
                </a:solidFill>
                <a:latin typeface="Cambria" pitchFamily="34" charset="0"/>
                <a:ea typeface="Cambria" pitchFamily="34" charset="-122"/>
                <a:cs typeface="Cambria" pitchFamily="34" charset="-120"/>
              </a:rPr>
              <a:t>“Mọi câu trả lời đều đúng thời điểm và kiểm toán được — AI đề xuất, cán bộ Tuân thủ quyết định.”</a:t>
            </a:r>
            <a:endParaRPr lang="en-US" sz="1250" dirty="0"/>
          </a:p>
        </p:txBody>
      </p:sp>
      <p:sp>
        <p:nvSpPr>
          <p:cNvPr id="35" name="Shape 29"/>
          <p:cNvSpPr/>
          <p:nvPr/>
        </p:nvSpPr>
        <p:spPr>
          <a:xfrm>
            <a:off x="502920" y="4434840"/>
            <a:ext cx="5742432" cy="1874520"/>
          </a:xfrm>
          <a:prstGeom prst="roundRect">
            <a:avLst>
              <a:gd name="adj" fmla="val 3415"/>
            </a:avLst>
          </a:prstGeom>
          <a:solidFill>
            <a:srgbClr val="10243E"/>
          </a:solidFill>
          <a:ln/>
        </p:spPr>
      </p:sp>
      <p:sp>
        <p:nvSpPr>
          <p:cNvPr id="36" name="Text 30"/>
          <p:cNvSpPr/>
          <p:nvPr/>
        </p:nvSpPr>
        <p:spPr>
          <a:xfrm>
            <a:off x="777240" y="4590288"/>
            <a:ext cx="5120640" cy="256032"/>
          </a:xfrm>
          <a:prstGeom prst="rect">
            <a:avLst/>
          </a:prstGeom>
          <a:noFill/>
          <a:ln/>
        </p:spPr>
        <p:txBody>
          <a:bodyPr wrap="square" lIns="0" tIns="0" rIns="0" bIns="0" rtlCol="0" anchor="ctr"/>
          <a:lstStyle/>
          <a:p>
            <a:pPr indent="0" marL="0">
              <a:buNone/>
            </a:pPr>
            <a:r>
              <a:rPr lang="en-US" sz="950" b="1" spc="150" kern="0" dirty="0">
                <a:solidFill>
                  <a:srgbClr val="C9A227"/>
                </a:solidFill>
                <a:latin typeface="Calibri" pitchFamily="34" charset="0"/>
                <a:ea typeface="Calibri" pitchFamily="34" charset="-122"/>
                <a:cs typeface="Calibri" pitchFamily="34" charset="-120"/>
              </a:rPr>
              <a:t>VÌ SAO TA THẮNG VÙNG GIAO NHAU</a:t>
            </a:r>
            <a:endParaRPr lang="en-US" sz="950" dirty="0"/>
          </a:p>
        </p:txBody>
      </p:sp>
      <p:sp>
        <p:nvSpPr>
          <p:cNvPr id="37" name="Text 31"/>
          <p:cNvSpPr/>
          <p:nvPr/>
        </p:nvSpPr>
        <p:spPr>
          <a:xfrm>
            <a:off x="777240" y="4901184"/>
            <a:ext cx="5212080" cy="1325880"/>
          </a:xfrm>
          <a:prstGeom prst="rect">
            <a:avLst/>
          </a:prstGeom>
          <a:noFill/>
          <a:ln/>
        </p:spPr>
        <p:txBody>
          <a:bodyPr wrap="square" lIns="0" tIns="0" rIns="0" bIns="0" rtlCol="0" anchor="t"/>
          <a:lstStyle/>
          <a:p>
            <a:pPr marL="101600" indent="-101600">
              <a:lnSpc>
                <a:spcPct val="104000"/>
              </a:lnSpc>
              <a:spcAft>
                <a:spcPts val="500"/>
              </a:spcAft>
              <a:buSzPct val="100000"/>
              <a:buChar char="•"/>
            </a:pPr>
            <a:r>
              <a:rPr lang="en-US" sz="980" dirty="0">
                <a:solidFill>
                  <a:srgbClr val="D9E6F5"/>
                </a:solidFill>
                <a:latin typeface="Calibri" pitchFamily="34" charset="0"/>
                <a:ea typeface="Calibri" pitchFamily="34" charset="-122"/>
                <a:cs typeface="Calibri" pitchFamily="34" charset="-120"/>
              </a:rPr>
              <a:t>Khách hàng cần: câu trả lời đáng tin, đúng phiên bản, kiểm toán được</a:t>
            </a:r>
            <a:endParaRPr lang="en-US" sz="980" dirty="0"/>
          </a:p>
          <a:p>
            <a:pPr marL="101600" indent="-101600">
              <a:lnSpc>
                <a:spcPct val="104000"/>
              </a:lnSpc>
              <a:spcAft>
                <a:spcPts val="500"/>
              </a:spcAft>
              <a:buSzPct val="100000"/>
              <a:buChar char="•"/>
            </a:pPr>
            <a:r>
              <a:rPr lang="en-US" sz="980" dirty="0">
                <a:solidFill>
                  <a:srgbClr val="D9E6F5"/>
                </a:solidFill>
                <a:latin typeface="Calibri" pitchFamily="34" charset="0"/>
                <a:ea typeface="Calibri" pitchFamily="34" charset="-122"/>
                <a:cs typeface="Calibri" pitchFamily="34" charset="-120"/>
              </a:rPr>
              <a:t>Ta duy nhất có: engine thời gian tất định + vết bằng chứng + human-in-the-loop</a:t>
            </a:r>
            <a:endParaRPr lang="en-US" sz="980" dirty="0"/>
          </a:p>
          <a:p>
            <a:pPr marL="101600" indent="-101600">
              <a:lnSpc>
                <a:spcPct val="104000"/>
              </a:lnSpc>
              <a:spcAft>
                <a:spcPts val="500"/>
              </a:spcAft>
              <a:buSzPct val="100000"/>
              <a:buChar char="•"/>
            </a:pPr>
            <a:r>
              <a:rPr lang="en-US" sz="980" dirty="0">
                <a:solidFill>
                  <a:srgbClr val="D9E6F5"/>
                </a:solidFill>
                <a:latin typeface="Calibri" pitchFamily="34" charset="0"/>
                <a:ea typeface="Calibri" pitchFamily="34" charset="-122"/>
                <a:cs typeface="Calibri" pitchFamily="34" charset="-120"/>
              </a:rPr>
              <a:t>Đối thủ: CSDL luật phủ rộng nhưng không tự động; AI thường trôi chảy nhưng không đáng tin</a:t>
            </a:r>
            <a:endParaRPr lang="en-US" sz="980" dirty="0"/>
          </a:p>
        </p:txBody>
      </p:sp>
      <p:sp>
        <p:nvSpPr>
          <p:cNvPr id="38" name="Text 32"/>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39" name="Text 33"/>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IV. ĐÁNH GIÁ DỰ ÁN — TIÊU CHÍ 2/5 (NGUỒN LỰC)</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Feasibility — nguồn lực: Business Model Canvas</a:t>
            </a:r>
            <a:endParaRPr lang="en-US" sz="2600" dirty="0"/>
          </a:p>
        </p:txBody>
      </p:sp>
      <p:sp>
        <p:nvSpPr>
          <p:cNvPr id="4" name="Shape 2"/>
          <p:cNvSpPr/>
          <p:nvPr/>
        </p:nvSpPr>
        <p:spPr>
          <a:xfrm>
            <a:off x="502920" y="1298448"/>
            <a:ext cx="2157984" cy="3611880"/>
          </a:xfrm>
          <a:prstGeom prst="roundRect">
            <a:avLst>
              <a:gd name="adj" fmla="val 2966"/>
            </a:avLst>
          </a:prstGeom>
          <a:solidFill>
            <a:srgbClr val="E9F1FA"/>
          </a:solidFill>
          <a:ln/>
        </p:spPr>
      </p:sp>
      <p:sp>
        <p:nvSpPr>
          <p:cNvPr id="5" name="Text 3"/>
          <p:cNvSpPr/>
          <p:nvPr/>
        </p:nvSpPr>
        <p:spPr>
          <a:xfrm>
            <a:off x="630936" y="1371600"/>
            <a:ext cx="1901952"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ĐỐI TÁC CHÍNH</a:t>
            </a:r>
            <a:endParaRPr lang="en-US" sz="950" dirty="0"/>
          </a:p>
        </p:txBody>
      </p:sp>
      <p:sp>
        <p:nvSpPr>
          <p:cNvPr id="6" name="Text 4"/>
          <p:cNvSpPr/>
          <p:nvPr/>
        </p:nvSpPr>
        <p:spPr>
          <a:xfrm>
            <a:off x="630936" y="1664208"/>
            <a:ext cx="1901952" cy="315468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Dữ liệu pháp lý mở SBV / VBPL</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SHB — design partner &amp; pilot</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Nhà cung cấp LLM (Anthropic / OpenRouter — thay được)</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Hạ tầng on-prem &amp; cloud</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Mentor trường, mạng lưới VNBA</a:t>
            </a:r>
            <a:endParaRPr lang="en-US" sz="830" dirty="0"/>
          </a:p>
        </p:txBody>
      </p:sp>
      <p:sp>
        <p:nvSpPr>
          <p:cNvPr id="7" name="Shape 5"/>
          <p:cNvSpPr/>
          <p:nvPr/>
        </p:nvSpPr>
        <p:spPr>
          <a:xfrm>
            <a:off x="2770632" y="1298448"/>
            <a:ext cx="2157984" cy="1737360"/>
          </a:xfrm>
          <a:prstGeom prst="roundRect">
            <a:avLst>
              <a:gd name="adj" fmla="val 3684"/>
            </a:avLst>
          </a:prstGeom>
          <a:solidFill>
            <a:srgbClr val="E9F1FA"/>
          </a:solidFill>
          <a:ln/>
        </p:spPr>
      </p:sp>
      <p:sp>
        <p:nvSpPr>
          <p:cNvPr id="8" name="Text 6"/>
          <p:cNvSpPr/>
          <p:nvPr/>
        </p:nvSpPr>
        <p:spPr>
          <a:xfrm>
            <a:off x="2898648" y="1371600"/>
            <a:ext cx="1901952"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HOẠT ĐỘNG CHÍNH</a:t>
            </a:r>
            <a:endParaRPr lang="en-US" sz="950" dirty="0"/>
          </a:p>
        </p:txBody>
      </p:sp>
      <p:sp>
        <p:nvSpPr>
          <p:cNvPr id="9" name="Text 7"/>
          <p:cNvSpPr/>
          <p:nvPr/>
        </p:nvSpPr>
        <p:spPr>
          <a:xfrm>
            <a:off x="2898648" y="1664208"/>
            <a:ext cx="1901952" cy="128016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Onboard corpus golden domain</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Bảo trì parser &amp; chuẩn hóa VN</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Gia cố bảo mật, chạy eval</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Đồng hành đội tuân thủ</a:t>
            </a:r>
            <a:endParaRPr lang="en-US" sz="830" dirty="0"/>
          </a:p>
        </p:txBody>
      </p:sp>
      <p:sp>
        <p:nvSpPr>
          <p:cNvPr id="10" name="Shape 8"/>
          <p:cNvSpPr/>
          <p:nvPr/>
        </p:nvSpPr>
        <p:spPr>
          <a:xfrm>
            <a:off x="2770632" y="3172968"/>
            <a:ext cx="2157984" cy="1737360"/>
          </a:xfrm>
          <a:prstGeom prst="roundRect">
            <a:avLst>
              <a:gd name="adj" fmla="val 3684"/>
            </a:avLst>
          </a:prstGeom>
          <a:solidFill>
            <a:srgbClr val="E9F1FA"/>
          </a:solidFill>
          <a:ln/>
        </p:spPr>
      </p:sp>
      <p:sp>
        <p:nvSpPr>
          <p:cNvPr id="11" name="Text 9"/>
          <p:cNvSpPr/>
          <p:nvPr/>
        </p:nvSpPr>
        <p:spPr>
          <a:xfrm>
            <a:off x="2898648" y="3246120"/>
            <a:ext cx="1901952"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NGUỒN LỰC CHÍNH</a:t>
            </a:r>
            <a:endParaRPr lang="en-US" sz="950" dirty="0"/>
          </a:p>
        </p:txBody>
      </p:sp>
      <p:sp>
        <p:nvSpPr>
          <p:cNvPr id="12" name="Text 10"/>
          <p:cNvSpPr/>
          <p:nvPr/>
        </p:nvSpPr>
        <p:spPr>
          <a:xfrm>
            <a:off x="2898648" y="3538728"/>
            <a:ext cx="1901952" cy="128016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Engine đồ thị thời gian + patch tất định (moat)</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Bộ eval + câu hỏi vàng</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Crawler SBV · lưới 97 test</a:t>
            </a:r>
            <a:endParaRPr lang="en-US" sz="830" dirty="0"/>
          </a:p>
        </p:txBody>
      </p:sp>
      <p:sp>
        <p:nvSpPr>
          <p:cNvPr id="13" name="Shape 11"/>
          <p:cNvSpPr/>
          <p:nvPr/>
        </p:nvSpPr>
        <p:spPr>
          <a:xfrm>
            <a:off x="5038344" y="1298448"/>
            <a:ext cx="2157984" cy="3611880"/>
          </a:xfrm>
          <a:prstGeom prst="roundRect">
            <a:avLst>
              <a:gd name="adj" fmla="val 2966"/>
            </a:avLst>
          </a:prstGeom>
          <a:solidFill>
            <a:srgbClr val="F7EFD8"/>
          </a:solidFill>
          <a:ln/>
        </p:spPr>
      </p:sp>
      <p:sp>
        <p:nvSpPr>
          <p:cNvPr id="14" name="Text 12"/>
          <p:cNvSpPr/>
          <p:nvPr/>
        </p:nvSpPr>
        <p:spPr>
          <a:xfrm>
            <a:off x="5166360" y="1371600"/>
            <a:ext cx="1901952" cy="256032"/>
          </a:xfrm>
          <a:prstGeom prst="rect">
            <a:avLst/>
          </a:prstGeom>
          <a:noFill/>
          <a:ln/>
        </p:spPr>
        <p:txBody>
          <a:bodyPr wrap="square" lIns="0" tIns="0" rIns="0" bIns="0" rtlCol="0" anchor="ctr"/>
          <a:lstStyle/>
          <a:p>
            <a:pPr indent="0" marL="0">
              <a:buNone/>
            </a:pPr>
            <a:r>
              <a:rPr lang="en-US" sz="950" b="1" dirty="0">
                <a:solidFill>
                  <a:srgbClr val="9A7A14"/>
                </a:solidFill>
                <a:latin typeface="Calibri" pitchFamily="34" charset="0"/>
                <a:ea typeface="Calibri" pitchFamily="34" charset="-122"/>
                <a:cs typeface="Calibri" pitchFamily="34" charset="-120"/>
              </a:rPr>
              <a:t>GIÁ TRỊ CỐT LÕI</a:t>
            </a:r>
            <a:endParaRPr lang="en-US" sz="950" dirty="0"/>
          </a:p>
        </p:txBody>
      </p:sp>
      <p:sp>
        <p:nvSpPr>
          <p:cNvPr id="15" name="Text 13"/>
          <p:cNvSpPr/>
          <p:nvPr/>
        </p:nvSpPr>
        <p:spPr>
          <a:xfrm>
            <a:off x="5166360" y="1664208"/>
            <a:ext cx="1901952" cy="315468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Câu trả lời tuân thủ đúng thời điểm, kiểm toán được</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Báo cáo tác động tự động khi quy định thay đổi</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Kiểm tra tuân thủ theo claim cho tài liệu nội bộ</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Tiết kiệm 2–3 giờ/ngày mỗi cán bộ</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Vết bằng chứng sẵn sàng cho thanh tra</a:t>
            </a:r>
            <a:endParaRPr lang="en-US" sz="830" dirty="0"/>
          </a:p>
        </p:txBody>
      </p:sp>
      <p:sp>
        <p:nvSpPr>
          <p:cNvPr id="16" name="Shape 14"/>
          <p:cNvSpPr/>
          <p:nvPr/>
        </p:nvSpPr>
        <p:spPr>
          <a:xfrm>
            <a:off x="7306056" y="1298448"/>
            <a:ext cx="2157984" cy="1737360"/>
          </a:xfrm>
          <a:prstGeom prst="roundRect">
            <a:avLst>
              <a:gd name="adj" fmla="val 3684"/>
            </a:avLst>
          </a:prstGeom>
          <a:solidFill>
            <a:srgbClr val="E9F1FA"/>
          </a:solidFill>
          <a:ln/>
        </p:spPr>
      </p:sp>
      <p:sp>
        <p:nvSpPr>
          <p:cNvPr id="17" name="Text 15"/>
          <p:cNvSpPr/>
          <p:nvPr/>
        </p:nvSpPr>
        <p:spPr>
          <a:xfrm>
            <a:off x="7434072" y="1371600"/>
            <a:ext cx="1901952"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QUAN HỆ KHÁCH HÀNG</a:t>
            </a:r>
            <a:endParaRPr lang="en-US" sz="950" dirty="0"/>
          </a:p>
        </p:txBody>
      </p:sp>
      <p:sp>
        <p:nvSpPr>
          <p:cNvPr id="18" name="Text 16"/>
          <p:cNvSpPr/>
          <p:nvPr/>
        </p:nvSpPr>
        <p:spPr>
          <a:xfrm>
            <a:off x="7434072" y="1664208"/>
            <a:ext cx="1901952" cy="128016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Pilot: 1 golden domain (~6 tuần)</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License năm + hỗ trợ SLA</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Mở rộng domain &amp; phòng ban</a:t>
            </a:r>
            <a:endParaRPr lang="en-US" sz="830" dirty="0"/>
          </a:p>
        </p:txBody>
      </p:sp>
      <p:sp>
        <p:nvSpPr>
          <p:cNvPr id="19" name="Shape 17"/>
          <p:cNvSpPr/>
          <p:nvPr/>
        </p:nvSpPr>
        <p:spPr>
          <a:xfrm>
            <a:off x="7306056" y="3172968"/>
            <a:ext cx="2157984" cy="1737360"/>
          </a:xfrm>
          <a:prstGeom prst="roundRect">
            <a:avLst>
              <a:gd name="adj" fmla="val 3684"/>
            </a:avLst>
          </a:prstGeom>
          <a:solidFill>
            <a:srgbClr val="E9F1FA"/>
          </a:solidFill>
          <a:ln/>
        </p:spPr>
      </p:sp>
      <p:sp>
        <p:nvSpPr>
          <p:cNvPr id="20" name="Text 18"/>
          <p:cNvSpPr/>
          <p:nvPr/>
        </p:nvSpPr>
        <p:spPr>
          <a:xfrm>
            <a:off x="7434072" y="3246120"/>
            <a:ext cx="1901952"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KÊNH BÁN</a:t>
            </a:r>
            <a:endParaRPr lang="en-US" sz="950" dirty="0"/>
          </a:p>
        </p:txBody>
      </p:sp>
      <p:sp>
        <p:nvSpPr>
          <p:cNvPr id="21" name="Text 19"/>
          <p:cNvSpPr/>
          <p:nvPr/>
        </p:nvSpPr>
        <p:spPr>
          <a:xfrm>
            <a:off x="7434072" y="3538728"/>
            <a:ext cx="1901952" cy="128016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B2B trực tiếp tới Pháp chế &amp; Tuân thủ</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Hiệp hội Ngân hàng (VNBA)</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Showcase VAIC / SHB</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Giới thiệu từ Big-4</a:t>
            </a:r>
            <a:endParaRPr lang="en-US" sz="830" dirty="0"/>
          </a:p>
        </p:txBody>
      </p:sp>
      <p:sp>
        <p:nvSpPr>
          <p:cNvPr id="22" name="Shape 20"/>
          <p:cNvSpPr/>
          <p:nvPr/>
        </p:nvSpPr>
        <p:spPr>
          <a:xfrm>
            <a:off x="9573768" y="1298448"/>
            <a:ext cx="2157984" cy="3611880"/>
          </a:xfrm>
          <a:prstGeom prst="roundRect">
            <a:avLst>
              <a:gd name="adj" fmla="val 2966"/>
            </a:avLst>
          </a:prstGeom>
          <a:solidFill>
            <a:srgbClr val="E9F1FA"/>
          </a:solidFill>
          <a:ln/>
        </p:spPr>
      </p:sp>
      <p:sp>
        <p:nvSpPr>
          <p:cNvPr id="23" name="Text 21"/>
          <p:cNvSpPr/>
          <p:nvPr/>
        </p:nvSpPr>
        <p:spPr>
          <a:xfrm>
            <a:off x="9701784" y="1371600"/>
            <a:ext cx="1901952"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PHÂN KHÚC KHÁCH HÀNG</a:t>
            </a:r>
            <a:endParaRPr lang="en-US" sz="950" dirty="0"/>
          </a:p>
        </p:txBody>
      </p:sp>
      <p:sp>
        <p:nvSpPr>
          <p:cNvPr id="24" name="Text 22"/>
          <p:cNvSpPr/>
          <p:nvPr/>
        </p:nvSpPr>
        <p:spPr>
          <a:xfrm>
            <a:off x="9701784" y="1664208"/>
            <a:ext cx="1901952" cy="315468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TCTD Việt Nam — bắt đầu từ ngân hàng TMCP vừa &amp; lớn</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Tiếp theo: công ty tài chính</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Sau: chứng khoán, bảo hiểm và các ngành được quản lý khác</a:t>
            </a:r>
            <a:endParaRPr lang="en-US" sz="830" dirty="0"/>
          </a:p>
        </p:txBody>
      </p:sp>
      <p:sp>
        <p:nvSpPr>
          <p:cNvPr id="25" name="Shape 23"/>
          <p:cNvSpPr/>
          <p:nvPr/>
        </p:nvSpPr>
        <p:spPr>
          <a:xfrm>
            <a:off x="502920" y="5047488"/>
            <a:ext cx="5504688" cy="1325880"/>
          </a:xfrm>
          <a:prstGeom prst="roundRect">
            <a:avLst>
              <a:gd name="adj" fmla="val 4828"/>
            </a:avLst>
          </a:prstGeom>
          <a:solidFill>
            <a:srgbClr val="D9E6F5"/>
          </a:solidFill>
          <a:ln/>
        </p:spPr>
      </p:sp>
      <p:sp>
        <p:nvSpPr>
          <p:cNvPr id="26" name="Text 24"/>
          <p:cNvSpPr/>
          <p:nvPr/>
        </p:nvSpPr>
        <p:spPr>
          <a:xfrm>
            <a:off x="630936" y="5120640"/>
            <a:ext cx="5248656"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CƠ CẤU CHI PHÍ</a:t>
            </a:r>
            <a:endParaRPr lang="en-US" sz="950" dirty="0"/>
          </a:p>
        </p:txBody>
      </p:sp>
      <p:sp>
        <p:nvSpPr>
          <p:cNvPr id="27" name="Text 25"/>
          <p:cNvSpPr/>
          <p:nvPr/>
        </p:nvSpPr>
        <p:spPr>
          <a:xfrm>
            <a:off x="630936" y="5413248"/>
            <a:ext cx="5248656" cy="86868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Đội kỹ sư · chu kỳ bán hàng enterprise</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Chi phí LLM API (thấp về cấu trúc: LLM chỉ trích xuất &amp; giải thích)</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Hạ tầng &amp; chứng nhận bảo mật</a:t>
            </a:r>
            <a:endParaRPr lang="en-US" sz="830" dirty="0"/>
          </a:p>
        </p:txBody>
      </p:sp>
      <p:sp>
        <p:nvSpPr>
          <p:cNvPr id="28" name="Shape 26"/>
          <p:cNvSpPr/>
          <p:nvPr/>
        </p:nvSpPr>
        <p:spPr>
          <a:xfrm>
            <a:off x="6227064" y="5047488"/>
            <a:ext cx="5504688" cy="1325880"/>
          </a:xfrm>
          <a:prstGeom prst="roundRect">
            <a:avLst>
              <a:gd name="adj" fmla="val 4828"/>
            </a:avLst>
          </a:prstGeom>
          <a:solidFill>
            <a:srgbClr val="D9E6F5"/>
          </a:solidFill>
          <a:ln/>
        </p:spPr>
      </p:sp>
      <p:sp>
        <p:nvSpPr>
          <p:cNvPr id="29" name="Text 27"/>
          <p:cNvSpPr/>
          <p:nvPr/>
        </p:nvSpPr>
        <p:spPr>
          <a:xfrm>
            <a:off x="6355080" y="5120640"/>
            <a:ext cx="5248656" cy="256032"/>
          </a:xfrm>
          <a:prstGeom prst="rect">
            <a:avLst/>
          </a:prstGeom>
          <a:noFill/>
          <a:ln/>
        </p:spPr>
        <p:txBody>
          <a:bodyPr wrap="square" lIns="0" tIns="0" rIns="0" bIns="0" rtlCol="0" anchor="ctr"/>
          <a:lstStyle/>
          <a:p>
            <a:pPr indent="0" marL="0">
              <a:buNone/>
            </a:pPr>
            <a:r>
              <a:rPr lang="en-US" sz="950" b="1" dirty="0">
                <a:solidFill>
                  <a:srgbClr val="1F4E79"/>
                </a:solidFill>
                <a:latin typeface="Calibri" pitchFamily="34" charset="0"/>
                <a:ea typeface="Calibri" pitchFamily="34" charset="-122"/>
                <a:cs typeface="Calibri" pitchFamily="34" charset="-120"/>
              </a:rPr>
              <a:t>DÒNG DOANH THU</a:t>
            </a:r>
            <a:endParaRPr lang="en-US" sz="950" dirty="0"/>
          </a:p>
        </p:txBody>
      </p:sp>
      <p:sp>
        <p:nvSpPr>
          <p:cNvPr id="30" name="Text 28"/>
          <p:cNvSpPr/>
          <p:nvPr/>
        </p:nvSpPr>
        <p:spPr>
          <a:xfrm>
            <a:off x="6355080" y="5413248"/>
            <a:ext cx="5248656" cy="868680"/>
          </a:xfrm>
          <a:prstGeom prst="rect">
            <a:avLst/>
          </a:prstGeom>
          <a:noFill/>
          <a:ln/>
        </p:spPr>
        <p:txBody>
          <a:bodyPr wrap="square" lIns="0" tIns="0" rIns="0" bIns="0" rtlCol="0" anchor="t"/>
          <a:lstStyle/>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License nền tảng theo năm (0,5–2 tỷ VND theo quy mô)</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Phí triển khai &amp; onboarding</a:t>
            </a:r>
            <a:endParaRPr lang="en-US" sz="830" dirty="0"/>
          </a:p>
          <a:p>
            <a:pPr marL="101600" indent="-101600">
              <a:lnSpc>
                <a:spcPct val="104000"/>
              </a:lnSpc>
              <a:spcAft>
                <a:spcPts val="200"/>
              </a:spcAft>
              <a:buSzPct val="100000"/>
              <a:buChar char="•"/>
            </a:pPr>
            <a:r>
              <a:rPr lang="en-US" sz="830" dirty="0">
                <a:solidFill>
                  <a:srgbClr val="1A2430"/>
                </a:solidFill>
                <a:latin typeface="Calibri" pitchFamily="34" charset="0"/>
                <a:ea typeface="Calibri" pitchFamily="34" charset="-122"/>
                <a:cs typeface="Calibri" pitchFamily="34" charset="-120"/>
              </a:rPr>
              <a:t>Gói kiểm tra tài liệu theo lượng dùng (tương lai: module theo domain)</a:t>
            </a:r>
            <a:endParaRPr lang="en-US" sz="830" dirty="0"/>
          </a:p>
        </p:txBody>
      </p:sp>
      <p:sp>
        <p:nvSpPr>
          <p:cNvPr id="31" name="Text 29"/>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32" name="Text 30"/>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IV. ĐÁNH GIÁ DỰ ÁN — TIÊU CHÍ 3/5</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Big Impact — ngân hàng an toàn hơn, khuôn mẫu AI nhân rộng được</a:t>
            </a:r>
            <a:endParaRPr lang="en-US" sz="2600" dirty="0"/>
          </a:p>
        </p:txBody>
      </p:sp>
      <p:sp>
        <p:nvSpPr>
          <p:cNvPr id="4" name="Shape 2"/>
          <p:cNvSpPr/>
          <p:nvPr/>
        </p:nvSpPr>
        <p:spPr>
          <a:xfrm>
            <a:off x="502920" y="1325880"/>
            <a:ext cx="5532120" cy="2286000"/>
          </a:xfrm>
          <a:prstGeom prst="roundRect">
            <a:avLst>
              <a:gd name="adj" fmla="val 2800"/>
            </a:avLst>
          </a:prstGeom>
          <a:solidFill>
            <a:srgbClr val="E9F1FA"/>
          </a:solidFill>
          <a:ln/>
        </p:spPr>
      </p:sp>
      <p:sp>
        <p:nvSpPr>
          <p:cNvPr id="5" name="Shape 3"/>
          <p:cNvSpPr/>
          <p:nvPr/>
        </p:nvSpPr>
        <p:spPr>
          <a:xfrm>
            <a:off x="777240" y="1572768"/>
            <a:ext cx="640080" cy="640080"/>
          </a:xfrm>
          <a:prstGeom prst="ellipse">
            <a:avLst/>
          </a:prstGeom>
          <a:solidFill>
            <a:srgbClr val="1F4E79"/>
          </a:solidFill>
          <a:ln/>
        </p:spPr>
      </p:sp>
      <p:pic>
        <p:nvPicPr>
          <p:cNvPr id="6" name="Image 0" descr="icons/landmark_w.png">    </p:cNvPr>
          <p:cNvPicPr>
            <a:picLocks noChangeAspect="1"/>
          </p:cNvPicPr>
          <p:nvPr/>
        </p:nvPicPr>
        <p:blipFill>
          <a:blip r:embed="rId1"/>
          <a:stretch>
            <a:fillRect/>
          </a:stretch>
        </p:blipFill>
        <p:spPr>
          <a:xfrm>
            <a:off x="937260" y="1732788"/>
            <a:ext cx="320040" cy="320040"/>
          </a:xfrm>
          <a:prstGeom prst="rect">
            <a:avLst/>
          </a:prstGeom>
        </p:spPr>
      </p:pic>
      <p:sp>
        <p:nvSpPr>
          <p:cNvPr id="7" name="Text 4"/>
          <p:cNvSpPr/>
          <p:nvPr/>
        </p:nvSpPr>
        <p:spPr>
          <a:xfrm>
            <a:off x="1600200" y="1700784"/>
            <a:ext cx="4206240" cy="274320"/>
          </a:xfrm>
          <a:prstGeom prst="rect">
            <a:avLst/>
          </a:prstGeom>
          <a:noFill/>
          <a:ln/>
        </p:spPr>
        <p:txBody>
          <a:bodyPr wrap="square" lIns="0" tIns="0" rIns="0" bIns="0"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AN TOÀN HỆ THỐNG TÀI CHÍNH</a:t>
            </a:r>
            <a:endParaRPr lang="en-US" sz="1100" dirty="0"/>
          </a:p>
        </p:txBody>
      </p:sp>
      <p:sp>
        <p:nvSpPr>
          <p:cNvPr id="8" name="Text 5"/>
          <p:cNvSpPr/>
          <p:nvPr/>
        </p:nvSpPr>
        <p:spPr>
          <a:xfrm>
            <a:off x="822960" y="2331720"/>
            <a:ext cx="4937760" cy="1234440"/>
          </a:xfrm>
          <a:prstGeom prst="rect">
            <a:avLst/>
          </a:prstGeom>
          <a:noFill/>
          <a:ln/>
        </p:spPr>
        <p:txBody>
          <a:bodyPr wrap="square" lIns="0" tIns="0" rIns="0" bIns="0" rtlCol="0" anchor="t"/>
          <a:lstStyle/>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Đánh trúng gốc rễ SHB nêu: quyết định dựa trên quy định lỗi thời</a:t>
            </a:r>
            <a:endParaRPr lang="en-US" sz="1020" dirty="0"/>
          </a:p>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Ít vi phạm, ít án phạt · thanh tra NHNN thuận lợi hơn</a:t>
            </a:r>
            <a:endParaRPr lang="en-US" sz="1020" dirty="0"/>
          </a:p>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Lỗi tuân thủ ở ngân hàng lan ra cả nền kinh tế — phòng ngừa là tác động hệ thống</a:t>
            </a:r>
            <a:endParaRPr lang="en-US" sz="1020" dirty="0"/>
          </a:p>
        </p:txBody>
      </p:sp>
      <p:sp>
        <p:nvSpPr>
          <p:cNvPr id="9" name="Shape 6"/>
          <p:cNvSpPr/>
          <p:nvPr/>
        </p:nvSpPr>
        <p:spPr>
          <a:xfrm>
            <a:off x="6172200" y="1325880"/>
            <a:ext cx="5532120" cy="2286000"/>
          </a:xfrm>
          <a:prstGeom prst="roundRect">
            <a:avLst>
              <a:gd name="adj" fmla="val 2800"/>
            </a:avLst>
          </a:prstGeom>
          <a:solidFill>
            <a:srgbClr val="F7EFD8"/>
          </a:solidFill>
          <a:ln/>
        </p:spPr>
      </p:sp>
      <p:sp>
        <p:nvSpPr>
          <p:cNvPr id="10" name="Shape 7"/>
          <p:cNvSpPr/>
          <p:nvPr/>
        </p:nvSpPr>
        <p:spPr>
          <a:xfrm>
            <a:off x="6446520" y="1572768"/>
            <a:ext cx="640080" cy="640080"/>
          </a:xfrm>
          <a:prstGeom prst="ellipse">
            <a:avLst/>
          </a:prstGeom>
          <a:solidFill>
            <a:srgbClr val="C9A227"/>
          </a:solidFill>
          <a:ln/>
        </p:spPr>
      </p:sp>
      <p:pic>
        <p:nvPicPr>
          <p:cNvPr id="11" name="Image 1" descr="icons/clock_n.png">    </p:cNvPr>
          <p:cNvPicPr>
            <a:picLocks noChangeAspect="1"/>
          </p:cNvPicPr>
          <p:nvPr/>
        </p:nvPicPr>
        <p:blipFill>
          <a:blip r:embed="rId2"/>
          <a:stretch>
            <a:fillRect/>
          </a:stretch>
        </p:blipFill>
        <p:spPr>
          <a:xfrm>
            <a:off x="6606540" y="1732788"/>
            <a:ext cx="320040" cy="320040"/>
          </a:xfrm>
          <a:prstGeom prst="rect">
            <a:avLst/>
          </a:prstGeom>
        </p:spPr>
      </p:pic>
      <p:sp>
        <p:nvSpPr>
          <p:cNvPr id="12" name="Text 8"/>
          <p:cNvSpPr/>
          <p:nvPr/>
        </p:nvSpPr>
        <p:spPr>
          <a:xfrm>
            <a:off x="7269480" y="1700784"/>
            <a:ext cx="4206240" cy="274320"/>
          </a:xfrm>
          <a:prstGeom prst="rect">
            <a:avLst/>
          </a:prstGeom>
          <a:noFill/>
          <a:ln/>
        </p:spPr>
        <p:txBody>
          <a:bodyPr wrap="square" lIns="0" tIns="0" rIns="0" bIns="0" rtlCol="0" anchor="ctr"/>
          <a:lstStyle/>
          <a:p>
            <a:pPr indent="0" marL="0">
              <a:buNone/>
            </a:pPr>
            <a:r>
              <a:rPr lang="en-US" sz="1100" b="1" dirty="0">
                <a:solidFill>
                  <a:srgbClr val="9A7A14"/>
                </a:solidFill>
                <a:latin typeface="Calibri" pitchFamily="34" charset="0"/>
                <a:ea typeface="Calibri" pitchFamily="34" charset="-122"/>
                <a:cs typeface="Calibri" pitchFamily="34" charset="-120"/>
              </a:rPr>
              <a:t>NĂNG SUẤT, ĐO ĐẾM ĐƯỢC</a:t>
            </a:r>
            <a:endParaRPr lang="en-US" sz="1100" dirty="0"/>
          </a:p>
        </p:txBody>
      </p:sp>
      <p:sp>
        <p:nvSpPr>
          <p:cNvPr id="13" name="Text 9"/>
          <p:cNvSpPr/>
          <p:nvPr/>
        </p:nvSpPr>
        <p:spPr>
          <a:xfrm>
            <a:off x="6492240" y="2304288"/>
            <a:ext cx="4937760" cy="1234440"/>
          </a:xfrm>
          <a:prstGeom prst="rect">
            <a:avLst/>
          </a:prstGeom>
          <a:noFill/>
          <a:ln/>
        </p:spPr>
        <p:txBody>
          <a:bodyPr wrap="square" lIns="0" tIns="0" rIns="0" bIns="0" rtlCol="0" anchor="t"/>
          <a:lstStyle/>
          <a:p>
            <a:pPr indent="0" marL="0">
              <a:lnSpc>
                <a:spcPct val="110000"/>
              </a:lnSpc>
              <a:buNone/>
            </a:pPr>
            <a:r>
              <a:rPr lang="en-US" sz="1900" b="1" dirty="0">
                <a:solidFill>
                  <a:srgbClr val="10243E"/>
                </a:solidFill>
                <a:latin typeface="Calibri" pitchFamily="34" charset="0"/>
                <a:ea typeface="Calibri" pitchFamily="34" charset="-122"/>
                <a:cs typeface="Calibri" pitchFamily="34" charset="-120"/>
              </a:rPr>
              <a:t>≈ 19.000 giờ chuyên gia / năm</a:t>
            </a:r>
            <a:pPr indent="0" marL="0">
              <a:lnSpc>
                <a:spcPct val="110000"/>
              </a:lnSpc>
              <a:buNone/>
            </a:pPr>
            <a:r>
              <a:rPr lang="en-US" sz="1020" dirty="0">
                <a:solidFill>
                  <a:srgbClr val="1A2430"/>
                </a:solidFill>
                <a:latin typeface="Calibri" pitchFamily="34" charset="0"/>
                <a:ea typeface="Calibri" pitchFamily="34" charset="-122"/>
                <a:cs typeface="Calibri" pitchFamily="34" charset="-120"/>
              </a:rPr>
              <a:t>  giải phóng cho mỗi ngân hàng cỡ vừa (30 cán bộ × 2,5 giờ/ngày, ước tính SHB) ≈ 2,8 tỷ VND/năm — chuyển từ đối chiếu tay sang phán đoán, chưa tính một khoản phạt nào tránh được.</a:t>
            </a:r>
            <a:endParaRPr lang="en-US" sz="1900" dirty="0"/>
          </a:p>
        </p:txBody>
      </p:sp>
      <p:sp>
        <p:nvSpPr>
          <p:cNvPr id="14" name="Shape 10"/>
          <p:cNvSpPr/>
          <p:nvPr/>
        </p:nvSpPr>
        <p:spPr>
          <a:xfrm>
            <a:off x="502920" y="3794760"/>
            <a:ext cx="5532120" cy="2286000"/>
          </a:xfrm>
          <a:prstGeom prst="roundRect">
            <a:avLst>
              <a:gd name="adj" fmla="val 2800"/>
            </a:avLst>
          </a:prstGeom>
          <a:solidFill>
            <a:srgbClr val="E9F1FA"/>
          </a:solidFill>
          <a:ln/>
        </p:spPr>
      </p:sp>
      <p:sp>
        <p:nvSpPr>
          <p:cNvPr id="15" name="Shape 11"/>
          <p:cNvSpPr/>
          <p:nvPr/>
        </p:nvSpPr>
        <p:spPr>
          <a:xfrm>
            <a:off x="777240" y="4041648"/>
            <a:ext cx="640080" cy="640080"/>
          </a:xfrm>
          <a:prstGeom prst="ellipse">
            <a:avLst/>
          </a:prstGeom>
          <a:solidFill>
            <a:srgbClr val="1F4E79"/>
          </a:solidFill>
          <a:ln/>
        </p:spPr>
      </p:sp>
      <p:pic>
        <p:nvPicPr>
          <p:cNvPr id="16" name="Image 2" descr="icons/gavel_w.png">    </p:cNvPr>
          <p:cNvPicPr>
            <a:picLocks noChangeAspect="1"/>
          </p:cNvPicPr>
          <p:nvPr/>
        </p:nvPicPr>
        <p:blipFill>
          <a:blip r:embed="rId3"/>
          <a:stretch>
            <a:fillRect/>
          </a:stretch>
        </p:blipFill>
        <p:spPr>
          <a:xfrm>
            <a:off x="937260" y="4201668"/>
            <a:ext cx="320040" cy="320040"/>
          </a:xfrm>
          <a:prstGeom prst="rect">
            <a:avLst/>
          </a:prstGeom>
        </p:spPr>
      </p:pic>
      <p:sp>
        <p:nvSpPr>
          <p:cNvPr id="17" name="Text 12"/>
          <p:cNvSpPr/>
          <p:nvPr/>
        </p:nvSpPr>
        <p:spPr>
          <a:xfrm>
            <a:off x="1600200" y="4169664"/>
            <a:ext cx="4297680" cy="274320"/>
          </a:xfrm>
          <a:prstGeom prst="rect">
            <a:avLst/>
          </a:prstGeom>
          <a:noFill/>
          <a:ln/>
        </p:spPr>
        <p:txBody>
          <a:bodyPr wrap="square" lIns="0" tIns="0" rIns="0" bIns="0"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KHUÔN MẪU AI CÓ TRÁCH NHIỆM</a:t>
            </a:r>
            <a:endParaRPr lang="en-US" sz="1100" dirty="0"/>
          </a:p>
        </p:txBody>
      </p:sp>
      <p:sp>
        <p:nvSpPr>
          <p:cNvPr id="18" name="Text 13"/>
          <p:cNvSpPr/>
          <p:nvPr/>
        </p:nvSpPr>
        <p:spPr>
          <a:xfrm>
            <a:off x="822960" y="4800600"/>
            <a:ext cx="4937760" cy="1234440"/>
          </a:xfrm>
          <a:prstGeom prst="rect">
            <a:avLst/>
          </a:prstGeom>
          <a:noFill/>
          <a:ln/>
        </p:spPr>
        <p:txBody>
          <a:bodyPr wrap="square" lIns="0" tIns="0" rIns="0" bIns="0" rtlCol="0" anchor="t"/>
          <a:lstStyle/>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“AI đề xuất, con người quyết định” + vết kiểm toán — mô hình tái dùng cho AI ở lĩnh vực rủi ro cao: thuế, hải quan, y tế</a:t>
            </a:r>
            <a:endParaRPr lang="en-US" sz="1020" dirty="0"/>
          </a:p>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Thuận theo chương trình chuyển đổi số quốc gia</a:t>
            </a:r>
            <a:endParaRPr lang="en-US" sz="1020" dirty="0"/>
          </a:p>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Nguyên tắc AI đáng tin: thiếu bằng chứng thì từ chối, không đoán</a:t>
            </a:r>
            <a:endParaRPr lang="en-US" sz="1020" dirty="0"/>
          </a:p>
        </p:txBody>
      </p:sp>
      <p:sp>
        <p:nvSpPr>
          <p:cNvPr id="19" name="Shape 14"/>
          <p:cNvSpPr/>
          <p:nvPr/>
        </p:nvSpPr>
        <p:spPr>
          <a:xfrm>
            <a:off x="6172200" y="3794760"/>
            <a:ext cx="5532120" cy="2286000"/>
          </a:xfrm>
          <a:prstGeom prst="roundRect">
            <a:avLst>
              <a:gd name="adj" fmla="val 2800"/>
            </a:avLst>
          </a:prstGeom>
          <a:solidFill>
            <a:srgbClr val="E9F1FA"/>
          </a:solidFill>
          <a:ln/>
        </p:spPr>
      </p:sp>
      <p:sp>
        <p:nvSpPr>
          <p:cNvPr id="20" name="Shape 15"/>
          <p:cNvSpPr/>
          <p:nvPr/>
        </p:nvSpPr>
        <p:spPr>
          <a:xfrm>
            <a:off x="6446520" y="4041648"/>
            <a:ext cx="640080" cy="640080"/>
          </a:xfrm>
          <a:prstGeom prst="ellipse">
            <a:avLst/>
          </a:prstGeom>
          <a:solidFill>
            <a:srgbClr val="1F4E79"/>
          </a:solidFill>
          <a:ln/>
        </p:spPr>
      </p:sp>
      <p:pic>
        <p:nvPicPr>
          <p:cNvPr id="21" name="Image 3" descr="icons/book_w.png">    </p:cNvPr>
          <p:cNvPicPr>
            <a:picLocks noChangeAspect="1"/>
          </p:cNvPicPr>
          <p:nvPr/>
        </p:nvPicPr>
        <p:blipFill>
          <a:blip r:embed="rId4"/>
          <a:stretch>
            <a:fillRect/>
          </a:stretch>
        </p:blipFill>
        <p:spPr>
          <a:xfrm>
            <a:off x="6606540" y="4201668"/>
            <a:ext cx="320040" cy="320040"/>
          </a:xfrm>
          <a:prstGeom prst="rect">
            <a:avLst/>
          </a:prstGeom>
        </p:spPr>
      </p:pic>
      <p:sp>
        <p:nvSpPr>
          <p:cNvPr id="22" name="Text 16"/>
          <p:cNvSpPr/>
          <p:nvPr/>
        </p:nvSpPr>
        <p:spPr>
          <a:xfrm>
            <a:off x="7269480" y="4169664"/>
            <a:ext cx="4206240" cy="274320"/>
          </a:xfrm>
          <a:prstGeom prst="rect">
            <a:avLst/>
          </a:prstGeom>
          <a:noFill/>
          <a:ln/>
        </p:spPr>
        <p:txBody>
          <a:bodyPr wrap="square" lIns="0" tIns="0" rIns="0" bIns="0"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BỀN VỮNG TRI THỨC &amp; ESG</a:t>
            </a:r>
            <a:endParaRPr lang="en-US" sz="1100" dirty="0"/>
          </a:p>
        </p:txBody>
      </p:sp>
      <p:sp>
        <p:nvSpPr>
          <p:cNvPr id="23" name="Text 17"/>
          <p:cNvSpPr/>
          <p:nvPr/>
        </p:nvSpPr>
        <p:spPr>
          <a:xfrm>
            <a:off x="6492240" y="4800600"/>
            <a:ext cx="4937760" cy="1234440"/>
          </a:xfrm>
          <a:prstGeom prst="rect">
            <a:avLst/>
          </a:prstGeom>
          <a:noFill/>
          <a:ln/>
        </p:spPr>
        <p:txBody>
          <a:bodyPr wrap="square" lIns="0" tIns="0" rIns="0" bIns="0" rtlCol="0" anchor="t"/>
          <a:lstStyle/>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Tri thức pháp lý không còn nằm trong đầu cán bộ kỳ cựu — phiên bản, thay đổi, lý do đều được lưu</a:t>
            </a:r>
            <a:endParaRPr lang="en-US" sz="1020" dirty="0"/>
          </a:p>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Onboarding nhanh · chống rủi ro nghỉ việc · chuẩn hóa tri thức tổ chức (lợi ích SHB yêu cầu)</a:t>
            </a:r>
            <a:endParaRPr lang="en-US" sz="1020" dirty="0"/>
          </a:p>
          <a:p>
            <a:pPr marL="101600" indent="-101600">
              <a:lnSpc>
                <a:spcPct val="104000"/>
              </a:lnSpc>
              <a:spcAft>
                <a:spcPts val="500"/>
              </a:spcAft>
              <a:buSzPct val="100000"/>
              <a:buChar char="•"/>
            </a:pPr>
            <a:r>
              <a:rPr lang="en-US" sz="1020" dirty="0">
                <a:solidFill>
                  <a:srgbClr val="1A2430"/>
                </a:solidFill>
                <a:latin typeface="Calibri" pitchFamily="34" charset="0"/>
                <a:ea typeface="Calibri" pitchFamily="34" charset="-122"/>
                <a:cs typeface="Calibri" pitchFamily="34" charset="-120"/>
              </a:rPr>
              <a:t>Vết quyết định kiểm toán được củng cố chữ “G” trong ESG</a:t>
            </a:r>
            <a:endParaRPr lang="en-US" sz="1020" dirty="0"/>
          </a:p>
        </p:txBody>
      </p:sp>
      <p:sp>
        <p:nvSpPr>
          <p:cNvPr id="24" name="Text 18"/>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25" name="Text 19"/>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IV. ĐÁNH GIÁ DỰ ÁN — TIÊU CHÍ 4/5</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Market Size — PAM → TAM → SAM → SOM</a:t>
            </a:r>
            <a:endParaRPr lang="en-US" sz="2600" dirty="0"/>
          </a:p>
        </p:txBody>
      </p:sp>
      <p:sp>
        <p:nvSpPr>
          <p:cNvPr id="4" name="Shape 2"/>
          <p:cNvSpPr/>
          <p:nvPr/>
        </p:nvSpPr>
        <p:spPr>
          <a:xfrm>
            <a:off x="731520" y="2057400"/>
            <a:ext cx="4114800" cy="4114800"/>
          </a:xfrm>
          <a:prstGeom prst="ellipse">
            <a:avLst/>
          </a:prstGeom>
          <a:solidFill>
            <a:srgbClr val="E9F1FA"/>
          </a:solidFill>
          <a:ln/>
        </p:spPr>
      </p:sp>
      <p:sp>
        <p:nvSpPr>
          <p:cNvPr id="5" name="Shape 3"/>
          <p:cNvSpPr/>
          <p:nvPr/>
        </p:nvSpPr>
        <p:spPr>
          <a:xfrm>
            <a:off x="1280160" y="3154680"/>
            <a:ext cx="3017520" cy="3017520"/>
          </a:xfrm>
          <a:prstGeom prst="ellipse">
            <a:avLst/>
          </a:prstGeom>
          <a:solidFill>
            <a:srgbClr val="BFD5EC"/>
          </a:solidFill>
          <a:ln/>
        </p:spPr>
      </p:sp>
      <p:sp>
        <p:nvSpPr>
          <p:cNvPr id="6" name="Shape 4"/>
          <p:cNvSpPr/>
          <p:nvPr/>
        </p:nvSpPr>
        <p:spPr>
          <a:xfrm>
            <a:off x="1783080" y="4160520"/>
            <a:ext cx="2011680" cy="2011680"/>
          </a:xfrm>
          <a:prstGeom prst="ellipse">
            <a:avLst/>
          </a:prstGeom>
          <a:solidFill>
            <a:srgbClr val="8FB4DC"/>
          </a:solidFill>
          <a:ln/>
        </p:spPr>
      </p:sp>
      <p:sp>
        <p:nvSpPr>
          <p:cNvPr id="7" name="Shape 5"/>
          <p:cNvSpPr/>
          <p:nvPr/>
        </p:nvSpPr>
        <p:spPr>
          <a:xfrm>
            <a:off x="2221992" y="5038344"/>
            <a:ext cx="1133856" cy="1133856"/>
          </a:xfrm>
          <a:prstGeom prst="ellipse">
            <a:avLst/>
          </a:prstGeom>
          <a:solidFill>
            <a:srgbClr val="C9A227"/>
          </a:solidFill>
          <a:ln/>
        </p:spPr>
      </p:sp>
      <p:sp>
        <p:nvSpPr>
          <p:cNvPr id="8" name="Text 6"/>
          <p:cNvSpPr/>
          <p:nvPr/>
        </p:nvSpPr>
        <p:spPr>
          <a:xfrm>
            <a:off x="1874520" y="2167128"/>
            <a:ext cx="1828800" cy="274320"/>
          </a:xfrm>
          <a:prstGeom prst="rect">
            <a:avLst/>
          </a:prstGeom>
          <a:noFill/>
          <a:ln/>
        </p:spPr>
        <p:txBody>
          <a:bodyPr wrap="square" lIns="0" tIns="0" rIns="0" bIns="0" rtlCol="0" anchor="ctr"/>
          <a:lstStyle/>
          <a:p>
            <a:pPr algn="ctr" indent="0" marL="0">
              <a:buNone/>
            </a:pPr>
            <a:r>
              <a:rPr lang="en-US" sz="1200" b="1" dirty="0">
                <a:solidFill>
                  <a:srgbClr val="1F4E79"/>
                </a:solidFill>
                <a:latin typeface="Calibri" pitchFamily="34" charset="0"/>
                <a:ea typeface="Calibri" pitchFamily="34" charset="-122"/>
                <a:cs typeface="Calibri" pitchFamily="34" charset="-120"/>
              </a:rPr>
              <a:t>PAM</a:t>
            </a:r>
            <a:endParaRPr lang="en-US" sz="1200" dirty="0"/>
          </a:p>
        </p:txBody>
      </p:sp>
      <p:sp>
        <p:nvSpPr>
          <p:cNvPr id="9" name="Text 7"/>
          <p:cNvSpPr/>
          <p:nvPr/>
        </p:nvSpPr>
        <p:spPr>
          <a:xfrm>
            <a:off x="1874520" y="3246120"/>
            <a:ext cx="1828800" cy="274320"/>
          </a:xfrm>
          <a:prstGeom prst="rect">
            <a:avLst/>
          </a:prstGeom>
          <a:noFill/>
          <a:ln/>
        </p:spPr>
        <p:txBody>
          <a:bodyPr wrap="square" lIns="0" tIns="0" rIns="0" bIns="0" rtlCol="0" anchor="ctr"/>
          <a:lstStyle/>
          <a:p>
            <a:pPr algn="ctr" indent="0" marL="0">
              <a:buNone/>
            </a:pPr>
            <a:r>
              <a:rPr lang="en-US" sz="1200" b="1" dirty="0">
                <a:solidFill>
                  <a:srgbClr val="10243E"/>
                </a:solidFill>
                <a:latin typeface="Calibri" pitchFamily="34" charset="0"/>
                <a:ea typeface="Calibri" pitchFamily="34" charset="-122"/>
                <a:cs typeface="Calibri" pitchFamily="34" charset="-120"/>
              </a:rPr>
              <a:t>TAM</a:t>
            </a:r>
            <a:endParaRPr lang="en-US" sz="1200" dirty="0"/>
          </a:p>
        </p:txBody>
      </p:sp>
      <p:sp>
        <p:nvSpPr>
          <p:cNvPr id="10" name="Text 8"/>
          <p:cNvSpPr/>
          <p:nvPr/>
        </p:nvSpPr>
        <p:spPr>
          <a:xfrm>
            <a:off x="1874520" y="4233672"/>
            <a:ext cx="18288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SAM</a:t>
            </a:r>
            <a:endParaRPr lang="en-US" sz="1200" dirty="0"/>
          </a:p>
        </p:txBody>
      </p:sp>
      <p:sp>
        <p:nvSpPr>
          <p:cNvPr id="11" name="Text 9"/>
          <p:cNvSpPr/>
          <p:nvPr/>
        </p:nvSpPr>
        <p:spPr>
          <a:xfrm>
            <a:off x="2221992" y="5303520"/>
            <a:ext cx="1133856"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SOM</a:t>
            </a:r>
            <a:endParaRPr lang="en-US" sz="1200" dirty="0"/>
          </a:p>
        </p:txBody>
      </p:sp>
      <p:sp>
        <p:nvSpPr>
          <p:cNvPr id="12" name="Shape 10"/>
          <p:cNvSpPr/>
          <p:nvPr/>
        </p:nvSpPr>
        <p:spPr>
          <a:xfrm>
            <a:off x="5669280" y="1371600"/>
            <a:ext cx="713232" cy="365760"/>
          </a:xfrm>
          <a:prstGeom prst="roundRect">
            <a:avLst>
              <a:gd name="adj" fmla="val 20000"/>
            </a:avLst>
          </a:prstGeom>
          <a:solidFill>
            <a:srgbClr val="1F4E79"/>
          </a:solidFill>
          <a:ln/>
        </p:spPr>
      </p:sp>
      <p:sp>
        <p:nvSpPr>
          <p:cNvPr id="13" name="Text 11"/>
          <p:cNvSpPr/>
          <p:nvPr/>
        </p:nvSpPr>
        <p:spPr>
          <a:xfrm>
            <a:off x="5669280" y="1371600"/>
            <a:ext cx="71323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PAM</a:t>
            </a:r>
            <a:endParaRPr lang="en-US" sz="1100" dirty="0"/>
          </a:p>
        </p:txBody>
      </p:sp>
      <p:sp>
        <p:nvSpPr>
          <p:cNvPr id="14" name="Text 12"/>
          <p:cNvSpPr/>
          <p:nvPr/>
        </p:nvSpPr>
        <p:spPr>
          <a:xfrm>
            <a:off x="6537960" y="1298448"/>
            <a:ext cx="5120640" cy="292608"/>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Thị trường RegTech toàn cầu</a:t>
            </a:r>
            <a:endParaRPr lang="en-US" sz="1200" dirty="0"/>
          </a:p>
        </p:txBody>
      </p:sp>
      <p:sp>
        <p:nvSpPr>
          <p:cNvPr id="15" name="Text 13"/>
          <p:cNvSpPr/>
          <p:nvPr/>
        </p:nvSpPr>
        <p:spPr>
          <a:xfrm>
            <a:off x="6537960" y="1600200"/>
            <a:ext cx="5120640" cy="749808"/>
          </a:xfrm>
          <a:prstGeom prst="rect">
            <a:avLst/>
          </a:prstGeom>
          <a:noFill/>
          <a:ln/>
        </p:spPr>
        <p:txBody>
          <a:bodyPr wrap="square" lIns="0" tIns="0" rIns="0" bIns="0" rtlCol="0" anchor="t"/>
          <a:lstStyle/>
          <a:p>
            <a:pPr indent="0" marL="0">
              <a:lnSpc>
                <a:spcPct val="105000"/>
              </a:lnSpc>
              <a:buNone/>
            </a:pPr>
            <a:r>
              <a:rPr lang="en-US" sz="980" dirty="0">
                <a:solidFill>
                  <a:srgbClr val="1A2430"/>
                </a:solidFill>
                <a:latin typeface="Calibri" pitchFamily="34" charset="0"/>
                <a:ea typeface="Calibri" pitchFamily="34" charset="-122"/>
                <a:cs typeface="Calibri" pitchFamily="34" charset="-120"/>
              </a:rPr>
              <a:t>22,3 tỷ USD (2026) → 85,5 tỷ USD (2035), CAGR 16,1% — châu Á – Thái Bình Dương tăng nhanh nhất ~18,5% (Precedence Research)</a:t>
            </a:r>
            <a:endParaRPr lang="en-US" sz="980" dirty="0"/>
          </a:p>
        </p:txBody>
      </p:sp>
      <p:sp>
        <p:nvSpPr>
          <p:cNvPr id="16" name="Shape 14"/>
          <p:cNvSpPr/>
          <p:nvPr/>
        </p:nvSpPr>
        <p:spPr>
          <a:xfrm>
            <a:off x="5669280" y="2487168"/>
            <a:ext cx="713232" cy="365760"/>
          </a:xfrm>
          <a:prstGeom prst="roundRect">
            <a:avLst>
              <a:gd name="adj" fmla="val 20000"/>
            </a:avLst>
          </a:prstGeom>
          <a:solidFill>
            <a:srgbClr val="10243E"/>
          </a:solidFill>
          <a:ln/>
        </p:spPr>
      </p:sp>
      <p:sp>
        <p:nvSpPr>
          <p:cNvPr id="17" name="Text 15"/>
          <p:cNvSpPr/>
          <p:nvPr/>
        </p:nvSpPr>
        <p:spPr>
          <a:xfrm>
            <a:off x="5669280" y="2487168"/>
            <a:ext cx="71323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TAM</a:t>
            </a:r>
            <a:endParaRPr lang="en-US" sz="1100" dirty="0"/>
          </a:p>
        </p:txBody>
      </p:sp>
      <p:sp>
        <p:nvSpPr>
          <p:cNvPr id="18" name="Text 16"/>
          <p:cNvSpPr/>
          <p:nvPr/>
        </p:nvSpPr>
        <p:spPr>
          <a:xfrm>
            <a:off x="6537960" y="2414016"/>
            <a:ext cx="5120640" cy="292608"/>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~225 định chế tài chính được quản lý tại VN</a:t>
            </a:r>
            <a:endParaRPr lang="en-US" sz="1200" dirty="0"/>
          </a:p>
        </p:txBody>
      </p:sp>
      <p:sp>
        <p:nvSpPr>
          <p:cNvPr id="19" name="Text 17"/>
          <p:cNvSpPr/>
          <p:nvPr/>
        </p:nvSpPr>
        <p:spPr>
          <a:xfrm>
            <a:off x="6537960" y="2715768"/>
            <a:ext cx="5120640" cy="749808"/>
          </a:xfrm>
          <a:prstGeom prst="rect">
            <a:avLst/>
          </a:prstGeom>
          <a:noFill/>
          <a:ln/>
        </p:spPr>
        <p:txBody>
          <a:bodyPr wrap="square" lIns="0" tIns="0" rIns="0" bIns="0" rtlCol="0" anchor="t"/>
          <a:lstStyle/>
          <a:p>
            <a:pPr indent="0" marL="0">
              <a:lnSpc>
                <a:spcPct val="105000"/>
              </a:lnSpc>
              <a:buNone/>
            </a:pPr>
            <a:r>
              <a:rPr lang="en-US" sz="980" dirty="0">
                <a:solidFill>
                  <a:srgbClr val="1A2430"/>
                </a:solidFill>
                <a:latin typeface="Calibri" pitchFamily="34" charset="0"/>
                <a:ea typeface="Calibri" pitchFamily="34" charset="-122"/>
                <a:cs typeface="Calibri" pitchFamily="34" charset="-120"/>
              </a:rPr>
              <a:t>49 ngân hàng + ~16 cty tài chính + ~80 chứng khoán + ~80 bảo hiểm → (49 × 2 tỷ) + (176 × 0,5 tỷ) ≈ ~190 tỷ VND/năm (~7,5 triệu USD)</a:t>
            </a:r>
            <a:endParaRPr lang="en-US" sz="980" dirty="0"/>
          </a:p>
        </p:txBody>
      </p:sp>
      <p:sp>
        <p:nvSpPr>
          <p:cNvPr id="20" name="Shape 18"/>
          <p:cNvSpPr/>
          <p:nvPr/>
        </p:nvSpPr>
        <p:spPr>
          <a:xfrm>
            <a:off x="5669280" y="3602736"/>
            <a:ext cx="713232" cy="365760"/>
          </a:xfrm>
          <a:prstGeom prst="roundRect">
            <a:avLst>
              <a:gd name="adj" fmla="val 20000"/>
            </a:avLst>
          </a:prstGeom>
          <a:solidFill>
            <a:srgbClr val="8FB4DC"/>
          </a:solidFill>
          <a:ln/>
        </p:spPr>
      </p:sp>
      <p:sp>
        <p:nvSpPr>
          <p:cNvPr id="21" name="Text 19"/>
          <p:cNvSpPr/>
          <p:nvPr/>
        </p:nvSpPr>
        <p:spPr>
          <a:xfrm>
            <a:off x="5669280" y="3602736"/>
            <a:ext cx="71323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SAM</a:t>
            </a:r>
            <a:endParaRPr lang="en-US" sz="1100" dirty="0"/>
          </a:p>
        </p:txBody>
      </p:sp>
      <p:sp>
        <p:nvSpPr>
          <p:cNvPr id="22" name="Text 20"/>
          <p:cNvSpPr/>
          <p:nvPr/>
        </p:nvSpPr>
        <p:spPr>
          <a:xfrm>
            <a:off x="6537960" y="3529584"/>
            <a:ext cx="5120640" cy="292608"/>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51 tổ chức kênh bán trực tiếp chạm tới</a:t>
            </a:r>
            <a:endParaRPr lang="en-US" sz="1200" dirty="0"/>
          </a:p>
        </p:txBody>
      </p:sp>
      <p:sp>
        <p:nvSpPr>
          <p:cNvPr id="23" name="Text 21"/>
          <p:cNvSpPr/>
          <p:nvPr/>
        </p:nvSpPr>
        <p:spPr>
          <a:xfrm>
            <a:off x="6537960" y="3831336"/>
            <a:ext cx="5120640" cy="749808"/>
          </a:xfrm>
          <a:prstGeom prst="rect">
            <a:avLst/>
          </a:prstGeom>
          <a:noFill/>
          <a:ln/>
        </p:spPr>
        <p:txBody>
          <a:bodyPr wrap="square" lIns="0" tIns="0" rIns="0" bIns="0" rtlCol="0" anchor="t"/>
          <a:lstStyle/>
          <a:p>
            <a:pPr indent="0" marL="0">
              <a:lnSpc>
                <a:spcPct val="105000"/>
              </a:lnSpc>
              <a:buNone/>
            </a:pPr>
            <a:r>
              <a:rPr lang="en-US" sz="980" dirty="0">
                <a:solidFill>
                  <a:srgbClr val="1A2430"/>
                </a:solidFill>
                <a:latin typeface="Calibri" pitchFamily="34" charset="0"/>
                <a:ea typeface="Calibri" pitchFamily="34" charset="-122"/>
                <a:cs typeface="Calibri" pitchFamily="34" charset="-120"/>
              </a:rPr>
              <a:t>35 NHTM trong nước + 16 công ty tài chính × trung bình 1,5 tỷ VND/năm ≈ ~75 tỷ VND/năm (~3 triệu USD)</a:t>
            </a:r>
            <a:endParaRPr lang="en-US" sz="980" dirty="0"/>
          </a:p>
        </p:txBody>
      </p:sp>
      <p:sp>
        <p:nvSpPr>
          <p:cNvPr id="24" name="Shape 22"/>
          <p:cNvSpPr/>
          <p:nvPr/>
        </p:nvSpPr>
        <p:spPr>
          <a:xfrm>
            <a:off x="5669280" y="4718304"/>
            <a:ext cx="713232" cy="365760"/>
          </a:xfrm>
          <a:prstGeom prst="roundRect">
            <a:avLst>
              <a:gd name="adj" fmla="val 20000"/>
            </a:avLst>
          </a:prstGeom>
          <a:solidFill>
            <a:srgbClr val="C9A227"/>
          </a:solidFill>
          <a:ln/>
        </p:spPr>
      </p:sp>
      <p:sp>
        <p:nvSpPr>
          <p:cNvPr id="25" name="Text 23"/>
          <p:cNvSpPr/>
          <p:nvPr/>
        </p:nvSpPr>
        <p:spPr>
          <a:xfrm>
            <a:off x="5669280" y="4718304"/>
            <a:ext cx="713232"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SOM</a:t>
            </a:r>
            <a:endParaRPr lang="en-US" sz="1100" dirty="0"/>
          </a:p>
        </p:txBody>
      </p:sp>
      <p:sp>
        <p:nvSpPr>
          <p:cNvPr id="26" name="Text 24"/>
          <p:cNvSpPr/>
          <p:nvPr/>
        </p:nvSpPr>
        <p:spPr>
          <a:xfrm>
            <a:off x="6537960" y="4645152"/>
            <a:ext cx="5120640" cy="292608"/>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10 khách hàng trong 3 năm (~20% SAM)</a:t>
            </a:r>
            <a:endParaRPr lang="en-US" sz="1200" dirty="0"/>
          </a:p>
        </p:txBody>
      </p:sp>
      <p:sp>
        <p:nvSpPr>
          <p:cNvPr id="27" name="Text 25"/>
          <p:cNvSpPr/>
          <p:nvPr/>
        </p:nvSpPr>
        <p:spPr>
          <a:xfrm>
            <a:off x="6537960" y="4946904"/>
            <a:ext cx="5120640" cy="749808"/>
          </a:xfrm>
          <a:prstGeom prst="rect">
            <a:avLst/>
          </a:prstGeom>
          <a:noFill/>
          <a:ln/>
        </p:spPr>
        <p:txBody>
          <a:bodyPr wrap="square" lIns="0" tIns="0" rIns="0" bIns="0" rtlCol="0" anchor="t"/>
          <a:lstStyle/>
          <a:p>
            <a:pPr indent="0" marL="0">
              <a:lnSpc>
                <a:spcPct val="105000"/>
              </a:lnSpc>
              <a:buNone/>
            </a:pPr>
            <a:r>
              <a:rPr lang="en-US" sz="980" dirty="0">
                <a:solidFill>
                  <a:srgbClr val="1A2430"/>
                </a:solidFill>
                <a:latin typeface="Calibri" pitchFamily="34" charset="0"/>
                <a:ea typeface="Calibri" pitchFamily="34" charset="-122"/>
                <a:cs typeface="Calibri" pitchFamily="34" charset="-120"/>
              </a:rPr>
              <a:t>Pilot SHB + 9 tổ chức × 1,5 tỷ VND ≈ ~15 tỷ VND/năm ARR (~600 nghìn USD)</a:t>
            </a:r>
            <a:endParaRPr lang="en-US" sz="980" dirty="0"/>
          </a:p>
        </p:txBody>
      </p:sp>
      <p:sp>
        <p:nvSpPr>
          <p:cNvPr id="28" name="Shape 26"/>
          <p:cNvSpPr/>
          <p:nvPr/>
        </p:nvSpPr>
        <p:spPr>
          <a:xfrm>
            <a:off x="5669280" y="5760720"/>
            <a:ext cx="6016752" cy="658368"/>
          </a:xfrm>
          <a:prstGeom prst="roundRect">
            <a:avLst>
              <a:gd name="adj" fmla="val 9722"/>
            </a:avLst>
          </a:prstGeom>
          <a:solidFill>
            <a:srgbClr val="F7EFD8"/>
          </a:solidFill>
          <a:ln/>
        </p:spPr>
      </p:sp>
      <p:sp>
        <p:nvSpPr>
          <p:cNvPr id="29" name="Text 27"/>
          <p:cNvSpPr/>
          <p:nvPr/>
        </p:nvSpPr>
        <p:spPr>
          <a:xfrm>
            <a:off x="5870448" y="5833872"/>
            <a:ext cx="5669280" cy="502920"/>
          </a:xfrm>
          <a:prstGeom prst="rect">
            <a:avLst/>
          </a:prstGeom>
          <a:noFill/>
          <a:ln/>
        </p:spPr>
        <p:txBody>
          <a:bodyPr wrap="square" lIns="0" tIns="0" rIns="0" bIns="0" rtlCol="0" anchor="ctr"/>
          <a:lstStyle/>
          <a:p>
            <a:pPr indent="0" marL="0">
              <a:buNone/>
            </a:pPr>
            <a:r>
              <a:rPr lang="en-US" sz="1000" b="1" dirty="0">
                <a:solidFill>
                  <a:srgbClr val="9A7A14"/>
                </a:solidFill>
                <a:latin typeface="Calibri" pitchFamily="34" charset="0"/>
                <a:ea typeface="Calibri" pitchFamily="34" charset="-122"/>
                <a:cs typeface="Calibri" pitchFamily="34" charset="-120"/>
              </a:rPr>
              <a:t>Kiểm chứng giá trị: </a:t>
            </a:r>
            <a:pPr indent="0" marL="0">
              <a:buNone/>
            </a:pPr>
            <a:r>
              <a:rPr lang="en-US" sz="1000" dirty="0">
                <a:solidFill>
                  <a:srgbClr val="1A2430"/>
                </a:solidFill>
                <a:latin typeface="Calibri" pitchFamily="34" charset="0"/>
                <a:ea typeface="Calibri" pitchFamily="34" charset="-122"/>
                <a:cs typeface="Calibri" pitchFamily="34" charset="-120"/>
              </a:rPr>
              <a:t>tiết kiệm ≈ 2,8 tỷ VND/năm mỗi ngân hàng so với license 1,5 tỷ → ROI ~1,9× trước khi tính khoản phạt tránh được.</a:t>
            </a:r>
            <a:endParaRPr lang="en-US" sz="1000" dirty="0"/>
          </a:p>
        </p:txBody>
      </p:sp>
      <p:sp>
        <p:nvSpPr>
          <p:cNvPr id="30" name="Text 28"/>
          <p:cNvSpPr/>
          <p:nvPr/>
        </p:nvSpPr>
        <p:spPr>
          <a:xfrm>
            <a:off x="502920" y="6263640"/>
            <a:ext cx="5029200" cy="365760"/>
          </a:xfrm>
          <a:prstGeom prst="rect">
            <a:avLst/>
          </a:prstGeom>
          <a:noFill/>
          <a:ln/>
        </p:spPr>
        <p:txBody>
          <a:bodyPr wrap="square" lIns="0" tIns="0" rIns="0" bIns="0" rtlCol="0" anchor="t"/>
          <a:lstStyle/>
          <a:p>
            <a:pPr indent="0" marL="0">
              <a:buNone/>
            </a:pPr>
            <a:r>
              <a:rPr lang="en-US" sz="800" i="1" dirty="0">
                <a:solidFill>
                  <a:srgbClr val="5B6B7C"/>
                </a:solidFill>
                <a:latin typeface="Calibri" pitchFamily="34" charset="0"/>
                <a:ea typeface="Calibri" pitchFamily="34" charset="-122"/>
                <a:cs typeface="Calibri" pitchFamily="34" charset="-120"/>
              </a:rPr>
              <a:t>Nguồn: Precedence Research (2026) · danh bạ ngân hàng bankervn 07/2026 · giả định giá &amp; quy mô đội ghi rõ trong báo cáo</a:t>
            </a:r>
            <a:endParaRPr lang="en-US" sz="800" dirty="0"/>
          </a:p>
        </p:txBody>
      </p:sp>
      <p:sp>
        <p:nvSpPr>
          <p:cNvPr id="31" name="Text 29"/>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32" name="Text 30"/>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IV. ĐÁNH GIÁ DỰ ÁN — TIÊU CHÍ 5/5</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Scale-up — hệ thống mở rộng bằng dữ liệu, không phải code</a:t>
            </a:r>
            <a:endParaRPr lang="en-US" sz="2600" dirty="0"/>
          </a:p>
        </p:txBody>
      </p:sp>
      <p:sp>
        <p:nvSpPr>
          <p:cNvPr id="4" name="Shape 2"/>
          <p:cNvSpPr/>
          <p:nvPr/>
        </p:nvSpPr>
        <p:spPr>
          <a:xfrm>
            <a:off x="502920" y="1325880"/>
            <a:ext cx="2743200" cy="2651760"/>
          </a:xfrm>
          <a:prstGeom prst="roundRect">
            <a:avLst>
              <a:gd name="adj" fmla="val 2414"/>
            </a:avLst>
          </a:prstGeom>
          <a:solidFill>
            <a:srgbClr val="F7EFD8"/>
          </a:solidFill>
          <a:ln/>
        </p:spPr>
      </p:sp>
      <p:sp>
        <p:nvSpPr>
          <p:cNvPr id="5" name="Shape 3"/>
          <p:cNvSpPr/>
          <p:nvPr/>
        </p:nvSpPr>
        <p:spPr>
          <a:xfrm>
            <a:off x="685800" y="1508760"/>
            <a:ext cx="914400" cy="384048"/>
          </a:xfrm>
          <a:prstGeom prst="roundRect">
            <a:avLst>
              <a:gd name="adj" fmla="val 19048"/>
            </a:avLst>
          </a:prstGeom>
          <a:solidFill>
            <a:srgbClr val="C9A227"/>
          </a:solidFill>
          <a:ln/>
        </p:spPr>
      </p:sp>
      <p:sp>
        <p:nvSpPr>
          <p:cNvPr id="6" name="Text 4"/>
          <p:cNvSpPr/>
          <p:nvPr/>
        </p:nvSpPr>
        <p:spPr>
          <a:xfrm>
            <a:off x="685800" y="1508760"/>
            <a:ext cx="914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2026</a:t>
            </a:r>
            <a:endParaRPr lang="en-US" sz="1200" dirty="0"/>
          </a:p>
        </p:txBody>
      </p:sp>
      <p:sp>
        <p:nvSpPr>
          <p:cNvPr id="7" name="Text 5"/>
          <p:cNvSpPr/>
          <p:nvPr/>
        </p:nvSpPr>
        <p:spPr>
          <a:xfrm>
            <a:off x="685800" y="2011680"/>
            <a:ext cx="2377440" cy="365760"/>
          </a:xfrm>
          <a:prstGeom prst="rect">
            <a:avLst/>
          </a:prstGeom>
          <a:noFill/>
          <a:ln/>
        </p:spPr>
        <p:txBody>
          <a:bodyPr wrap="square" lIns="0" tIns="0" rIns="0" bIns="0" rtlCol="0" anchor="ctr"/>
          <a:lstStyle/>
          <a:p>
            <a:pPr indent="0" marL="0">
              <a:buNone/>
            </a:pPr>
            <a:r>
              <a:rPr lang="en-US" sz="1400" b="1" dirty="0">
                <a:solidFill>
                  <a:srgbClr val="10243E"/>
                </a:solidFill>
                <a:latin typeface="Cambria" pitchFamily="34" charset="0"/>
                <a:ea typeface="Cambria" pitchFamily="34" charset="-122"/>
                <a:cs typeface="Cambria" pitchFamily="34" charset="-120"/>
              </a:rPr>
              <a:t>Pilot SHB</a:t>
            </a:r>
            <a:endParaRPr lang="en-US" sz="1400" dirty="0"/>
          </a:p>
        </p:txBody>
      </p:sp>
      <p:sp>
        <p:nvSpPr>
          <p:cNvPr id="8" name="Text 6"/>
          <p:cNvSpPr/>
          <p:nvPr/>
        </p:nvSpPr>
        <p:spPr>
          <a:xfrm>
            <a:off x="685800" y="2450592"/>
            <a:ext cx="2377440" cy="1463040"/>
          </a:xfrm>
          <a:prstGeom prst="rect">
            <a:avLst/>
          </a:prstGeom>
          <a:noFill/>
          <a:ln/>
        </p:spPr>
        <p:txBody>
          <a:bodyPr wrap="square" lIns="0" tIns="0" rIns="0" bIns="0" rtlCol="0" anchor="t"/>
          <a:lstStyle/>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Một golden domain (tín dụng), đủ sâu</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Vết bằng chứng sẵn sàng thanh tra</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Nghiệm thu bằng bộ benchmark</a:t>
            </a:r>
            <a:endParaRPr lang="en-US" sz="930" dirty="0"/>
          </a:p>
        </p:txBody>
      </p:sp>
      <p:sp>
        <p:nvSpPr>
          <p:cNvPr id="9" name="Shape 7"/>
          <p:cNvSpPr/>
          <p:nvPr/>
        </p:nvSpPr>
        <p:spPr>
          <a:xfrm>
            <a:off x="3364992" y="1325880"/>
            <a:ext cx="2743200" cy="2651760"/>
          </a:xfrm>
          <a:prstGeom prst="roundRect">
            <a:avLst>
              <a:gd name="adj" fmla="val 2414"/>
            </a:avLst>
          </a:prstGeom>
          <a:solidFill>
            <a:srgbClr val="E9F1FA"/>
          </a:solidFill>
          <a:ln/>
        </p:spPr>
      </p:sp>
      <p:sp>
        <p:nvSpPr>
          <p:cNvPr id="10" name="Shape 8"/>
          <p:cNvSpPr/>
          <p:nvPr/>
        </p:nvSpPr>
        <p:spPr>
          <a:xfrm>
            <a:off x="3547872" y="1508760"/>
            <a:ext cx="914400" cy="384048"/>
          </a:xfrm>
          <a:prstGeom prst="roundRect">
            <a:avLst>
              <a:gd name="adj" fmla="val 19048"/>
            </a:avLst>
          </a:prstGeom>
          <a:solidFill>
            <a:srgbClr val="10243E"/>
          </a:solidFill>
          <a:ln/>
        </p:spPr>
      </p:sp>
      <p:sp>
        <p:nvSpPr>
          <p:cNvPr id="11" name="Text 9"/>
          <p:cNvSpPr/>
          <p:nvPr/>
        </p:nvSpPr>
        <p:spPr>
          <a:xfrm>
            <a:off x="3547872" y="1508760"/>
            <a:ext cx="914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2027</a:t>
            </a:r>
            <a:endParaRPr lang="en-US" sz="1200" dirty="0"/>
          </a:p>
        </p:txBody>
      </p:sp>
      <p:sp>
        <p:nvSpPr>
          <p:cNvPr id="12" name="Text 10"/>
          <p:cNvSpPr/>
          <p:nvPr/>
        </p:nvSpPr>
        <p:spPr>
          <a:xfrm>
            <a:off x="3547872" y="2011680"/>
            <a:ext cx="2377440" cy="365760"/>
          </a:xfrm>
          <a:prstGeom prst="rect">
            <a:avLst/>
          </a:prstGeom>
          <a:noFill/>
          <a:ln/>
        </p:spPr>
        <p:txBody>
          <a:bodyPr wrap="square" lIns="0" tIns="0" rIns="0" bIns="0" rtlCol="0" anchor="ctr"/>
          <a:lstStyle/>
          <a:p>
            <a:pPr indent="0" marL="0">
              <a:buNone/>
            </a:pPr>
            <a:r>
              <a:rPr lang="en-US" sz="1400" b="1" dirty="0">
                <a:solidFill>
                  <a:srgbClr val="10243E"/>
                </a:solidFill>
                <a:latin typeface="Cambria" pitchFamily="34" charset="0"/>
                <a:ea typeface="Cambria" pitchFamily="34" charset="-122"/>
                <a:cs typeface="Cambria" pitchFamily="34" charset="-120"/>
              </a:rPr>
              <a:t>Ngân hàng Việt Nam</a:t>
            </a:r>
            <a:endParaRPr lang="en-US" sz="1400" dirty="0"/>
          </a:p>
        </p:txBody>
      </p:sp>
      <p:sp>
        <p:nvSpPr>
          <p:cNvPr id="13" name="Text 11"/>
          <p:cNvSpPr/>
          <p:nvPr/>
        </p:nvSpPr>
        <p:spPr>
          <a:xfrm>
            <a:off x="3547872" y="2450592"/>
            <a:ext cx="2377440" cy="1463040"/>
          </a:xfrm>
          <a:prstGeom prst="rect">
            <a:avLst/>
          </a:prstGeom>
          <a:noFill/>
          <a:ln/>
        </p:spPr>
        <p:txBody>
          <a:bodyPr wrap="square" lIns="0" tIns="0" rIns="0" bIns="0" rtlCol="0" anchor="t"/>
          <a:lstStyle/>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10 tổ chức (mục tiêu SOM)</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Thêm domain: ngoại hối, AML, vốn</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OCR bản scan · xuất DOCX/PDF</a:t>
            </a:r>
            <a:endParaRPr lang="en-US" sz="930" dirty="0"/>
          </a:p>
        </p:txBody>
      </p:sp>
      <p:sp>
        <p:nvSpPr>
          <p:cNvPr id="14" name="Shape 12"/>
          <p:cNvSpPr/>
          <p:nvPr/>
        </p:nvSpPr>
        <p:spPr>
          <a:xfrm>
            <a:off x="6227064" y="1325880"/>
            <a:ext cx="2743200" cy="2651760"/>
          </a:xfrm>
          <a:prstGeom prst="roundRect">
            <a:avLst>
              <a:gd name="adj" fmla="val 2414"/>
            </a:avLst>
          </a:prstGeom>
          <a:solidFill>
            <a:srgbClr val="E9F1FA"/>
          </a:solidFill>
          <a:ln/>
        </p:spPr>
      </p:sp>
      <p:sp>
        <p:nvSpPr>
          <p:cNvPr id="15" name="Shape 13"/>
          <p:cNvSpPr/>
          <p:nvPr/>
        </p:nvSpPr>
        <p:spPr>
          <a:xfrm>
            <a:off x="6409944" y="1508760"/>
            <a:ext cx="914400" cy="384048"/>
          </a:xfrm>
          <a:prstGeom prst="roundRect">
            <a:avLst>
              <a:gd name="adj" fmla="val 19048"/>
            </a:avLst>
          </a:prstGeom>
          <a:solidFill>
            <a:srgbClr val="10243E"/>
          </a:solidFill>
          <a:ln/>
        </p:spPr>
      </p:sp>
      <p:sp>
        <p:nvSpPr>
          <p:cNvPr id="16" name="Text 14"/>
          <p:cNvSpPr/>
          <p:nvPr/>
        </p:nvSpPr>
        <p:spPr>
          <a:xfrm>
            <a:off x="6409944" y="1508760"/>
            <a:ext cx="914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2028</a:t>
            </a:r>
            <a:endParaRPr lang="en-US" sz="1200" dirty="0"/>
          </a:p>
        </p:txBody>
      </p:sp>
      <p:sp>
        <p:nvSpPr>
          <p:cNvPr id="17" name="Text 15"/>
          <p:cNvSpPr/>
          <p:nvPr/>
        </p:nvSpPr>
        <p:spPr>
          <a:xfrm>
            <a:off x="6409944" y="2011680"/>
            <a:ext cx="2377440" cy="365760"/>
          </a:xfrm>
          <a:prstGeom prst="rect">
            <a:avLst/>
          </a:prstGeom>
          <a:noFill/>
          <a:ln/>
        </p:spPr>
        <p:txBody>
          <a:bodyPr wrap="square" lIns="0" tIns="0" rIns="0" bIns="0" rtlCol="0" anchor="ctr"/>
          <a:lstStyle/>
          <a:p>
            <a:pPr indent="0" marL="0">
              <a:buNone/>
            </a:pPr>
            <a:r>
              <a:rPr lang="en-US" sz="1400" b="1" dirty="0">
                <a:solidFill>
                  <a:srgbClr val="10243E"/>
                </a:solidFill>
                <a:latin typeface="Cambria" pitchFamily="34" charset="0"/>
                <a:ea typeface="Cambria" pitchFamily="34" charset="-122"/>
                <a:cs typeface="Cambria" pitchFamily="34" charset="-120"/>
              </a:rPr>
              <a:t>Ngành được quản lý</a:t>
            </a:r>
            <a:endParaRPr lang="en-US" sz="1400" dirty="0"/>
          </a:p>
        </p:txBody>
      </p:sp>
      <p:sp>
        <p:nvSpPr>
          <p:cNvPr id="18" name="Text 16"/>
          <p:cNvSpPr/>
          <p:nvPr/>
        </p:nvSpPr>
        <p:spPr>
          <a:xfrm>
            <a:off x="6409944" y="2450592"/>
            <a:ext cx="2377440" cy="1463040"/>
          </a:xfrm>
          <a:prstGeom prst="rect">
            <a:avLst/>
          </a:prstGeom>
          <a:noFill/>
          <a:ln/>
        </p:spPr>
        <p:txBody>
          <a:bodyPr wrap="square" lIns="0" tIns="0" rIns="0" bIns="0" rtlCol="0" anchor="t"/>
          <a:lstStyle/>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Chứng khoán, bảo hiểm, dược, năng lượng</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Cùng engine — corpus mới</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Giá API theo tài liệu review</a:t>
            </a:r>
            <a:endParaRPr lang="en-US" sz="930" dirty="0"/>
          </a:p>
        </p:txBody>
      </p:sp>
      <p:sp>
        <p:nvSpPr>
          <p:cNvPr id="19" name="Shape 17"/>
          <p:cNvSpPr/>
          <p:nvPr/>
        </p:nvSpPr>
        <p:spPr>
          <a:xfrm>
            <a:off x="9089136" y="1325880"/>
            <a:ext cx="2743200" cy="2651760"/>
          </a:xfrm>
          <a:prstGeom prst="roundRect">
            <a:avLst>
              <a:gd name="adj" fmla="val 2414"/>
            </a:avLst>
          </a:prstGeom>
          <a:solidFill>
            <a:srgbClr val="E9F1FA"/>
          </a:solidFill>
          <a:ln/>
        </p:spPr>
      </p:sp>
      <p:sp>
        <p:nvSpPr>
          <p:cNvPr id="20" name="Shape 18"/>
          <p:cNvSpPr/>
          <p:nvPr/>
        </p:nvSpPr>
        <p:spPr>
          <a:xfrm>
            <a:off x="9272016" y="1508760"/>
            <a:ext cx="914400" cy="384048"/>
          </a:xfrm>
          <a:prstGeom prst="roundRect">
            <a:avLst>
              <a:gd name="adj" fmla="val 19048"/>
            </a:avLst>
          </a:prstGeom>
          <a:solidFill>
            <a:srgbClr val="10243E"/>
          </a:solidFill>
          <a:ln/>
        </p:spPr>
      </p:sp>
      <p:sp>
        <p:nvSpPr>
          <p:cNvPr id="21" name="Text 19"/>
          <p:cNvSpPr/>
          <p:nvPr/>
        </p:nvSpPr>
        <p:spPr>
          <a:xfrm>
            <a:off x="9272016" y="1508760"/>
            <a:ext cx="914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2029+</a:t>
            </a:r>
            <a:endParaRPr lang="en-US" sz="1200" dirty="0"/>
          </a:p>
        </p:txBody>
      </p:sp>
      <p:sp>
        <p:nvSpPr>
          <p:cNvPr id="22" name="Text 20"/>
          <p:cNvSpPr/>
          <p:nvPr/>
        </p:nvSpPr>
        <p:spPr>
          <a:xfrm>
            <a:off x="9272016" y="2011680"/>
            <a:ext cx="2377440" cy="365760"/>
          </a:xfrm>
          <a:prstGeom prst="rect">
            <a:avLst/>
          </a:prstGeom>
          <a:noFill/>
          <a:ln/>
        </p:spPr>
        <p:txBody>
          <a:bodyPr wrap="square" lIns="0" tIns="0" rIns="0" bIns="0" rtlCol="0" anchor="ctr"/>
          <a:lstStyle/>
          <a:p>
            <a:pPr indent="0" marL="0">
              <a:buNone/>
            </a:pPr>
            <a:r>
              <a:rPr lang="en-US" sz="1400" b="1" dirty="0">
                <a:solidFill>
                  <a:srgbClr val="10243E"/>
                </a:solidFill>
                <a:latin typeface="Cambria" pitchFamily="34" charset="0"/>
                <a:ea typeface="Cambria" pitchFamily="34" charset="-122"/>
                <a:cs typeface="Cambria" pitchFamily="34" charset="-120"/>
              </a:rPr>
              <a:t>ASEAN</a:t>
            </a:r>
            <a:endParaRPr lang="en-US" sz="1400" dirty="0"/>
          </a:p>
        </p:txBody>
      </p:sp>
      <p:sp>
        <p:nvSpPr>
          <p:cNvPr id="23" name="Text 21"/>
          <p:cNvSpPr/>
          <p:nvPr/>
        </p:nvSpPr>
        <p:spPr>
          <a:xfrm>
            <a:off x="9272016" y="2450592"/>
            <a:ext cx="2377440" cy="1463040"/>
          </a:xfrm>
          <a:prstGeom prst="rect">
            <a:avLst/>
          </a:prstGeom>
          <a:noFill/>
          <a:ln/>
        </p:spPr>
        <p:txBody>
          <a:bodyPr wrap="square" lIns="0" tIns="0" rIns="0" bIns="0" rtlCol="0" anchor="t"/>
          <a:lstStyle/>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Lõi không phụ thuộc ngôn ngữ</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Thay normalizer + mẫu parser</a:t>
            </a:r>
            <a:endParaRPr lang="en-US" sz="930" dirty="0"/>
          </a:p>
          <a:p>
            <a:pPr marL="101600" indent="-101600">
              <a:lnSpc>
                <a:spcPct val="104000"/>
              </a:lnSpc>
              <a:spcAft>
                <a:spcPts val="400"/>
              </a:spcAft>
              <a:buSzPct val="100000"/>
              <a:buChar char="•"/>
            </a:pPr>
            <a:r>
              <a:rPr lang="en-US" sz="930" dirty="0">
                <a:solidFill>
                  <a:srgbClr val="1A2430"/>
                </a:solidFill>
                <a:latin typeface="Calibri" pitchFamily="34" charset="0"/>
                <a:ea typeface="Calibri" pitchFamily="34" charset="-122"/>
                <a:cs typeface="Calibri" pitchFamily="34" charset="-120"/>
              </a:rPr>
              <a:t>APAC = vùng RegTech tăng nhanh nhất (18,5%)</a:t>
            </a:r>
            <a:endParaRPr lang="en-US" sz="930" dirty="0"/>
          </a:p>
        </p:txBody>
      </p:sp>
      <p:sp>
        <p:nvSpPr>
          <p:cNvPr id="24" name="Shape 22"/>
          <p:cNvSpPr/>
          <p:nvPr/>
        </p:nvSpPr>
        <p:spPr>
          <a:xfrm>
            <a:off x="502920" y="4251960"/>
            <a:ext cx="5532120" cy="2057400"/>
          </a:xfrm>
          <a:prstGeom prst="roundRect">
            <a:avLst>
              <a:gd name="adj" fmla="val 3111"/>
            </a:avLst>
          </a:prstGeom>
          <a:solidFill>
            <a:srgbClr val="10243E"/>
          </a:solidFill>
          <a:ln/>
        </p:spPr>
      </p:sp>
      <p:sp>
        <p:nvSpPr>
          <p:cNvPr id="25" name="Text 23"/>
          <p:cNvSpPr/>
          <p:nvPr/>
        </p:nvSpPr>
        <p:spPr>
          <a:xfrm>
            <a:off x="777240" y="4434840"/>
            <a:ext cx="4937760" cy="256032"/>
          </a:xfrm>
          <a:prstGeom prst="rect">
            <a:avLst/>
          </a:prstGeom>
          <a:noFill/>
          <a:ln/>
        </p:spPr>
        <p:txBody>
          <a:bodyPr wrap="square" lIns="0" tIns="0" rIns="0" bIns="0" rtlCol="0" anchor="ctr"/>
          <a:lstStyle/>
          <a:p>
            <a:pPr indent="0" marL="0">
              <a:buNone/>
            </a:pPr>
            <a:r>
              <a:rPr lang="en-US" sz="1000" b="1" spc="150" kern="0" dirty="0">
                <a:solidFill>
                  <a:srgbClr val="C9A227"/>
                </a:solidFill>
                <a:latin typeface="Calibri" pitchFamily="34" charset="0"/>
                <a:ea typeface="Calibri" pitchFamily="34" charset="-122"/>
                <a:cs typeface="Calibri" pitchFamily="34" charset="-120"/>
              </a:rPr>
              <a:t>VÌ SAO MỞ RỘNG ĐƯỢC</a:t>
            </a:r>
            <a:endParaRPr lang="en-US" sz="1000" dirty="0"/>
          </a:p>
        </p:txBody>
      </p:sp>
      <p:sp>
        <p:nvSpPr>
          <p:cNvPr id="26" name="Text 24"/>
          <p:cNvSpPr/>
          <p:nvPr/>
        </p:nvSpPr>
        <p:spPr>
          <a:xfrm>
            <a:off x="777240" y="4754880"/>
            <a:ext cx="5029200" cy="1463040"/>
          </a:xfrm>
          <a:prstGeom prst="rect">
            <a:avLst/>
          </a:prstGeom>
          <a:noFill/>
          <a:ln/>
        </p:spPr>
        <p:txBody>
          <a:bodyPr wrap="square" lIns="0" tIns="0" rIns="0" bIns="0" rtlCol="0" anchor="t"/>
          <a:lstStyle/>
          <a:p>
            <a:pPr marL="101600" indent="-101600">
              <a:lnSpc>
                <a:spcPct val="104000"/>
              </a:lnSpc>
              <a:spcAft>
                <a:spcPts val="500"/>
              </a:spcAft>
              <a:buSzPct val="100000"/>
              <a:buChar char="•"/>
            </a:pPr>
            <a:r>
              <a:rPr lang="en-US" sz="980" dirty="0">
                <a:solidFill>
                  <a:srgbClr val="D9E6F5"/>
                </a:solidFill>
                <a:latin typeface="Calibri" pitchFamily="34" charset="0"/>
                <a:ea typeface="Calibri" pitchFamily="34" charset="-122"/>
                <a:cs typeface="Calibri" pitchFamily="34" charset="-120"/>
              </a:rPr>
              <a:t>Onboard ngân hàng/domain mới = nạp tài liệu qua Luồng A — không cần code thêm</a:t>
            </a:r>
            <a:endParaRPr lang="en-US" sz="980" dirty="0"/>
          </a:p>
          <a:p>
            <a:pPr marL="101600" indent="-101600">
              <a:lnSpc>
                <a:spcPct val="104000"/>
              </a:lnSpc>
              <a:spcAft>
                <a:spcPts val="500"/>
              </a:spcAft>
              <a:buSzPct val="100000"/>
              <a:buChar char="•"/>
            </a:pPr>
            <a:r>
              <a:rPr lang="en-US" sz="980" dirty="0">
                <a:solidFill>
                  <a:srgbClr val="D9E6F5"/>
                </a:solidFill>
                <a:latin typeface="Calibri" pitchFamily="34" charset="0"/>
                <a:ea typeface="Calibri" pitchFamily="34" charset="-122"/>
                <a:cs typeface="Calibri" pitchFamily="34" charset="-120"/>
              </a:rPr>
              <a:t>Index tách lớp (pháp lý / policy / workspace review) · outbox sync · PostgreSQL là source of truth</a:t>
            </a:r>
            <a:endParaRPr lang="en-US" sz="980" dirty="0"/>
          </a:p>
          <a:p>
            <a:pPr marL="101600" indent="-101600">
              <a:lnSpc>
                <a:spcPct val="104000"/>
              </a:lnSpc>
              <a:spcAft>
                <a:spcPts val="500"/>
              </a:spcAft>
              <a:buSzPct val="100000"/>
              <a:buChar char="•"/>
            </a:pPr>
            <a:r>
              <a:rPr lang="en-US" sz="980" dirty="0">
                <a:solidFill>
                  <a:srgbClr val="D9E6F5"/>
                </a:solidFill>
                <a:latin typeface="Calibri" pitchFamily="34" charset="0"/>
                <a:ea typeface="Calibri" pitchFamily="34" charset="-122"/>
                <a:cs typeface="Calibri" pitchFamily="34" charset="-120"/>
              </a:rPr>
              <a:t>Đóng gói on-premise từng ngân hàng hoặc SaaS multi-tenant từ một codebase · không khóa nhà cung cấp LLM</a:t>
            </a:r>
            <a:endParaRPr lang="en-US" sz="980" dirty="0"/>
          </a:p>
        </p:txBody>
      </p:sp>
      <p:sp>
        <p:nvSpPr>
          <p:cNvPr id="27" name="Shape 25"/>
          <p:cNvSpPr/>
          <p:nvPr/>
        </p:nvSpPr>
        <p:spPr>
          <a:xfrm>
            <a:off x="6172200" y="4251960"/>
            <a:ext cx="5532120" cy="2057400"/>
          </a:xfrm>
          <a:prstGeom prst="roundRect">
            <a:avLst>
              <a:gd name="adj" fmla="val 3111"/>
            </a:avLst>
          </a:prstGeom>
          <a:solidFill>
            <a:srgbClr val="E9F1FA"/>
          </a:solidFill>
          <a:ln/>
        </p:spPr>
      </p:sp>
      <p:sp>
        <p:nvSpPr>
          <p:cNvPr id="28" name="Text 26"/>
          <p:cNvSpPr/>
          <p:nvPr/>
        </p:nvSpPr>
        <p:spPr>
          <a:xfrm>
            <a:off x="6446520" y="4434840"/>
            <a:ext cx="4937760" cy="256032"/>
          </a:xfrm>
          <a:prstGeom prst="rect">
            <a:avLst/>
          </a:prstGeom>
          <a:noFill/>
          <a:ln/>
        </p:spPr>
        <p:txBody>
          <a:bodyPr wrap="square" lIns="0" tIns="0" rIns="0" bIns="0" rtlCol="0" anchor="ctr"/>
          <a:lstStyle/>
          <a:p>
            <a:pPr indent="0" marL="0">
              <a:buNone/>
            </a:pPr>
            <a:r>
              <a:rPr lang="en-US" sz="1000" b="1" spc="100" kern="0" dirty="0">
                <a:solidFill>
                  <a:srgbClr val="1F4E79"/>
                </a:solidFill>
                <a:latin typeface="Calibri" pitchFamily="34" charset="0"/>
                <a:ea typeface="Calibri" pitchFamily="34" charset="-122"/>
                <a:cs typeface="Calibri" pitchFamily="34" charset="-120"/>
              </a:rPr>
              <a:t>7 ƯU TIÊN SCALE-UP — ĐÃ PHỦ</a:t>
            </a:r>
            <a:endParaRPr lang="en-US" sz="1000" dirty="0"/>
          </a:p>
        </p:txBody>
      </p:sp>
      <p:sp>
        <p:nvSpPr>
          <p:cNvPr id="29" name="Text 27"/>
          <p:cNvSpPr/>
          <p:nvPr/>
        </p:nvSpPr>
        <p:spPr>
          <a:xfrm>
            <a:off x="6446520" y="4754880"/>
            <a:ext cx="5029200" cy="256032"/>
          </a:xfrm>
          <a:prstGeom prst="rect">
            <a:avLst/>
          </a:prstGeom>
          <a:noFill/>
          <a:ln/>
        </p:spPr>
        <p:txBody>
          <a:bodyPr wrap="square" lIns="0" tIns="0" rIns="0" bIns="0" rtlCol="0" anchor="ctr"/>
          <a:lstStyle/>
          <a:p>
            <a:pPr indent="0" marL="0">
              <a:buNone/>
            </a:pPr>
            <a:r>
              <a:rPr lang="en-US" sz="920" b="1" dirty="0">
                <a:solidFill>
                  <a:srgbClr val="10243E"/>
                </a:solidFill>
                <a:latin typeface="Calibri" pitchFamily="34" charset="0"/>
                <a:ea typeface="Calibri" pitchFamily="34" charset="-122"/>
                <a:cs typeface="Calibri" pitchFamily="34" charset="-120"/>
              </a:rPr>
              <a:t>Chiến lược:  </a:t>
            </a:r>
            <a:pPr indent="0" marL="0">
              <a:buNone/>
            </a:pPr>
            <a:r>
              <a:rPr lang="en-US" sz="920" dirty="0">
                <a:solidFill>
                  <a:srgbClr val="1A2430"/>
                </a:solidFill>
                <a:latin typeface="Calibri" pitchFamily="34" charset="0"/>
                <a:ea typeface="Calibri" pitchFamily="34" charset="-122"/>
                <a:cs typeface="Calibri" pitchFamily="34" charset="-120"/>
              </a:rPr>
              <a:t>AI dọc cho tuân thủ; khả năng kiểm toán = moat</a:t>
            </a:r>
            <a:endParaRPr lang="en-US" sz="920" dirty="0"/>
          </a:p>
        </p:txBody>
      </p:sp>
      <p:sp>
        <p:nvSpPr>
          <p:cNvPr id="30" name="Text 28"/>
          <p:cNvSpPr/>
          <p:nvPr/>
        </p:nvSpPr>
        <p:spPr>
          <a:xfrm>
            <a:off x="6446520" y="5010912"/>
            <a:ext cx="5029200" cy="256032"/>
          </a:xfrm>
          <a:prstGeom prst="rect">
            <a:avLst/>
          </a:prstGeom>
          <a:noFill/>
          <a:ln/>
        </p:spPr>
        <p:txBody>
          <a:bodyPr wrap="square" lIns="0" tIns="0" rIns="0" bIns="0" rtlCol="0" anchor="ctr"/>
          <a:lstStyle/>
          <a:p>
            <a:pPr indent="0" marL="0">
              <a:buNone/>
            </a:pPr>
            <a:r>
              <a:rPr lang="en-US" sz="920" b="1" dirty="0">
                <a:solidFill>
                  <a:srgbClr val="10243E"/>
                </a:solidFill>
                <a:latin typeface="Calibri" pitchFamily="34" charset="0"/>
                <a:ea typeface="Calibri" pitchFamily="34" charset="-122"/>
                <a:cs typeface="Calibri" pitchFamily="34" charset="-120"/>
              </a:rPr>
              <a:t>Sản phẩm:  </a:t>
            </a:r>
            <a:pPr indent="0" marL="0">
              <a:buNone/>
            </a:pPr>
            <a:r>
              <a:rPr lang="en-US" sz="920" dirty="0">
                <a:solidFill>
                  <a:srgbClr val="1A2430"/>
                </a:solidFill>
                <a:latin typeface="Calibri" pitchFamily="34" charset="0"/>
                <a:ea typeface="Calibri" pitchFamily="34" charset="-122"/>
                <a:cs typeface="Calibri" pitchFamily="34" charset="-120"/>
              </a:rPr>
              <a:t>dư địa lớn — mọi ngành được quản lý</a:t>
            </a:r>
            <a:endParaRPr lang="en-US" sz="920" dirty="0"/>
          </a:p>
        </p:txBody>
      </p:sp>
      <p:sp>
        <p:nvSpPr>
          <p:cNvPr id="31" name="Text 29"/>
          <p:cNvSpPr/>
          <p:nvPr/>
        </p:nvSpPr>
        <p:spPr>
          <a:xfrm>
            <a:off x="6446520" y="5266944"/>
            <a:ext cx="5029200" cy="256032"/>
          </a:xfrm>
          <a:prstGeom prst="rect">
            <a:avLst/>
          </a:prstGeom>
          <a:noFill/>
          <a:ln/>
        </p:spPr>
        <p:txBody>
          <a:bodyPr wrap="square" lIns="0" tIns="0" rIns="0" bIns="0" rtlCol="0" anchor="ctr"/>
          <a:lstStyle/>
          <a:p>
            <a:pPr indent="0" marL="0">
              <a:buNone/>
            </a:pPr>
            <a:r>
              <a:rPr lang="en-US" sz="920" b="1" dirty="0">
                <a:solidFill>
                  <a:srgbClr val="10243E"/>
                </a:solidFill>
                <a:latin typeface="Calibri" pitchFamily="34" charset="0"/>
                <a:ea typeface="Calibri" pitchFamily="34" charset="-122"/>
                <a:cs typeface="Calibri" pitchFamily="34" charset="-120"/>
              </a:rPr>
              <a:t>Con người:  </a:t>
            </a:r>
            <a:pPr indent="0" marL="0">
              <a:buNone/>
            </a:pPr>
            <a:r>
              <a:rPr lang="en-US" sz="920" dirty="0">
                <a:solidFill>
                  <a:srgbClr val="1A2430"/>
                </a:solidFill>
                <a:latin typeface="Calibri" pitchFamily="34" charset="0"/>
                <a:ea typeface="Calibri" pitchFamily="34" charset="-122"/>
                <a:cs typeface="Calibri" pitchFamily="34" charset="-120"/>
              </a:rPr>
              <a:t>chuyên gia tuân thủ + kỹ sư AI</a:t>
            </a:r>
            <a:endParaRPr lang="en-US" sz="920" dirty="0"/>
          </a:p>
        </p:txBody>
      </p:sp>
      <p:sp>
        <p:nvSpPr>
          <p:cNvPr id="32" name="Text 30"/>
          <p:cNvSpPr/>
          <p:nvPr/>
        </p:nvSpPr>
        <p:spPr>
          <a:xfrm>
            <a:off x="6446520" y="5522976"/>
            <a:ext cx="5029200" cy="256032"/>
          </a:xfrm>
          <a:prstGeom prst="rect">
            <a:avLst/>
          </a:prstGeom>
          <a:noFill/>
          <a:ln/>
        </p:spPr>
        <p:txBody>
          <a:bodyPr wrap="square" lIns="0" tIns="0" rIns="0" bIns="0" rtlCol="0" anchor="ctr"/>
          <a:lstStyle/>
          <a:p>
            <a:pPr indent="0" marL="0">
              <a:buNone/>
            </a:pPr>
            <a:r>
              <a:rPr lang="en-US" sz="920" b="1" dirty="0">
                <a:solidFill>
                  <a:srgbClr val="10243E"/>
                </a:solidFill>
                <a:latin typeface="Calibri" pitchFamily="34" charset="0"/>
                <a:ea typeface="Calibri" pitchFamily="34" charset="-122"/>
                <a:cs typeface="Calibri" pitchFamily="34" charset="-120"/>
              </a:rPr>
              <a:t>Hạ tầng:  </a:t>
            </a:r>
            <a:pPr indent="0" marL="0">
              <a:buNone/>
            </a:pPr>
            <a:r>
              <a:rPr lang="en-US" sz="920" dirty="0">
                <a:solidFill>
                  <a:srgbClr val="1A2430"/>
                </a:solidFill>
                <a:latin typeface="Calibri" pitchFamily="34" charset="0"/>
                <a:ea typeface="Calibri" pitchFamily="34" charset="-122"/>
                <a:cs typeface="Calibri" pitchFamily="34" charset="-120"/>
              </a:rPr>
              <a:t>container hóa · không khóa storage &amp; LLM</a:t>
            </a:r>
            <a:endParaRPr lang="en-US" sz="920" dirty="0"/>
          </a:p>
        </p:txBody>
      </p:sp>
      <p:sp>
        <p:nvSpPr>
          <p:cNvPr id="33" name="Text 31"/>
          <p:cNvSpPr/>
          <p:nvPr/>
        </p:nvSpPr>
        <p:spPr>
          <a:xfrm>
            <a:off x="6446520" y="5779008"/>
            <a:ext cx="5029200" cy="256032"/>
          </a:xfrm>
          <a:prstGeom prst="rect">
            <a:avLst/>
          </a:prstGeom>
          <a:noFill/>
          <a:ln/>
        </p:spPr>
        <p:txBody>
          <a:bodyPr wrap="square" lIns="0" tIns="0" rIns="0" bIns="0" rtlCol="0" anchor="ctr"/>
          <a:lstStyle/>
          <a:p>
            <a:pPr indent="0" marL="0">
              <a:buNone/>
            </a:pPr>
            <a:r>
              <a:rPr lang="en-US" sz="920" b="1" dirty="0">
                <a:solidFill>
                  <a:srgbClr val="10243E"/>
                </a:solidFill>
                <a:latin typeface="Calibri" pitchFamily="34" charset="0"/>
                <a:ea typeface="Calibri" pitchFamily="34" charset="-122"/>
                <a:cs typeface="Calibri" pitchFamily="34" charset="-120"/>
              </a:rPr>
              <a:t>Thực thi:  </a:t>
            </a:r>
            <a:pPr indent="0" marL="0">
              <a:buNone/>
            </a:pPr>
            <a:r>
              <a:rPr lang="en-US" sz="920" dirty="0">
                <a:solidFill>
                  <a:srgbClr val="1A2430"/>
                </a:solidFill>
                <a:latin typeface="Calibri" pitchFamily="34" charset="0"/>
                <a:ea typeface="Calibri" pitchFamily="34" charset="-122"/>
                <a:cs typeface="Calibri" pitchFamily="34" charset="-120"/>
              </a:rPr>
              <a:t>playbook pilot→license lặp lại được (~6 tuần)</a:t>
            </a:r>
            <a:endParaRPr lang="en-US" sz="920" dirty="0"/>
          </a:p>
        </p:txBody>
      </p:sp>
      <p:sp>
        <p:nvSpPr>
          <p:cNvPr id="34" name="Text 32"/>
          <p:cNvSpPr/>
          <p:nvPr/>
        </p:nvSpPr>
        <p:spPr>
          <a:xfrm>
            <a:off x="6446520" y="6035040"/>
            <a:ext cx="5029200" cy="256032"/>
          </a:xfrm>
          <a:prstGeom prst="rect">
            <a:avLst/>
          </a:prstGeom>
          <a:noFill/>
          <a:ln/>
        </p:spPr>
        <p:txBody>
          <a:bodyPr wrap="square" lIns="0" tIns="0" rIns="0" bIns="0" rtlCol="0" anchor="ctr"/>
          <a:lstStyle/>
          <a:p>
            <a:pPr indent="0" marL="0">
              <a:buNone/>
            </a:pPr>
            <a:r>
              <a:rPr lang="en-US" sz="920" b="1" dirty="0">
                <a:solidFill>
                  <a:srgbClr val="10243E"/>
                </a:solidFill>
                <a:latin typeface="Calibri" pitchFamily="34" charset="0"/>
                <a:ea typeface="Calibri" pitchFamily="34" charset="-122"/>
                <a:cs typeface="Calibri" pitchFamily="34" charset="-120"/>
              </a:rPr>
              <a:t>Tài chính:  </a:t>
            </a:r>
            <a:pPr indent="0" marL="0">
              <a:buNone/>
            </a:pPr>
            <a:r>
              <a:rPr lang="en-US" sz="920" dirty="0">
                <a:solidFill>
                  <a:srgbClr val="1A2430"/>
                </a:solidFill>
                <a:latin typeface="Calibri" pitchFamily="34" charset="0"/>
                <a:ea typeface="Calibri" pitchFamily="34" charset="-122"/>
                <a:cs typeface="Calibri" pitchFamily="34" charset="-120"/>
              </a:rPr>
              <a:t>license + phí triển khai nuôi mở rộng; chi phí LLM thấp</a:t>
            </a:r>
            <a:endParaRPr lang="en-US" sz="920" dirty="0"/>
          </a:p>
        </p:txBody>
      </p:sp>
      <p:sp>
        <p:nvSpPr>
          <p:cNvPr id="35" name="Text 33"/>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36" name="Text 34"/>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9A7A14"/>
                </a:solidFill>
                <a:latin typeface="Calibri" pitchFamily="34" charset="0"/>
                <a:ea typeface="Calibri" pitchFamily="34" charset="-122"/>
                <a:cs typeface="Calibri" pitchFamily="34" charset="-120"/>
              </a:rPr>
              <a:t>BẰNG CHỨNG ĐO ĐƯỢC — VÀ GIỚI HẠN NÓI THẲNG</a:t>
            </a:r>
            <a:endParaRPr lang="en-US" sz="1100" dirty="0"/>
          </a:p>
        </p:txBody>
      </p:sp>
      <p:sp>
        <p:nvSpPr>
          <p:cNvPr id="3" name="Text 1"/>
          <p:cNvSpPr/>
          <p:nvPr/>
        </p:nvSpPr>
        <p:spPr>
          <a:xfrm>
            <a:off x="502920" y="521208"/>
            <a:ext cx="11155680" cy="585216"/>
          </a:xfrm>
          <a:prstGeom prst="rect">
            <a:avLst/>
          </a:prstGeom>
          <a:noFill/>
          <a:ln/>
        </p:spPr>
        <p:txBody>
          <a:bodyPr wrap="square" lIns="0" tIns="0" rIns="0" bIns="0" rtlCol="0" anchor="ctr"/>
          <a:lstStyle/>
          <a:p>
            <a:pPr indent="0" marL="0">
              <a:buNone/>
            </a:pPr>
            <a:r>
              <a:rPr lang="en-US" sz="2600" b="1" dirty="0">
                <a:solidFill>
                  <a:srgbClr val="10243E"/>
                </a:solidFill>
                <a:latin typeface="Cambria" pitchFamily="34" charset="0"/>
                <a:ea typeface="Cambria" pitchFamily="34" charset="-122"/>
                <a:cs typeface="Cambria" pitchFamily="34" charset="-120"/>
              </a:rPr>
              <a:t>Đối đầu Standard RAG (22 câu hỏi vàng)</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852160" cy="914400"/>
        </p:xfrm>
        <a:graphic>
          <a:graphicData uri="http://schemas.openxmlformats.org/drawingml/2006/table">
            <a:tbl>
              <a:tblPr/>
              <a:tblGrid>
                <a:gridCol w="3291840"/>
                <a:gridCol w="1280160"/>
                <a:gridCol w="1280160"/>
              </a:tblGrid>
              <a:tr h="4754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Chỉ số (độc lập LLM)</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10243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RegVault</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10243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Standard RAG</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10243E"/>
                    </a:solidFill>
                  </a:tcPr>
                </a:tc>
              </a:tr>
              <a:tr h="475488">
                <a:tc>
                  <a:txBody>
                    <a:bodyPr/>
                    <a:lstStyle/>
                    <a:p>
                      <a:pPr indent="0" marL="0">
                        <a:buNone/>
                      </a:pPr>
                      <a:r>
                        <a:rPr lang="en-US" sz="1050" dirty="0">
                          <a:solidFill>
                            <a:srgbClr val="1A2430"/>
                          </a:solidFill>
                          <a:latin typeface="Calibri" pitchFamily="34" charset="0"/>
                          <a:ea typeface="Calibri" pitchFamily="34" charset="-122"/>
                          <a:cs typeface="Calibri" pitchFamily="34" charset="-120"/>
                        </a:rPr>
                        <a:t>Chính xác theo thời điểm (point-in-time)</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4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3261E"/>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0"/>
                          </a:solidFill>
                          <a:latin typeface="Calibri" pitchFamily="34" charset="0"/>
                          <a:ea typeface="Calibri" pitchFamily="34" charset="-122"/>
                          <a:cs typeface="Calibri" pitchFamily="34" charset="-120"/>
                        </a:rPr>
                        <a:t>Truy hồi tham chiếu chéo</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4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3261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0"/>
                          </a:solidFill>
                          <a:latin typeface="Calibri" pitchFamily="34" charset="0"/>
                          <a:ea typeface="Calibri" pitchFamily="34" charset="-122"/>
                          <a:cs typeface="Calibri" pitchFamily="34" charset="-120"/>
                        </a:rPr>
                        <a:t>Độ chính xác phát hiện policy lỗi thời</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4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3261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0"/>
                          </a:solidFill>
                          <a:latin typeface="Calibri" pitchFamily="34" charset="0"/>
                          <a:ea typeface="Calibri" pitchFamily="34" charset="-122"/>
                          <a:cs typeface="Calibri" pitchFamily="34" charset="-120"/>
                        </a:rPr>
                        <a:t>Tỷ lệ bằng chứng đã bị thay thế (thấp = tốt)</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46"/>
                          </a:solidFill>
                          <a:latin typeface="Calibri" pitchFamily="34" charset="0"/>
                          <a:ea typeface="Calibri" pitchFamily="34" charset="-122"/>
                          <a:cs typeface="Calibri" pitchFamily="34" charset="-120"/>
                        </a:rPr>
                        <a:t>26,3%</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3261E"/>
                          </a:solidFill>
                          <a:latin typeface="Calibri" pitchFamily="34" charset="0"/>
                          <a:ea typeface="Calibri" pitchFamily="34" charset="-122"/>
                          <a:cs typeface="Calibri" pitchFamily="34" charset="-120"/>
                        </a:rPr>
                        <a:t>52,6%</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0"/>
                          </a:solidFill>
                          <a:latin typeface="Calibri" pitchFamily="34" charset="0"/>
                          <a:ea typeface="Calibri" pitchFamily="34" charset="-122"/>
                          <a:cs typeface="Calibri" pitchFamily="34" charset="-120"/>
                        </a:rPr>
                        <a:t>Chính xác khi từ chối trả lời (abstention)</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46"/>
                          </a:solidFill>
                          <a:latin typeface="Calibri" pitchFamily="34" charset="0"/>
                          <a:ea typeface="Calibri" pitchFamily="34" charset="-122"/>
                          <a:cs typeface="Calibri" pitchFamily="34" charset="-120"/>
                        </a:rPr>
                        <a:t>90,9%</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B3261E"/>
                          </a:solidFill>
                          <a:latin typeface="Calibri" pitchFamily="34" charset="0"/>
                          <a:ea typeface="Calibri" pitchFamily="34" charset="-122"/>
                          <a:cs typeface="Calibri" pitchFamily="34" charset="-120"/>
                        </a:rPr>
                        <a:t>86,4%</a:t>
                      </a:r>
                      <a:endParaRPr lang="en-US" sz="1050" dirty="0">
                        <a:latin typeface="Calibri" charset="0"/>
                        <a:ea typeface="Calibri" charset="0"/>
                        <a:cs typeface="Calibri" charset="0"/>
                      </a:endParaRPr>
                    </a:p>
                  </a:txBody>
                  <a:tcPr marL="91440" marR="91440" marT="45720" marB="45720" anchor="ctr">
                    <a:lnL w="9525" cap="flat" cmpd="sng" algn="ctr">
                      <a:solidFill>
                        <a:srgbClr val="D7DFEA"/>
                      </a:solidFill>
                      <a:prstDash val="solid"/>
                      <a:round/>
                      <a:headEnd type="none" w="med" len="med"/>
                      <a:tailEnd type="none" w="med" len="med"/>
                    </a:lnL>
                    <a:lnR w="9525" cap="flat" cmpd="sng" algn="ctr">
                      <a:solidFill>
                        <a:srgbClr val="D7DFEA"/>
                      </a:solidFill>
                      <a:prstDash val="solid"/>
                      <a:round/>
                      <a:headEnd type="none" w="med" len="med"/>
                      <a:tailEnd type="none" w="med" len="med"/>
                    </a:lnR>
                    <a:lnT w="9525" cap="flat" cmpd="sng" algn="ctr">
                      <a:solidFill>
                        <a:srgbClr val="D7DFEA"/>
                      </a:solidFill>
                      <a:prstDash val="solid"/>
                      <a:round/>
                      <a:headEnd type="none" w="med" len="med"/>
                      <a:tailEnd type="none" w="med" len="med"/>
                    </a:lnT>
                    <a:lnB w="9525" cap="flat" cmpd="sng" algn="ctr">
                      <a:solidFill>
                        <a:srgbClr val="D7DFEA"/>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4526280"/>
            <a:ext cx="5760720" cy="685800"/>
          </a:xfrm>
          <a:prstGeom prst="rect">
            <a:avLst/>
          </a:prstGeom>
          <a:noFill/>
          <a:ln/>
        </p:spPr>
        <p:txBody>
          <a:bodyPr wrap="square" lIns="0" tIns="0" rIns="0" bIns="0" rtlCol="0" anchor="t"/>
          <a:lstStyle/>
          <a:p>
            <a:pPr indent="0" marL="0">
              <a:buNone/>
            </a:pPr>
            <a:r>
              <a:rPr lang="en-US" sz="950" i="1" dirty="0">
                <a:solidFill>
                  <a:srgbClr val="5B6B7C"/>
                </a:solidFill>
                <a:latin typeface="Calibri" pitchFamily="34" charset="0"/>
                <a:ea typeface="Calibri" pitchFamily="34" charset="-122"/>
                <a:cs typeface="Calibri" pitchFamily="34" charset="-120"/>
              </a:rPr>
              <a:t>Các chỉ số này do code tất định + graph quyết — đúng bất kể LLM nào viết văn. Tái lập: python -m eval.run_eval</a:t>
            </a:r>
            <a:endParaRPr lang="en-US" sz="950" dirty="0"/>
          </a:p>
        </p:txBody>
      </p:sp>
      <p:sp>
        <p:nvSpPr>
          <p:cNvPr id="6" name="Shape 3"/>
          <p:cNvSpPr/>
          <p:nvPr/>
        </p:nvSpPr>
        <p:spPr>
          <a:xfrm>
            <a:off x="502920" y="5257800"/>
            <a:ext cx="5852160" cy="1051560"/>
          </a:xfrm>
          <a:prstGeom prst="roundRect">
            <a:avLst>
              <a:gd name="adj" fmla="val 6087"/>
            </a:avLst>
          </a:prstGeom>
          <a:solidFill>
            <a:srgbClr val="E9F1FA"/>
          </a:solidFill>
          <a:ln/>
        </p:spPr>
      </p:sp>
      <p:sp>
        <p:nvSpPr>
          <p:cNvPr id="7" name="Text 4"/>
          <p:cNvSpPr/>
          <p:nvPr/>
        </p:nvSpPr>
        <p:spPr>
          <a:xfrm>
            <a:off x="731520" y="5413248"/>
            <a:ext cx="5440680" cy="777240"/>
          </a:xfrm>
          <a:prstGeom prst="rect">
            <a:avLst/>
          </a:prstGeom>
          <a:noFill/>
          <a:ln/>
        </p:spPr>
        <p:txBody>
          <a:bodyPr wrap="square" lIns="0" tIns="0" rIns="0" bIns="0" rtlCol="0" anchor="t"/>
          <a:lstStyle/>
          <a:p>
            <a:pPr indent="0" marL="0">
              <a:lnSpc>
                <a:spcPct val="108000"/>
              </a:lnSpc>
              <a:buNone/>
            </a:pPr>
            <a:r>
              <a:rPr lang="en-US" sz="980" b="1" dirty="0">
                <a:solidFill>
                  <a:srgbClr val="10243E"/>
                </a:solidFill>
                <a:latin typeface="Calibri" pitchFamily="34" charset="0"/>
                <a:ea typeface="Calibri" pitchFamily="34" charset="-122"/>
                <a:cs typeface="Calibri" pitchFamily="34" charset="-120"/>
              </a:rPr>
              <a:t>9/9 kiểm tra nghiệm thu tất định pass trực tiếp: </a:t>
            </a:r>
            <a:pPr indent="0" marL="0">
              <a:lnSpc>
                <a:spcPct val="108000"/>
              </a:lnSpc>
              <a:buNone/>
            </a:pPr>
            <a:r>
              <a:rPr lang="en-US" sz="980" dirty="0">
                <a:solidFill>
                  <a:srgbClr val="1A2430"/>
                </a:solidFill>
                <a:latin typeface="Calibri" pitchFamily="34" charset="0"/>
                <a:ea typeface="Calibri" pitchFamily="34" charset="-122"/>
                <a:cs typeface="Calibri" pitchFamily="34" charset="-120"/>
              </a:rPr>
              <a:t>trả lời theo thời điểm, trích dẫn đúng, từ chối khi thiếu bằng chứng, cờ xung đột (700 vs 600), radar policy lỗi thời, so sánh đối đầu.</a:t>
            </a:r>
            <a:endParaRPr lang="en-US" sz="980" dirty="0"/>
          </a:p>
        </p:txBody>
      </p:sp>
      <p:sp>
        <p:nvSpPr>
          <p:cNvPr id="8" name="Shape 5"/>
          <p:cNvSpPr/>
          <p:nvPr/>
        </p:nvSpPr>
        <p:spPr>
          <a:xfrm>
            <a:off x="6720840" y="1417320"/>
            <a:ext cx="4965192" cy="4892040"/>
          </a:xfrm>
          <a:prstGeom prst="roundRect">
            <a:avLst>
              <a:gd name="adj" fmla="val 1308"/>
            </a:avLst>
          </a:prstGeom>
          <a:solidFill>
            <a:srgbClr val="10243E"/>
          </a:solidFill>
          <a:ln/>
        </p:spPr>
      </p:sp>
      <p:sp>
        <p:nvSpPr>
          <p:cNvPr id="9" name="Text 6"/>
          <p:cNvSpPr/>
          <p:nvPr/>
        </p:nvSpPr>
        <p:spPr>
          <a:xfrm>
            <a:off x="7022592" y="1627632"/>
            <a:ext cx="438912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NHỮNG ĐIỀU KHÔNG TUYÊN BỐ</a:t>
            </a:r>
            <a:endParaRPr lang="en-US" sz="1100" dirty="0"/>
          </a:p>
        </p:txBody>
      </p:sp>
      <p:sp>
        <p:nvSpPr>
          <p:cNvPr id="10" name="Text 7"/>
          <p:cNvSpPr/>
          <p:nvPr/>
        </p:nvSpPr>
        <p:spPr>
          <a:xfrm>
            <a:off x="7022592" y="2057400"/>
            <a:ext cx="4389120" cy="4023360"/>
          </a:xfrm>
          <a:prstGeom prst="rect">
            <a:avLst/>
          </a:prstGeom>
          <a:noFill/>
          <a:ln/>
        </p:spPr>
        <p:txBody>
          <a:bodyPr wrap="square" lIns="0" tIns="0" rIns="0" bIns="0" rtlCol="0" anchor="t"/>
          <a:lstStyle/>
          <a:p>
            <a:pPr marL="101600" indent="-101600">
              <a:lnSpc>
                <a:spcPct val="104000"/>
              </a:lnSpc>
              <a:spcAft>
                <a:spcPts val="800"/>
              </a:spcAft>
              <a:buSzPct val="100000"/>
              <a:buChar char="•"/>
            </a:pPr>
            <a:r>
              <a:rPr lang="en-US" sz="1000" dirty="0">
                <a:solidFill>
                  <a:srgbClr val="D9E6F5"/>
                </a:solidFill>
                <a:latin typeface="Calibri" pitchFamily="34" charset="0"/>
                <a:ea typeface="Calibri" pitchFamily="34" charset="-122"/>
                <a:cs typeface="Calibri" pitchFamily="34" charset="-120"/>
              </a:rPr>
              <a:t>Không phải “chatbot GraphRAG” — là nền tảng luồng nghiệp vụ tuân thủ</a:t>
            </a:r>
            <a:endParaRPr lang="en-US" sz="1000" dirty="0"/>
          </a:p>
          <a:p>
            <a:pPr marL="101600" indent="-101600">
              <a:lnSpc>
                <a:spcPct val="104000"/>
              </a:lnSpc>
              <a:spcAft>
                <a:spcPts val="800"/>
              </a:spcAft>
              <a:buSzPct val="100000"/>
              <a:buChar char="•"/>
            </a:pPr>
            <a:r>
              <a:rPr lang="en-US" sz="1000" dirty="0">
                <a:solidFill>
                  <a:srgbClr val="D9E6F5"/>
                </a:solidFill>
                <a:latin typeface="Calibri" pitchFamily="34" charset="0"/>
                <a:ea typeface="Calibri" pitchFamily="34" charset="-122"/>
                <a:cs typeface="Calibri" pitchFamily="34" charset="-120"/>
              </a:rPr>
              <a:t>Không tự đưa kết luận pháp lý cuối cùng: AI đề xuất, cán bộ Tuân thủ quyết định</a:t>
            </a:r>
            <a:endParaRPr lang="en-US" sz="1000" dirty="0"/>
          </a:p>
          <a:p>
            <a:pPr marL="101600" indent="-101600">
              <a:lnSpc>
                <a:spcPct val="104000"/>
              </a:lnSpc>
              <a:spcAft>
                <a:spcPts val="800"/>
              </a:spcAft>
              <a:buSzPct val="100000"/>
              <a:buChar char="•"/>
            </a:pPr>
            <a:r>
              <a:rPr lang="en-US" sz="1000" dirty="0">
                <a:solidFill>
                  <a:srgbClr val="D9E6F5"/>
                </a:solidFill>
                <a:latin typeface="Calibri" pitchFamily="34" charset="0"/>
                <a:ea typeface="Calibri" pitchFamily="34" charset="-122"/>
                <a:cs typeface="Calibri" pitchFamily="34" charset="-120"/>
              </a:rPr>
              <a:t>File upload không bao giờ tự động vào kho tri thức</a:t>
            </a:r>
            <a:endParaRPr lang="en-US" sz="1000" dirty="0"/>
          </a:p>
          <a:p>
            <a:pPr marL="101600" indent="-101600">
              <a:lnSpc>
                <a:spcPct val="104000"/>
              </a:lnSpc>
              <a:spcAft>
                <a:spcPts val="800"/>
              </a:spcAft>
              <a:buSzPct val="100000"/>
              <a:buChar char="•"/>
            </a:pPr>
            <a:r>
              <a:rPr lang="en-US" sz="1000" dirty="0">
                <a:solidFill>
                  <a:srgbClr val="D9E6F5"/>
                </a:solidFill>
                <a:latin typeface="Calibri" pitchFamily="34" charset="0"/>
                <a:ea typeface="Calibri" pitchFamily="34" charset="-122"/>
                <a:cs typeface="Calibri" pitchFamily="34" charset="-120"/>
              </a:rPr>
              <a:t>Kết quả xung đột &amp; tác động là ứng viên chờ người duyệt, không phải phán quyết</a:t>
            </a:r>
            <a:endParaRPr lang="en-US" sz="1000" dirty="0"/>
          </a:p>
          <a:p>
            <a:pPr marL="101600" indent="-101600">
              <a:lnSpc>
                <a:spcPct val="104000"/>
              </a:lnSpc>
              <a:spcAft>
                <a:spcPts val="800"/>
              </a:spcAft>
              <a:buSzPct val="100000"/>
              <a:buChar char="•"/>
            </a:pPr>
            <a:r>
              <a:rPr lang="en-US" sz="1000" dirty="0">
                <a:solidFill>
                  <a:srgbClr val="D9E6F5"/>
                </a:solidFill>
                <a:latin typeface="Calibri" pitchFamily="34" charset="0"/>
                <a:ea typeface="Calibri" pitchFamily="34" charset="-122"/>
                <a:cs typeface="Calibri" pitchFamily="34" charset="-120"/>
              </a:rPr>
              <a:t>Các số phụ thuộc generation đo bằng mock LLM offline — cận dưới, nói rõ</a:t>
            </a:r>
            <a:endParaRPr lang="en-US" sz="1000" dirty="0"/>
          </a:p>
          <a:p>
            <a:pPr marL="101600" indent="-101600">
              <a:lnSpc>
                <a:spcPct val="104000"/>
              </a:lnSpc>
              <a:spcAft>
                <a:spcPts val="800"/>
              </a:spcAft>
              <a:buSzPct val="100000"/>
              <a:buChar char="•"/>
            </a:pPr>
            <a:r>
              <a:rPr lang="en-US" sz="1000" dirty="0">
                <a:solidFill>
                  <a:srgbClr val="D9E6F5"/>
                </a:solidFill>
                <a:latin typeface="Calibri" pitchFamily="34" charset="0"/>
                <a:ea typeface="Calibri" pitchFamily="34" charset="-122"/>
                <a:cs typeface="Calibri" pitchFamily="34" charset="-120"/>
              </a:rPr>
              <a:t>Giới hạn hiện tại: OCR font scan cũ chưa bật · claim thuần ngữ nghĩa chuyển người duyệt · xuất DOCX/PDF là roadmap</a:t>
            </a:r>
            <a:endParaRPr lang="en-US" sz="1000" dirty="0"/>
          </a:p>
        </p:txBody>
      </p:sp>
      <p:sp>
        <p:nvSpPr>
          <p:cNvPr id="11" name="Text 8"/>
          <p:cNvSpPr/>
          <p:nvPr/>
        </p:nvSpPr>
        <p:spPr>
          <a:xfrm>
            <a:off x="7022592" y="5897880"/>
            <a:ext cx="4389120" cy="365760"/>
          </a:xfrm>
          <a:prstGeom prst="rect">
            <a:avLst/>
          </a:prstGeom>
          <a:noFill/>
          <a:ln/>
        </p:spPr>
        <p:txBody>
          <a:bodyPr wrap="square" lIns="0" tIns="0" rIns="0" bIns="0" rtlCol="0" anchor="ctr"/>
          <a:lstStyle/>
          <a:p>
            <a:pPr indent="0" marL="0">
              <a:buNone/>
            </a:pPr>
            <a:r>
              <a:rPr lang="en-US" sz="1050" i="1" dirty="0">
                <a:solidFill>
                  <a:srgbClr val="C9A227"/>
                </a:solidFill>
                <a:latin typeface="Cambria" pitchFamily="34" charset="0"/>
                <a:ea typeface="Cambria" pitchFamily="34" charset="-122"/>
                <a:cs typeface="Cambria" pitchFamily="34" charset="-120"/>
              </a:rPr>
              <a:t>Trung thực về giới hạn chính là một tính năng của sản phẩm tuân thủ.</a:t>
            </a:r>
            <a:endParaRPr lang="en-US" sz="1050" dirty="0"/>
          </a:p>
        </p:txBody>
      </p:sp>
      <p:sp>
        <p:nvSpPr>
          <p:cNvPr id="12" name="Text 9"/>
          <p:cNvSpPr/>
          <p:nvPr/>
        </p:nvSpPr>
        <p:spPr>
          <a:xfrm>
            <a:off x="502920" y="6528816"/>
            <a:ext cx="5943600" cy="219456"/>
          </a:xfrm>
          <a:prstGeom prst="rect">
            <a:avLst/>
          </a:prstGeom>
          <a:noFill/>
          <a:ln/>
        </p:spPr>
        <p:txBody>
          <a:bodyPr wrap="square" lIns="0" tIns="0" rIns="0" bIns="0" rtlCol="0" anchor="ctr"/>
          <a:lstStyle/>
          <a:p>
            <a:pPr indent="0" marL="0">
              <a:buNone/>
            </a:pPr>
            <a:r>
              <a:rPr lang="en-US" sz="800" dirty="0">
                <a:solidFill>
                  <a:srgbClr val="5B6B7C"/>
                </a:solidFill>
                <a:latin typeface="Calibri" pitchFamily="34" charset="0"/>
                <a:ea typeface="Calibri" pitchFamily="34" charset="-122"/>
                <a:cs typeface="Calibri" pitchFamily="34" charset="-120"/>
              </a:rPr>
              <a:t>RegVault · VAIC 2026 · Check-point 1: Idea Evaluation</a:t>
            </a:r>
            <a:endParaRPr lang="en-US" sz="800" dirty="0"/>
          </a:p>
        </p:txBody>
      </p:sp>
      <p:sp>
        <p:nvSpPr>
          <p:cNvPr id="13" name="Text 10"/>
          <p:cNvSpPr/>
          <p:nvPr/>
        </p:nvSpPr>
        <p:spPr>
          <a:xfrm>
            <a:off x="11430000" y="6528816"/>
            <a:ext cx="365760" cy="219456"/>
          </a:xfrm>
          <a:prstGeom prst="rect">
            <a:avLst/>
          </a:prstGeom>
          <a:noFill/>
          <a:ln/>
        </p:spPr>
        <p:txBody>
          <a:bodyPr wrap="square" lIns="0" tIns="0" rIns="0" bIns="0" rtlCol="0" anchor="ctr"/>
          <a:lstStyle/>
          <a:p>
            <a:pPr algn="r" indent="0" marL="0">
              <a:buNone/>
            </a:pPr>
            <a:r>
              <a:rPr lang="en-US" sz="800" dirty="0">
                <a:solidFill>
                  <a:srgbClr val="5B6B7C"/>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43E"/>
        </a:solidFill>
      </p:bgPr>
    </p:bg>
    <p:spTree>
      <p:nvGrpSpPr>
        <p:cNvPr id="1" name=""/>
        <p:cNvGrpSpPr/>
        <p:nvPr/>
      </p:nvGrpSpPr>
      <p:grpSpPr>
        <a:xfrm>
          <a:off x="0" y="0"/>
          <a:ext cx="0" cy="0"/>
          <a:chOff x="0" y="0"/>
          <a:chExt cx="0" cy="0"/>
        </a:xfrm>
      </p:grpSpPr>
      <p:sp>
        <p:nvSpPr>
          <p:cNvPr id="2" name="Shape 0"/>
          <p:cNvSpPr/>
          <p:nvPr/>
        </p:nvSpPr>
        <p:spPr>
          <a:xfrm>
            <a:off x="5660136" y="868680"/>
            <a:ext cx="868680" cy="868680"/>
          </a:xfrm>
          <a:prstGeom prst="ellipse">
            <a:avLst/>
          </a:prstGeom>
          <a:solidFill>
            <a:srgbClr val="C9A227"/>
          </a:solidFill>
          <a:ln/>
        </p:spPr>
      </p:sp>
      <p:pic>
        <p:nvPicPr>
          <p:cNvPr id="3" name="Image 0" descr="icons/shield_n.png">    </p:cNvPr>
          <p:cNvPicPr>
            <a:picLocks noChangeAspect="1"/>
          </p:cNvPicPr>
          <p:nvPr/>
        </p:nvPicPr>
        <p:blipFill>
          <a:blip r:embed="rId1"/>
          <a:stretch>
            <a:fillRect/>
          </a:stretch>
        </p:blipFill>
        <p:spPr>
          <a:xfrm>
            <a:off x="5879592" y="1088136"/>
            <a:ext cx="429768" cy="429768"/>
          </a:xfrm>
          <a:prstGeom prst="rect">
            <a:avLst/>
          </a:prstGeom>
        </p:spPr>
      </p:pic>
      <p:sp>
        <p:nvSpPr>
          <p:cNvPr id="4" name="Text 1"/>
          <p:cNvSpPr/>
          <p:nvPr/>
        </p:nvSpPr>
        <p:spPr>
          <a:xfrm>
            <a:off x="914400" y="2057400"/>
            <a:ext cx="10360152" cy="1188720"/>
          </a:xfrm>
          <a:prstGeom prst="rect">
            <a:avLst/>
          </a:prstGeom>
          <a:noFill/>
          <a:ln/>
        </p:spPr>
        <p:txBody>
          <a:bodyPr wrap="square" lIns="0" tIns="0" rIns="0" bIns="0" rtlCol="0" anchor="ctr"/>
          <a:lstStyle/>
          <a:p>
            <a:pPr algn="ctr" indent="0" marL="0">
              <a:lnSpc>
                <a:spcPct val="115000"/>
              </a:lnSpc>
              <a:buNone/>
            </a:pPr>
            <a:r>
              <a:rPr lang="en-US" sz="2200" b="1" dirty="0">
                <a:solidFill>
                  <a:srgbClr val="FFFFFF"/>
                </a:solidFill>
                <a:latin typeface="Cambria" pitchFamily="34" charset="0"/>
                <a:ea typeface="Cambria" pitchFamily="34" charset="-122"/>
                <a:cs typeface="Cambria" pitchFamily="34" charset="-120"/>
              </a:rPr>
              <a:t>Một luồng xác minh quy định trước khi vào két.</a:t>
            </a:r>
            <a:endParaRPr lang="en-US" sz="2200" dirty="0"/>
          </a:p>
          <a:p>
            <a:pPr algn="ctr" indent="0" marL="0">
              <a:lnSpc>
                <a:spcPct val="115000"/>
              </a:lnSpc>
              <a:buNone/>
            </a:pPr>
            <a:r>
              <a:rPr lang="en-US" sz="2200" b="1" dirty="0">
                <a:solidFill>
                  <a:srgbClr val="FFFFFF"/>
                </a:solidFill>
                <a:latin typeface="Cambria" pitchFamily="34" charset="0"/>
                <a:ea typeface="Cambria" pitchFamily="34" charset="-122"/>
                <a:cs typeface="Cambria" pitchFamily="34" charset="-120"/>
              </a:rPr>
              <a:t>Một luồng dùng két đã xác minh để kiểm tra mọi policy và báo cáo.</a:t>
            </a:r>
            <a:endParaRPr lang="en-US" sz="2200" dirty="0"/>
          </a:p>
        </p:txBody>
      </p:sp>
      <p:sp>
        <p:nvSpPr>
          <p:cNvPr id="5" name="Text 2"/>
          <p:cNvSpPr/>
          <p:nvPr/>
        </p:nvSpPr>
        <p:spPr>
          <a:xfrm>
            <a:off x="1371600" y="3429000"/>
            <a:ext cx="9445752" cy="457200"/>
          </a:xfrm>
          <a:prstGeom prst="rect">
            <a:avLst/>
          </a:prstGeom>
          <a:noFill/>
          <a:ln/>
        </p:spPr>
        <p:txBody>
          <a:bodyPr wrap="square" lIns="0" tIns="0" rIns="0" bIns="0" rtlCol="0" anchor="ctr"/>
          <a:lstStyle/>
          <a:p>
            <a:pPr algn="ctr" indent="0" marL="0">
              <a:buNone/>
            </a:pPr>
            <a:r>
              <a:rPr lang="en-US" sz="1400" i="1" dirty="0">
                <a:solidFill>
                  <a:srgbClr val="BFD5EC"/>
                </a:solidFill>
                <a:latin typeface="Calibri" pitchFamily="34" charset="0"/>
                <a:ea typeface="Calibri" pitchFamily="34" charset="-122"/>
                <a:cs typeface="Calibri" pitchFamily="34" charset="-120"/>
              </a:rPr>
              <a:t>Không tài liệu nào thành căn cứ chỉ vì được upload — và mọi câu trả lời đều đối diện được với kiểm toán.</a:t>
            </a:r>
            <a:endParaRPr lang="en-US" sz="1400" dirty="0"/>
          </a:p>
        </p:txBody>
      </p:sp>
      <p:sp>
        <p:nvSpPr>
          <p:cNvPr id="6" name="Shape 3"/>
          <p:cNvSpPr/>
          <p:nvPr/>
        </p:nvSpPr>
        <p:spPr>
          <a:xfrm>
            <a:off x="2651760" y="4343400"/>
            <a:ext cx="6885432" cy="777240"/>
          </a:xfrm>
          <a:prstGeom prst="roundRect">
            <a:avLst>
              <a:gd name="adj" fmla="val 11765"/>
            </a:avLst>
          </a:prstGeom>
          <a:solidFill>
            <a:srgbClr val="C9A227"/>
          </a:solidFill>
          <a:ln/>
        </p:spPr>
      </p:sp>
      <p:sp>
        <p:nvSpPr>
          <p:cNvPr id="7" name="Text 4"/>
          <p:cNvSpPr/>
          <p:nvPr/>
        </p:nvSpPr>
        <p:spPr>
          <a:xfrm>
            <a:off x="2651760" y="4343400"/>
            <a:ext cx="6885432" cy="777240"/>
          </a:xfrm>
          <a:prstGeom prst="rect">
            <a:avLst/>
          </a:prstGeom>
          <a:noFill/>
          <a:ln/>
        </p:spPr>
        <p:txBody>
          <a:bodyPr wrap="square" lIns="0" tIns="0" rIns="0" bIns="0" rtlCol="0" anchor="ctr"/>
          <a:lstStyle/>
          <a:p>
            <a:pPr algn="ctr" indent="0" marL="0">
              <a:buNone/>
            </a:pPr>
            <a:r>
              <a:rPr lang="en-US" sz="1400" b="1" dirty="0">
                <a:solidFill>
                  <a:srgbClr val="10243E"/>
                </a:solidFill>
                <a:latin typeface="Calibri" pitchFamily="34" charset="0"/>
                <a:ea typeface="Calibri" pitchFamily="34" charset="-122"/>
                <a:cs typeface="Calibri" pitchFamily="34" charset="-120"/>
              </a:rPr>
              <a:t>Sẵn sàng pilot cùng SHB: một golden domain, sẵn sàng thanh tra, trong 6 tuần.</a:t>
            </a:r>
            <a:endParaRPr lang="en-US" sz="1400" dirty="0"/>
          </a:p>
        </p:txBody>
      </p:sp>
      <p:sp>
        <p:nvSpPr>
          <p:cNvPr id="8" name="Text 5"/>
          <p:cNvSpPr/>
          <p:nvPr/>
        </p:nvSpPr>
        <p:spPr>
          <a:xfrm>
            <a:off x="914400" y="5989320"/>
            <a:ext cx="10360152" cy="320040"/>
          </a:xfrm>
          <a:prstGeom prst="rect">
            <a:avLst/>
          </a:prstGeom>
          <a:noFill/>
          <a:ln/>
        </p:spPr>
        <p:txBody>
          <a:bodyPr wrap="square" lIns="0" tIns="0" rIns="0" bIns="0" rtlCol="0" anchor="ctr"/>
          <a:lstStyle/>
          <a:p>
            <a:pPr algn="ctr" indent="0" marL="0">
              <a:buNone/>
            </a:pPr>
            <a:r>
              <a:rPr lang="en-US" sz="1000" dirty="0">
                <a:solidFill>
                  <a:srgbClr val="D9E6F5"/>
                </a:solidFill>
                <a:latin typeface="Calibri" pitchFamily="34" charset="0"/>
                <a:ea typeface="Calibri" pitchFamily="34" charset="-122"/>
                <a:cs typeface="Calibri" pitchFamily="34" charset="-120"/>
              </a:rPr>
              <a:t>REGVAULT  ·  VAIC 2026  ·  ĐỀ SHB1          Demo trực tiếp: chạy offline — không cần Docker, không API key  ·  97 test  ·  python -m eval.run_eval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2026-07-18T10:55:21Z</dcterms:created>
  <dcterms:modified xsi:type="dcterms:W3CDTF">2026-07-18T10:55:21Z</dcterms:modified>
</cp:coreProperties>
</file>