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Chao BGK. RegVault — nen tang kho quy dinh da xac minh va kiem tra tuan thu bang AI cho ngan hang. De SHB1.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 de: hang nghin van ban, sua doi nhieu lan, 2-3h/ngay doi chieu thu cong. Vi du bay 500-700.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Ten: Reg + Vault = ket sat quy dinh da xac minh. Mo hinh tin cay: khong file nao tu thanh can cu phap 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tang san pham: loi = su chac chan kiem toan duoc; thuc te = 2 workflow + panel bang chung; gia tang = review, audit, crawler, on-prem.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A: nguon phap ly phai qua review + gate 409. Workflow B: cham tuan thu tung claim, 7 trang thai. 4 diem nhan duoi.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B2B: chi Thu Ha, truong phong phap che &amp; tuan thu. Noi so lon nhat: trich dan sai phien ban va khong co vet bang chung.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 moi khong nam o stack (de bai phat san) ma o: pre-filter truoc top-k, patch tat dinh, LLM bi nhot, evidence trace, normalizer tieng Viet.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Kha thi: MVP da chay — 97 test, du lieu SBV that, gate 409 demo live, chay offline. USP nam giua giao 3 vong tron.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BMC: doi tac SBV/SHB, tai nguyen loi la temporal engine, doanh thu license + trien khai + goi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Tac dong: an toan he thong tai chinh, ~19.000 gio chuyen gia/nam moi ngan hang, khuon mau AI co trach nhiem, ben vung tri thuc + chu G trong ESG.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PAM 22.3 ty USD toan cau; TAM ~190 ty VND/nam VN; SAM ~75 ty; SOM 3 nam ~15 ty ARR. ROI ~1.9x chua tinh tranh phat.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Scale: 4 song — SHB, ngan hang VN, nganh quan ly khac, ASEAN. He thong mo rong bang du lieu, khong phai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Bang so: cac metric doc lap LLM thang tuyet doi. Ben phai: nhung dieu KHONG tuyen bo — su truong thanh cua san pham tuan thu.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Chot: hai luong, mot mo hinh tin cay. San sang pilot cung SHB. Cam on BGK.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31536" y="777240"/>
            <a:ext cx="1325880" cy="13258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icons/shield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106424"/>
            <a:ext cx="667512" cy="6675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24028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6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REGVAULT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1645920" y="3246120"/>
            <a:ext cx="8897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regulatory knowledge &amp; AI compliance review platform for Vietnamese banks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645920" y="3675888"/>
            <a:ext cx="8897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FD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RegVault – Nền tảng kho quy định đã xác minh &amp; kiểm tra tuân thủ bằng AI cho ngân hàng Việt Nam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108960" y="4434840"/>
            <a:ext cx="5971032" cy="475488"/>
          </a:xfrm>
          <a:prstGeom prst="roundRect">
            <a:avLst>
              <a:gd name="adj" fmla="val 50000"/>
            </a:avLst>
          </a:prstGeom>
          <a:solidFill>
            <a:srgbClr val="1B3A5F"/>
          </a:solidFill>
          <a:ln/>
        </p:spPr>
      </p:sp>
      <p:sp>
        <p:nvSpPr>
          <p:cNvPr id="8" name="Text 5"/>
          <p:cNvSpPr/>
          <p:nvPr/>
        </p:nvSpPr>
        <p:spPr>
          <a:xfrm>
            <a:off x="3108960" y="4434840"/>
            <a:ext cx="5971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AI INNOVATION CHALLENGE 2026   ·   PROBLEM SHB1   ·   CHECK-POINT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45920" y="5806440"/>
            <a:ext cx="8897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9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proposes — the Compliance Officer decides.”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FROM THE SHB1 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banks cannot trust ordinary AI with regulations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212080" cy="1481328"/>
          </a:xfrm>
          <a:prstGeom prst="roundRect">
            <a:avLst>
              <a:gd name="adj" fmla="val 4321"/>
            </a:avLst>
          </a:prstGeom>
          <a:solidFill>
            <a:srgbClr val="E9F1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55648"/>
            <a:ext cx="713232" cy="713232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6" name="Image 0" descr="icons/doc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1933956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5727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Thousands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783080" y="204825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internal &amp; external regulatory documents managed by SHB (SBV, Government, Basel…)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2999232"/>
            <a:ext cx="5212080" cy="1481328"/>
          </a:xfrm>
          <a:prstGeom prst="roundRect">
            <a:avLst>
              <a:gd name="adj" fmla="val 4321"/>
            </a:avLst>
          </a:prstGeom>
          <a:solidFill>
            <a:srgbClr val="E9F1FA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383280"/>
            <a:ext cx="713232" cy="713232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1" name="Image 1" descr="icons/history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" y="3561588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200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Amended ×N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1783080" y="367588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regulation amended many times; individual clauses partially superseded across documents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" y="4626864"/>
            <a:ext cx="5212080" cy="1481328"/>
          </a:xfrm>
          <a:prstGeom prst="roundRect">
            <a:avLst>
              <a:gd name="adj" fmla="val 4321"/>
            </a:avLst>
          </a:prstGeom>
          <a:solidFill>
            <a:srgbClr val="E9F1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5010912"/>
            <a:ext cx="713232" cy="713232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6" name="Image 2" descr="icons/clo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5189220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8280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 h / day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1783080" y="53035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compliance officer spent manually cross-checking versions and references (SHB estimate)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989320" y="1371600"/>
            <a:ext cx="5696712" cy="2743200"/>
          </a:xfrm>
          <a:prstGeom prst="roundRect">
            <a:avLst>
              <a:gd name="adj" fmla="val 2333"/>
            </a:avLst>
          </a:prstGeom>
          <a:solidFill>
            <a:srgbClr val="FBEAE8"/>
          </a:solidFill>
          <a:ln/>
        </p:spPr>
      </p:sp>
      <p:sp>
        <p:nvSpPr>
          <p:cNvPr id="20" name="Shape 15"/>
          <p:cNvSpPr/>
          <p:nvPr/>
        </p:nvSpPr>
        <p:spPr>
          <a:xfrm>
            <a:off x="6309360" y="1691640"/>
            <a:ext cx="640080" cy="64008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21" name="Image 3" descr="icons/war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18516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17556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“500 → 700” trap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400800" y="2395728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 report cites a credit limit of 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million VND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 amendment raised it to 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million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standard chatbot answers fluently — from the 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version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inspector finds it first.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989320" y="4315968"/>
            <a:ext cx="5696712" cy="1993392"/>
          </a:xfrm>
          <a:prstGeom prst="roundRect">
            <a:avLst>
              <a:gd name="adj" fmla="val 3211"/>
            </a:avLst>
          </a:prstGeom>
          <a:solidFill>
            <a:srgbClr val="E9F1FA"/>
          </a:solidFill>
          <a:ln/>
        </p:spPr>
      </p:sp>
      <p:sp>
        <p:nvSpPr>
          <p:cNvPr id="25" name="Text 19"/>
          <p:cNvSpPr/>
          <p:nvPr/>
        </p:nvSpPr>
        <p:spPr>
          <a:xfrm>
            <a:off x="6263640" y="452628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RAG cannot model amendments, partial supersession or cross-references. It answers from outdated regulations and creates real compliance risk — “difficult even for many leading global financial institutions.”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263640" y="58521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SHB1 Problem Statement, VAIC 2026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02920" y="652881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RegVault · VAIC 2026 · Check-point 1: Idea Evaluation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1143000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PROJECT NAME &amp;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RegVault — the vault your auditors can open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074920" cy="2377440"/>
          </a:xfrm>
          <a:prstGeom prst="roundRect">
            <a:avLst>
              <a:gd name="adj" fmla="val 2692"/>
            </a:avLst>
          </a:prstGeom>
          <a:solidFill>
            <a:srgbClr val="E9F1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6" name="Image 0" descr="icons/lo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74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A7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</a:t>
            </a:r>
            <a:pPr indent="0" marL="0">
              <a:buNone/>
            </a:pPr>
            <a:r>
              <a:rPr lang="en-US" sz="2400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ulation + </a:t>
            </a:r>
            <a:pPr indent="0" marL="0">
              <a:buNone/>
            </a:pPr>
            <a:r>
              <a:rPr lang="en-US" sz="2400" b="1" dirty="0">
                <a:solidFill>
                  <a:srgbClr val="9A7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Vault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vault holds only what has been verified — and can prove what was inside on any given date.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931920"/>
            <a:ext cx="5074920" cy="2331720"/>
          </a:xfrm>
          <a:prstGeom prst="roundRect">
            <a:avLst>
              <a:gd name="adj" fmla="val 2745"/>
            </a:avLst>
          </a:prstGeom>
          <a:solidFill>
            <a:srgbClr val="10243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160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MODEL — THE INVARIANT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44805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 becomes legal ground truth just because it was uploaded.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513892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is_ground_truth(doc, d) = AUTHORITY_SOURCE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∧ APPROVED ∧ ACTIVE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∧ valid_from ≤ d &lt; valid_to_exclusive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52160" y="1371600"/>
            <a:ext cx="5833872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5852160" y="1371600"/>
            <a:ext cx="5833872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15727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172200" y="187452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RegVault helps a bank’s Legal &amp; Compliance team build a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repository of regulations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parsed to Điều/Khoản/Điểm, versioned over time, every change human-reviewed —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then uses that same repository to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impact of new regulations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internal policies &amp; reports for compliance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conclusion carries a version, an effective date, evidence spans and a human-review status.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852160" y="4617720"/>
            <a:ext cx="5833872" cy="1645920"/>
          </a:xfrm>
          <a:prstGeom prst="roundRect">
            <a:avLst>
              <a:gd name="adj" fmla="val 3889"/>
            </a:avLst>
          </a:prstGeom>
          <a:solidFill>
            <a:srgbClr val="F7EFD8"/>
          </a:solidFill>
          <a:ln/>
        </p:spPr>
      </p:sp>
      <p:sp>
        <p:nvSpPr>
          <p:cNvPr id="18" name="Text 15"/>
          <p:cNvSpPr/>
          <p:nvPr/>
        </p:nvSpPr>
        <p:spPr>
          <a:xfrm>
            <a:off x="6172200" y="484632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flow verifies regulations before they enter the vault; a second flow uses the verified vault to review policies and reports — </a:t>
            </a:r>
            <a:pPr indent="0" marL="0">
              <a:lnSpc>
                <a:spcPct val="115000"/>
              </a:lnSpc>
              <a:buNone/>
            </a:pPr>
            <a:r>
              <a:rPr lang="en-US" sz="1350" b="1" i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proposes, the Compliance Officer decides.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RegVault · VAIC 2026 · Check-point 1: Idea Evaluation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43000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PRODUCT CONCEPT — 3 LEVELS OF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auditable certainty to a full compliance service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0"/>
            <a:ext cx="4663440" cy="4663440"/>
          </a:xfrm>
          <a:prstGeom prst="ellipse">
            <a:avLst/>
          </a:prstGeom>
          <a:solidFill>
            <a:srgbClr val="E9F1FA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3017520"/>
            <a:ext cx="3291840" cy="3291840"/>
          </a:xfrm>
          <a:prstGeom prst="ellipse">
            <a:avLst/>
          </a:prstGeom>
          <a:solidFill>
            <a:srgbClr val="BFD5EC"/>
          </a:solidFill>
          <a:ln/>
        </p:spPr>
      </p:sp>
      <p:sp>
        <p:nvSpPr>
          <p:cNvPr id="6" name="Shape 4"/>
          <p:cNvSpPr/>
          <p:nvPr/>
        </p:nvSpPr>
        <p:spPr>
          <a:xfrm>
            <a:off x="1874520" y="4572000"/>
            <a:ext cx="1737360" cy="17373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PRODUCT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3182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PRODUCT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4828032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23560" y="1298448"/>
            <a:ext cx="6062472" cy="1572768"/>
          </a:xfrm>
          <a:prstGeom prst="roundRect">
            <a:avLst>
              <a:gd name="adj" fmla="val 4070"/>
            </a:avLst>
          </a:prstGeom>
          <a:solidFill>
            <a:srgbClr val="F7EFD8"/>
          </a:solidFill>
          <a:ln/>
        </p:spPr>
      </p:sp>
      <p:sp>
        <p:nvSpPr>
          <p:cNvPr id="11" name="Shape 9"/>
          <p:cNvSpPr/>
          <p:nvPr/>
        </p:nvSpPr>
        <p:spPr>
          <a:xfrm>
            <a:off x="5870448" y="1682496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0" descr="icons/targe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0468" y="1842516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675120" y="14264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CORE VALUE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675120" y="1719072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provision, in the right version, at the right point in time — with evidence the bank can defend before auditors and SBV inspectors. Gives every compliance officer 2–3 hours/day back.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5623560" y="2999232"/>
            <a:ext cx="6062472" cy="1572768"/>
          </a:xfrm>
          <a:prstGeom prst="roundRect">
            <a:avLst>
              <a:gd name="adj" fmla="val 4070"/>
            </a:avLst>
          </a:prstGeom>
          <a:solidFill>
            <a:srgbClr val="E9F1FA"/>
          </a:solidFill>
          <a:ln/>
        </p:spPr>
      </p:sp>
      <p:sp>
        <p:nvSpPr>
          <p:cNvPr id="16" name="Shape 13"/>
          <p:cNvSpPr/>
          <p:nvPr/>
        </p:nvSpPr>
        <p:spPr>
          <a:xfrm>
            <a:off x="5870448" y="3383280"/>
            <a:ext cx="640080" cy="64008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7" name="Image 1" descr="icons/gri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0468" y="354330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75120" y="31272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ACTUAL PRODUCT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675120" y="3419856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workflows (Add Regulatory Source · Check Document Compliance) · “Why this answer” evidence panel · live head-to-head vs Standard RAG · Compliance-Gap Radar · Vietnamese legal normalizer · KG visualization &amp; clause timeline · audit log, RBAC — FastAPI · PostgreSQL · OpenSearch · Neo4j · Docker.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5623560" y="4700016"/>
            <a:ext cx="6062472" cy="1572768"/>
          </a:xfrm>
          <a:prstGeom prst="roundRect">
            <a:avLst>
              <a:gd name="adj" fmla="val 4070"/>
            </a:avLst>
          </a:prstGeom>
          <a:solidFill>
            <a:srgbClr val="E9F1FA"/>
          </a:solidFill>
          <a:ln/>
        </p:spPr>
      </p:sp>
      <p:sp>
        <p:nvSpPr>
          <p:cNvPr id="21" name="Shape 17"/>
          <p:cNvSpPr/>
          <p:nvPr/>
        </p:nvSpPr>
        <p:spPr>
          <a:xfrm>
            <a:off x="5870448" y="5084064"/>
            <a:ext cx="640080" cy="64008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22" name="Image 2" descr="icons/handshak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468" y="5244084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75120" y="4828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AUGMENTED PRODUCT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675120" y="5120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Human-review inbox built in · full audit trail for inspections · live SBV/VBPL crawler keeps the vault current · Regulatory Impact &amp; Compliance Review reports · on-premise deployment (documents never leave the bank) · onboarding + benchmark-based acceptance testing.</a:t>
            </a:r>
            <a:endParaRPr lang="en-US" sz="980" dirty="0"/>
          </a:p>
        </p:txBody>
      </p:sp>
      <p:sp>
        <p:nvSpPr>
          <p:cNvPr id="25" name="Text 20"/>
          <p:cNvSpPr/>
          <p:nvPr/>
        </p:nvSpPr>
        <p:spPr>
          <a:xfrm>
            <a:off x="502920" y="652881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RegVault · VAIC 2026 · Check-point 1: Idea Evaluation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1143000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PRODUCT CONCEPT — THE ACTUAL PRODUCT IN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workflows, one trust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532120" cy="3246120"/>
          </a:xfrm>
          <a:prstGeom prst="roundRect">
            <a:avLst>
              <a:gd name="adj" fmla="val 1972"/>
            </a:avLst>
          </a:prstGeom>
          <a:solidFill>
            <a:srgbClr val="E9F1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72768"/>
            <a:ext cx="603504" cy="603504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6" name="Image 0" descr="icons/uploa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236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7007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 — ADD REGULATORY SOURCE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injection scan &amp; quarantine → parse Chương/Điều/Khoản/Điểm</a:t>
            </a:r>
            <a:endParaRPr lang="en-US" sz="1050" dirty="0"/>
          </a:p>
          <a:p>
            <a:pPr marL="101600" indent="-1016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package → HUMAN REVIEW of every detected change</a:t>
            </a:r>
            <a:endParaRPr lang="en-US" sz="1050" dirty="0"/>
          </a:p>
          <a:p>
            <a:pPr marL="101600" indent="-1016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hard gate: HTTP 409 until critical reviews clear</a:t>
            </a:r>
            <a:endParaRPr lang="en-US" sz="1050" dirty="0"/>
          </a:p>
          <a:p>
            <a:pPr marL="101600" indent="-1016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versioning [valid_from, valid_to) + reified ChangeEvent</a:t>
            </a:r>
            <a:endParaRPr lang="en-US" sz="1050" dirty="0"/>
          </a:p>
          <a:p>
            <a:pPr marL="101600" indent="-1016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Regulatory Impact Report — which internal policies are affected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1325880"/>
            <a:ext cx="5532120" cy="3246120"/>
          </a:xfrm>
          <a:prstGeom prst="roundRect">
            <a:avLst>
              <a:gd name="adj" fmla="val 1972"/>
            </a:avLst>
          </a:prstGeom>
          <a:solidFill>
            <a:srgbClr val="E9F1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572768"/>
            <a:ext cx="603504" cy="603504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1" name="Image 1" descr="icons/task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6" y="17236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17007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B — CHECK DOCUMENT COMPLIANCE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492240" y="22860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policy/report as REVIEW_TARGET — never enters the legal vault</a:t>
            </a:r>
            <a:endParaRPr lang="en-US" sz="1050" dirty="0"/>
          </a:p>
          <a:p>
            <a:pPr marL="101600" indent="-1016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claims: amounts, %, deadlines, document references</a:t>
            </a:r>
            <a:endParaRPr lang="en-US" sz="1050" dirty="0"/>
          </a:p>
          <a:p>
            <a:pPr marL="101600" indent="-1016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only against APPROVED + ACTIVE vault as of the review date</a:t>
            </a:r>
            <a:endParaRPr lang="en-US" sz="1050" dirty="0"/>
          </a:p>
          <a:p>
            <a:pPr marL="101600" indent="-1016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Compliance Review Report, claim by claim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92240" y="382219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92240" y="38221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7744968" y="382219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44968" y="3822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NON_COMPLIANT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9317736" y="382219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5B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317736" y="3822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PARTIALLY_COMPLIANT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492240" y="4169664"/>
            <a:ext cx="2057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92240" y="41696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OUTDATED_REFERENCE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8659368" y="4169664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6B7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659368" y="41696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MISSING_EVIDENCE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6492240" y="451713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5B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92240" y="4517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7836408" y="4517136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836408" y="4517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NEEDS_HUMAN_REVIEW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502920" y="4892040"/>
            <a:ext cx="2743200" cy="1417320"/>
          </a:xfrm>
          <a:prstGeom prst="roundRect">
            <a:avLst>
              <a:gd name="adj" fmla="val 4516"/>
            </a:avLst>
          </a:prstGeom>
          <a:solidFill>
            <a:srgbClr val="F7EFD8"/>
          </a:solidFill>
          <a:ln/>
        </p:spPr>
      </p:sp>
      <p:sp>
        <p:nvSpPr>
          <p:cNvPr id="29" name="Shape 25"/>
          <p:cNvSpPr/>
          <p:nvPr/>
        </p:nvSpPr>
        <p:spPr>
          <a:xfrm>
            <a:off x="704088" y="5074920"/>
            <a:ext cx="475488" cy="47548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0" name="Image 2" descr="icons/eye_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193792"/>
            <a:ext cx="237744" cy="23774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307592" y="50749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this answer” panel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704088" y="563270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used + sources EXCLUDED, with reasons</a:t>
            </a:r>
            <a:endParaRPr lang="en-US" sz="880" dirty="0"/>
          </a:p>
        </p:txBody>
      </p:sp>
      <p:sp>
        <p:nvSpPr>
          <p:cNvPr id="33" name="Shape 28"/>
          <p:cNvSpPr/>
          <p:nvPr/>
        </p:nvSpPr>
        <p:spPr>
          <a:xfrm>
            <a:off x="3364992" y="4892040"/>
            <a:ext cx="2743200" cy="1417320"/>
          </a:xfrm>
          <a:prstGeom prst="roundRect">
            <a:avLst>
              <a:gd name="adj" fmla="val 4516"/>
            </a:avLst>
          </a:prstGeom>
          <a:solidFill>
            <a:srgbClr val="F7EFD8"/>
          </a:solidFill>
          <a:ln/>
        </p:spPr>
      </p:sp>
      <p:sp>
        <p:nvSpPr>
          <p:cNvPr id="34" name="Shape 29"/>
          <p:cNvSpPr/>
          <p:nvPr/>
        </p:nvSpPr>
        <p:spPr>
          <a:xfrm>
            <a:off x="3566160" y="5074920"/>
            <a:ext cx="475488" cy="47548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5" name="Image 3" descr="icons/balance_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5193792"/>
            <a:ext cx="237744" cy="23774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169664" y="50749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button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3566160" y="563270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RAG fails live next to our cited answer</a:t>
            </a:r>
            <a:endParaRPr lang="en-US" sz="880" dirty="0"/>
          </a:p>
        </p:txBody>
      </p:sp>
      <p:sp>
        <p:nvSpPr>
          <p:cNvPr id="38" name="Shape 32"/>
          <p:cNvSpPr/>
          <p:nvPr/>
        </p:nvSpPr>
        <p:spPr>
          <a:xfrm>
            <a:off x="6227064" y="4892040"/>
            <a:ext cx="2743200" cy="1417320"/>
          </a:xfrm>
          <a:prstGeom prst="roundRect">
            <a:avLst>
              <a:gd name="adj" fmla="val 4516"/>
            </a:avLst>
          </a:prstGeom>
          <a:solidFill>
            <a:srgbClr val="F7EFD8"/>
          </a:solidFill>
          <a:ln/>
        </p:spPr>
      </p:sp>
      <p:sp>
        <p:nvSpPr>
          <p:cNvPr id="39" name="Shape 33"/>
          <p:cNvSpPr/>
          <p:nvPr/>
        </p:nvSpPr>
        <p:spPr>
          <a:xfrm>
            <a:off x="6428232" y="5074920"/>
            <a:ext cx="475488" cy="47548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0" name="Image 4" descr="icons/radar_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5193792"/>
            <a:ext cx="237744" cy="23774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031736" y="50749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Compliance-Gap Radar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6428232" y="563270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changes → stale internal policies flagged</a:t>
            </a:r>
            <a:endParaRPr lang="en-US" sz="880" dirty="0"/>
          </a:p>
        </p:txBody>
      </p:sp>
      <p:sp>
        <p:nvSpPr>
          <p:cNvPr id="43" name="Shape 36"/>
          <p:cNvSpPr/>
          <p:nvPr/>
        </p:nvSpPr>
        <p:spPr>
          <a:xfrm>
            <a:off x="9089136" y="4892040"/>
            <a:ext cx="2743200" cy="1417320"/>
          </a:xfrm>
          <a:prstGeom prst="roundRect">
            <a:avLst>
              <a:gd name="adj" fmla="val 4516"/>
            </a:avLst>
          </a:prstGeom>
          <a:solidFill>
            <a:srgbClr val="F7EFD8"/>
          </a:solidFill>
          <a:ln/>
        </p:spPr>
      </p:sp>
      <p:sp>
        <p:nvSpPr>
          <p:cNvPr id="44" name="Shape 37"/>
          <p:cNvSpPr/>
          <p:nvPr/>
        </p:nvSpPr>
        <p:spPr>
          <a:xfrm>
            <a:off x="9290304" y="5074920"/>
            <a:ext cx="475488" cy="47548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5" name="Image 5" descr="icons/lang_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9176" y="5193792"/>
            <a:ext cx="237744" cy="237744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9893808" y="50749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 legal normalizer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9290304" y="563270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“500 triệu” = “500.000.000” = “0,5 tỷ” + VN dates</a:t>
            </a:r>
            <a:endParaRPr lang="en-US" sz="880" dirty="0"/>
          </a:p>
        </p:txBody>
      </p:sp>
      <p:sp>
        <p:nvSpPr>
          <p:cNvPr id="48" name="Text 40"/>
          <p:cNvSpPr/>
          <p:nvPr/>
        </p:nvSpPr>
        <p:spPr>
          <a:xfrm>
            <a:off x="502920" y="652881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RegVault · VAIC 2026 · Check-point 1: Idea Evaluation</a:t>
            </a:r>
            <a:endParaRPr lang="en-US" sz="800" dirty="0"/>
          </a:p>
        </p:txBody>
      </p:sp>
      <p:sp>
        <p:nvSpPr>
          <p:cNvPr id="49" name="Text 41"/>
          <p:cNvSpPr/>
          <p:nvPr/>
        </p:nvSpPr>
        <p:spPr>
          <a:xfrm>
            <a:off x="1143000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TARGET CUSTOMER (B2B) — CUSTOMER PERSONA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Ms. Thu Hà — Head of Legal &amp; Compliance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154680" cy="5074920"/>
          </a:xfrm>
          <a:prstGeom prst="roundRect">
            <a:avLst>
              <a:gd name="adj" fmla="val 2029"/>
            </a:avLst>
          </a:prstGeom>
          <a:solidFill>
            <a:srgbClr val="10243E"/>
          </a:solidFill>
          <a:ln/>
        </p:spPr>
      </p:sp>
      <p:sp>
        <p:nvSpPr>
          <p:cNvPr id="5" name="Shape 3"/>
          <p:cNvSpPr/>
          <p:nvPr/>
        </p:nvSpPr>
        <p:spPr>
          <a:xfrm>
            <a:off x="1673352" y="155448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icons/usertie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664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4505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Ms. Thu Hà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81635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Legal &amp; Compliance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FD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Joint-stock commercial bank, Hà Nội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3429000"/>
            <a:ext cx="2651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Female, 41 · Master of Banking Law</a:t>
            </a:r>
            <a:endParaRPr lang="en-US" sz="930" dirty="0"/>
          </a:p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 in banking · leads ~25 officers</a:t>
            </a:r>
            <a:endParaRPr lang="en-US" sz="930" dirty="0"/>
          </a:p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~70M VND/month · married, 2 kids</a:t>
            </a:r>
            <a:endParaRPr lang="en-US" sz="930" dirty="0"/>
          </a:p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SBV portal · VBPL · thuvienphapluat · legal-officer Zalo groups · VBA seminars · Big-4 notes</a:t>
            </a:r>
            <a:endParaRPr lang="en-US" sz="930" dirty="0"/>
          </a:p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unit: User = officer · Buyer = Head/CCO · Veto = CTO/CISO (security)</a:t>
            </a:r>
            <a:endParaRPr lang="en-US" sz="930" dirty="0"/>
          </a:p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annual budget for legal tools; pays for demonstrable risk reduction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794760" y="1298448"/>
            <a:ext cx="3886200" cy="1600200"/>
          </a:xfrm>
          <a:prstGeom prst="roundRect">
            <a:avLst>
              <a:gd name="adj" fmla="val 4000"/>
            </a:avLst>
          </a:prstGeom>
          <a:solidFill>
            <a:srgbClr val="E9F1FA"/>
          </a:solidFill>
          <a:ln/>
        </p:spPr>
      </p:sp>
      <p:sp>
        <p:nvSpPr>
          <p:cNvPr id="11" name="Text 8"/>
          <p:cNvSpPr/>
          <p:nvPr/>
        </p:nvSpPr>
        <p:spPr>
          <a:xfrm>
            <a:off x="4023360" y="14264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HOPES &amp; DREAMS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023360" y="173736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findings in the next SBV inspection</a:t>
            </a:r>
            <a:endParaRPr lang="en-US" sz="940" dirty="0"/>
          </a:p>
          <a:p>
            <a:pPr marL="101600" indent="-1016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spends time on judgment, not manual cross-checking</a:t>
            </a:r>
            <a:endParaRPr lang="en-US" sz="940" dirty="0"/>
          </a:p>
          <a:p>
            <a:pPr marL="101600" indent="-1016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seen as an enabler, not a bottleneck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7799832" y="1298448"/>
            <a:ext cx="3886200" cy="1600200"/>
          </a:xfrm>
          <a:prstGeom prst="roundRect">
            <a:avLst>
              <a:gd name="adj" fmla="val 4000"/>
            </a:avLst>
          </a:prstGeom>
          <a:solidFill>
            <a:srgbClr val="E9F1FA"/>
          </a:solidFill>
          <a:ln/>
        </p:spPr>
      </p:sp>
      <p:sp>
        <p:nvSpPr>
          <p:cNvPr id="14" name="Text 11"/>
          <p:cNvSpPr/>
          <p:nvPr/>
        </p:nvSpPr>
        <p:spPr>
          <a:xfrm>
            <a:off x="8028432" y="14264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028432" y="173736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new SBV/Government documents every morning</a:t>
            </a:r>
            <a:endParaRPr lang="en-US" sz="940" dirty="0"/>
          </a:p>
          <a:p>
            <a:pPr marL="101600" indent="-1016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officers to trace impact on internal policies</a:t>
            </a:r>
            <a:endParaRPr lang="en-US" sz="940" dirty="0"/>
          </a:p>
          <a:p>
            <a:pPr marL="101600" indent="-1016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compliance opinions — her name is on the line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3794760" y="3017520"/>
            <a:ext cx="3886200" cy="1783080"/>
          </a:xfrm>
          <a:prstGeom prst="roundRect">
            <a:avLst>
              <a:gd name="adj" fmla="val 3590"/>
            </a:avLst>
          </a:prstGeom>
          <a:solidFill>
            <a:srgbClr val="FBEAE8"/>
          </a:solidFill>
          <a:ln/>
        </p:spPr>
      </p:sp>
      <p:sp>
        <p:nvSpPr>
          <p:cNvPr id="17" name="Text 14"/>
          <p:cNvSpPr/>
          <p:nvPr/>
        </p:nvSpPr>
        <p:spPr>
          <a:xfrm>
            <a:off x="4023360" y="31455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WORRIES &amp; FEARS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023360" y="3456432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cites 500M where the rule now says 700M</a:t>
            </a:r>
            <a:endParaRPr lang="en-US" sz="940" dirty="0"/>
          </a:p>
          <a:p>
            <a:pPr marL="101600" indent="-1016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amendment changes 5 articles across 3 documents — one policy missed</a:t>
            </a:r>
            <a:endParaRPr lang="en-US" sz="940" dirty="0"/>
          </a:p>
          <a:p>
            <a:pPr marL="101600" indent="-1016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“Still compliant” conclusions with no evidence trail</a:t>
            </a:r>
            <a:endParaRPr lang="en-US" sz="940" dirty="0"/>
          </a:p>
          <a:p>
            <a:pPr marL="101600" indent="-1016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hallucinates citations · bank data leaving the premises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7799832" y="3017520"/>
            <a:ext cx="3886200" cy="1783080"/>
          </a:xfrm>
          <a:prstGeom prst="roundRect">
            <a:avLst>
              <a:gd name="adj" fmla="val 3590"/>
            </a:avLst>
          </a:prstGeom>
          <a:solidFill>
            <a:srgbClr val="E9F1FA"/>
          </a:solidFill>
          <a:ln/>
        </p:spPr>
      </p:sp>
      <p:sp>
        <p:nvSpPr>
          <p:cNvPr id="20" name="Text 17"/>
          <p:cNvSpPr/>
          <p:nvPr/>
        </p:nvSpPr>
        <p:spPr>
          <a:xfrm>
            <a:off x="8028432" y="31455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028432" y="3456432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 the correct in-force version — always</a:t>
            </a:r>
            <a:endParaRPr lang="en-US" sz="940" dirty="0"/>
          </a:p>
          <a:p>
            <a:pPr marL="101600" indent="-1016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shown, and excluded sources shown with reasons</a:t>
            </a:r>
            <a:endParaRPr lang="en-US" sz="940" dirty="0"/>
          </a:p>
          <a:p>
            <a:pPr marL="101600" indent="-1016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 stays with her team (human-in-the-loop)</a:t>
            </a:r>
            <a:endParaRPr lang="en-US" sz="940" dirty="0"/>
          </a:p>
          <a:p>
            <a:pPr marL="101600" indent="-1016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inside the bank’s own network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3794760" y="4937760"/>
            <a:ext cx="7891272" cy="1435608"/>
          </a:xfrm>
          <a:prstGeom prst="roundRect">
            <a:avLst>
              <a:gd name="adj" fmla="val 4459"/>
            </a:avLst>
          </a:prstGeom>
          <a:solidFill>
            <a:srgbClr val="F7EFD8"/>
          </a:solidFill>
          <a:ln/>
        </p:spPr>
      </p:sp>
      <p:sp>
        <p:nvSpPr>
          <p:cNvPr id="23" name="Text 20"/>
          <p:cNvSpPr/>
          <p:nvPr/>
        </p:nvSpPr>
        <p:spPr>
          <a:xfrm>
            <a:off x="4023360" y="506577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HER LIFE EASIER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023360" y="5376672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circular lands → automatic impact report: which internal policies are now stale, with before/after and effective dates</a:t>
            </a:r>
            <a:endParaRPr lang="en-US" sz="960" dirty="0"/>
          </a:p>
          <a:p>
            <a:pPr marL="101600" indent="-1016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policy or report → one-click compliance check with claim-level statuses and suggested corrections</a:t>
            </a:r>
            <a:endParaRPr lang="en-US" sz="960" dirty="0"/>
          </a:p>
          <a:p>
            <a:pPr marL="101600" indent="-1016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conclusion → an evidence package she can defend before auditors and inspectors</a:t>
            </a:r>
            <a:endParaRPr lang="en-US" sz="960" dirty="0"/>
          </a:p>
        </p:txBody>
      </p:sp>
      <p:sp>
        <p:nvSpPr>
          <p:cNvPr id="25" name="Text 22"/>
          <p:cNvSpPr/>
          <p:nvPr/>
        </p:nvSpPr>
        <p:spPr>
          <a:xfrm>
            <a:off x="502920" y="652881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RegVault · VAIC 2026 · Check-point 1: Idea Evaluation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43000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PROJECT EVALUATION — CRITERION 1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— what exists today fails the compliance test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5029200" cy="4023360"/>
          </a:xfrm>
          <a:prstGeom prst="roundRect">
            <a:avLst>
              <a:gd name="adj" fmla="val 1591"/>
            </a:avLst>
          </a:prstGeom>
          <a:solidFill>
            <a:srgbClr val="E9F1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MS. HÀ CAN BUY TODAY</a:t>
            </a:r>
            <a:endParaRPr lang="en-US" sz="1050" dirty="0"/>
          </a:p>
        </p:txBody>
      </p:sp>
      <p:pic>
        <p:nvPicPr>
          <p:cNvPr id="6" name="Image 0" descr="icons/ban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828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databases (thuvienphapluat, LuatVietnam)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1188720" y="213969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coverage — but search-only: she still reads, cross-references and assesses impact by hand.</a:t>
            </a:r>
            <a:endParaRPr lang="en-US" sz="960" dirty="0"/>
          </a:p>
        </p:txBody>
      </p:sp>
      <p:pic>
        <p:nvPicPr>
          <p:cNvPr id="9" name="Image 1" descr="icons/ban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4495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9992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chatbots / standard RAG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1188720" y="331012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— but version-blind: mixes superseded and current text; citations unverifiable; no audit trail.</a:t>
            </a:r>
            <a:endParaRPr lang="en-US" sz="960" dirty="0"/>
          </a:p>
        </p:txBody>
      </p:sp>
      <p:pic>
        <p:nvPicPr>
          <p:cNvPr id="12" name="Image 2" descr="icons/ban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1538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41696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GRC suites (Thomson Reuters, Wolters Kluwer…)</a:t>
            </a:r>
            <a:endParaRPr lang="en-US" sz="1080" dirty="0"/>
          </a:p>
        </p:txBody>
      </p:sp>
      <p:sp>
        <p:nvSpPr>
          <p:cNvPr id="14" name="Text 9"/>
          <p:cNvSpPr/>
          <p:nvPr/>
        </p:nvSpPr>
        <p:spPr>
          <a:xfrm>
            <a:off x="1188720" y="44805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— but costly, cloud-only, and not native to Điều/Khoản/Điểm structure or Vietnamese normalization.</a:t>
            </a:r>
            <a:endParaRPr lang="en-US" sz="960" dirty="0"/>
          </a:p>
        </p:txBody>
      </p:sp>
      <p:sp>
        <p:nvSpPr>
          <p:cNvPr id="15" name="Shape 10"/>
          <p:cNvSpPr/>
          <p:nvPr/>
        </p:nvSpPr>
        <p:spPr>
          <a:xfrm>
            <a:off x="5806440" y="1298448"/>
            <a:ext cx="5879592" cy="402336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/>
        </p:spPr>
      </p:sp>
      <p:sp>
        <p:nvSpPr>
          <p:cNvPr id="16" name="Shape 11"/>
          <p:cNvSpPr/>
          <p:nvPr/>
        </p:nvSpPr>
        <p:spPr>
          <a:xfrm>
            <a:off x="5806440" y="1298448"/>
            <a:ext cx="5879592" cy="402336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080760" y="1463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REGVAULT DOES DIFFERENTLY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080760" y="182880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4"/>
          <p:cNvSpPr/>
          <p:nvPr/>
        </p:nvSpPr>
        <p:spPr>
          <a:xfrm>
            <a:off x="60807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629400" y="1773936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knowledge graph with reified ChangeEvents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amendments are first-class nodes with evidence, operation, before/after, effective date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6080760" y="2523744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17"/>
          <p:cNvSpPr/>
          <p:nvPr/>
        </p:nvSpPr>
        <p:spPr>
          <a:xfrm>
            <a:off x="608076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629400" y="246888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pre-filter BEFORE top-k retrieval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designs out version conflation — the classic silent RAG failure</a:t>
            </a:r>
            <a:endParaRPr lang="en-US" sz="980" dirty="0"/>
          </a:p>
        </p:txBody>
      </p:sp>
      <p:sp>
        <p:nvSpPr>
          <p:cNvPr id="24" name="Shape 19"/>
          <p:cNvSpPr/>
          <p:nvPr/>
        </p:nvSpPr>
        <p:spPr>
          <a:xfrm>
            <a:off x="6080760" y="3218688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0"/>
          <p:cNvSpPr/>
          <p:nvPr/>
        </p:nvSpPr>
        <p:spPr>
          <a:xfrm>
            <a:off x="608076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629400" y="3163824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patching — the LLM never rewrites legal text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exact-match REPLACE/INSERT/DELETE; ambiguity forces human review</a:t>
            </a:r>
            <a:endParaRPr lang="en-US" sz="980" dirty="0"/>
          </a:p>
        </p:txBody>
      </p:sp>
      <p:sp>
        <p:nvSpPr>
          <p:cNvPr id="27" name="Shape 22"/>
          <p:cNvSpPr/>
          <p:nvPr/>
        </p:nvSpPr>
        <p:spPr>
          <a:xfrm>
            <a:off x="6080760" y="3913632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8" name="Text 23"/>
          <p:cNvSpPr/>
          <p:nvPr/>
        </p:nvSpPr>
        <p:spPr>
          <a:xfrm>
            <a:off x="608076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629400" y="385876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“Caged LLM” + verifiable evidence trace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LLM cannot pick versions, create citations or decide conflicts; answers show EXCLUDED sources with reasons</a:t>
            </a:r>
            <a:endParaRPr lang="en-US" sz="980" dirty="0"/>
          </a:p>
        </p:txBody>
      </p:sp>
      <p:sp>
        <p:nvSpPr>
          <p:cNvPr id="30" name="Shape 25"/>
          <p:cNvSpPr/>
          <p:nvPr/>
        </p:nvSpPr>
        <p:spPr>
          <a:xfrm>
            <a:off x="6080760" y="46085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6"/>
          <p:cNvSpPr/>
          <p:nvPr/>
        </p:nvSpPr>
        <p:spPr>
          <a:xfrm>
            <a:off x="6080760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629400" y="455371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legal normalizer + benchmark-in-product</a:t>
            </a:r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“500 triệu” = “500.000.000” = “0,5 tỷ”; /compare proves superiority live</a:t>
            </a:r>
            <a:endParaRPr lang="en-US" sz="980" dirty="0"/>
          </a:p>
        </p:txBody>
      </p:sp>
      <p:sp>
        <p:nvSpPr>
          <p:cNvPr id="33" name="Shape 28"/>
          <p:cNvSpPr/>
          <p:nvPr/>
        </p:nvSpPr>
        <p:spPr>
          <a:xfrm>
            <a:off x="502920" y="562356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0243E"/>
          </a:solidFill>
          <a:ln/>
        </p:spPr>
      </p:sp>
      <p:sp>
        <p:nvSpPr>
          <p:cNvPr id="34" name="Text 29"/>
          <p:cNvSpPr/>
          <p:nvPr/>
        </p:nvSpPr>
        <p:spPr>
          <a:xfrm>
            <a:off x="502920" y="56235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2642616" y="562356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10243E"/>
          </a:solidFill>
          <a:ln/>
        </p:spPr>
      </p:sp>
      <p:sp>
        <p:nvSpPr>
          <p:cNvPr id="36" name="Text 31"/>
          <p:cNvSpPr/>
          <p:nvPr/>
        </p:nvSpPr>
        <p:spPr>
          <a:xfrm>
            <a:off x="2642616" y="56235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&amp; ANALYTICS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4690872" y="56235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0243E"/>
          </a:solidFill>
          <a:ln/>
        </p:spPr>
      </p:sp>
      <p:sp>
        <p:nvSpPr>
          <p:cNvPr id="38" name="Text 33"/>
          <p:cNvSpPr/>
          <p:nvPr/>
        </p:nvSpPr>
        <p:spPr>
          <a:xfrm>
            <a:off x="4690872" y="56235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6647688" y="562356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10243E"/>
          </a:solidFill>
          <a:ln/>
        </p:spPr>
      </p:sp>
      <p:sp>
        <p:nvSpPr>
          <p:cNvPr id="40" name="Text 35"/>
          <p:cNvSpPr/>
          <p:nvPr/>
        </p:nvSpPr>
        <p:spPr>
          <a:xfrm>
            <a:off x="6647688" y="56235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7690104" y="5623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0243E"/>
          </a:solidFill>
          <a:ln/>
        </p:spPr>
      </p:sp>
      <p:sp>
        <p:nvSpPr>
          <p:cNvPr id="42" name="Text 37"/>
          <p:cNvSpPr/>
          <p:nvPr/>
        </p:nvSpPr>
        <p:spPr>
          <a:xfrm>
            <a:off x="7690104" y="5623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9326880" y="562356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10243E"/>
          </a:solidFill>
          <a:ln/>
        </p:spPr>
      </p:sp>
      <p:sp>
        <p:nvSpPr>
          <p:cNvPr id="44" name="Text 39"/>
          <p:cNvSpPr/>
          <p:nvPr/>
        </p:nvSpPr>
        <p:spPr>
          <a:xfrm>
            <a:off x="9326880" y="56235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EVERYTHING-AS-A-SERVICE</a:t>
            </a:r>
            <a:endParaRPr lang="en-US" sz="850" dirty="0"/>
          </a:p>
        </p:txBody>
      </p:sp>
      <p:sp>
        <p:nvSpPr>
          <p:cNvPr id="45" name="Text 40"/>
          <p:cNvSpPr/>
          <p:nvPr/>
        </p:nvSpPr>
        <p:spPr>
          <a:xfrm>
            <a:off x="502920" y="60533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technologies in the product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502920" y="652881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RegVault · VAIC 2026 · Check-point 1: Idea Evaluation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1143000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PROJECT EVALUATION — CRITERION 2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— not a plan: a working MVP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743200" cy="1353312"/>
          </a:xfrm>
          <a:prstGeom prst="roundRect">
            <a:avLst>
              <a:gd name="adj" fmla="val 4730"/>
            </a:avLst>
          </a:prstGeom>
          <a:solidFill>
            <a:srgbClr val="E9F1F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3619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6" name="Image 0" descr="icons/che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650492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2728" y="14813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" y="199339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 — full pipeline covered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3364992" y="1371600"/>
            <a:ext cx="2743200" cy="1353312"/>
          </a:xfrm>
          <a:prstGeom prst="roundRect">
            <a:avLst>
              <a:gd name="adj" fmla="val 4730"/>
            </a:avLst>
          </a:prstGeom>
          <a:solidFill>
            <a:srgbClr val="E9F1FA"/>
          </a:solidFill>
          <a:ln/>
        </p:spPr>
      </p:sp>
      <p:sp>
        <p:nvSpPr>
          <p:cNvPr id="10" name="Shape 7"/>
          <p:cNvSpPr/>
          <p:nvPr/>
        </p:nvSpPr>
        <p:spPr>
          <a:xfrm>
            <a:off x="3547872" y="153619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1" name="Image 1" descr="icons/db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165049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0" y="14813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 / 30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3547872" y="199339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NHNN documents · real amendment relations mined from SBV &amp; VBPL</a:t>
            </a:r>
            <a:endParaRPr lang="en-US" sz="920" dirty="0"/>
          </a:p>
        </p:txBody>
      </p:sp>
      <p:sp>
        <p:nvSpPr>
          <p:cNvPr id="14" name="Shape 10"/>
          <p:cNvSpPr/>
          <p:nvPr/>
        </p:nvSpPr>
        <p:spPr>
          <a:xfrm>
            <a:off x="502920" y="2852928"/>
            <a:ext cx="2743200" cy="1353312"/>
          </a:xfrm>
          <a:prstGeom prst="roundRect">
            <a:avLst>
              <a:gd name="adj" fmla="val 4730"/>
            </a:avLst>
          </a:prstGeom>
          <a:solidFill>
            <a:srgbClr val="E9F1FA"/>
          </a:solidFill>
          <a:ln/>
        </p:spPr>
      </p:sp>
      <p:sp>
        <p:nvSpPr>
          <p:cNvPr id="15" name="Shape 11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6" name="Image 2" descr="icons/lo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13182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52728" y="296265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409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685800" y="3474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gate refuses un-reviewed sources — a service-layer rule, shown live</a:t>
            </a:r>
            <a:endParaRPr lang="en-US" sz="920" dirty="0"/>
          </a:p>
        </p:txBody>
      </p:sp>
      <p:sp>
        <p:nvSpPr>
          <p:cNvPr id="19" name="Shape 14"/>
          <p:cNvSpPr/>
          <p:nvPr/>
        </p:nvSpPr>
        <p:spPr>
          <a:xfrm>
            <a:off x="3364992" y="2852928"/>
            <a:ext cx="2743200" cy="1353312"/>
          </a:xfrm>
          <a:prstGeom prst="roundRect">
            <a:avLst>
              <a:gd name="adj" fmla="val 4730"/>
            </a:avLst>
          </a:prstGeom>
          <a:solidFill>
            <a:srgbClr val="E9F1FA"/>
          </a:solidFill>
          <a:ln/>
        </p:spPr>
      </p:sp>
      <p:sp>
        <p:nvSpPr>
          <p:cNvPr id="20" name="Shape 15"/>
          <p:cNvSpPr/>
          <p:nvPr/>
        </p:nvSpPr>
        <p:spPr>
          <a:xfrm>
            <a:off x="3547872" y="3017520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21" name="Image 3" descr="icons/rocke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172" y="313182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114800" y="296265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3547872" y="3474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2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demo with no Docker, no API keys — plus 4-store production deploy</a:t>
            </a:r>
            <a:endParaRPr lang="en-US" sz="920" dirty="0"/>
          </a:p>
        </p:txBody>
      </p:sp>
      <p:sp>
        <p:nvSpPr>
          <p:cNvPr id="24" name="Shape 18"/>
          <p:cNvSpPr/>
          <p:nvPr/>
        </p:nvSpPr>
        <p:spPr>
          <a:xfrm>
            <a:off x="6949440" y="1600200"/>
            <a:ext cx="2103120" cy="2103120"/>
          </a:xfrm>
          <a:prstGeom prst="ellipse">
            <a:avLst/>
          </a:prstGeom>
          <a:solidFill>
            <a:srgbClr val="1F4E79">
              <a:alpha val="45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8366760" y="1600200"/>
            <a:ext cx="2103120" cy="2103120"/>
          </a:xfrm>
          <a:prstGeom prst="ellipse">
            <a:avLst/>
          </a:prstGeom>
          <a:solidFill>
            <a:srgbClr val="5B6B7C">
              <a:alpha val="4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7662672" y="2651760"/>
            <a:ext cx="2103120" cy="2103120"/>
          </a:xfrm>
          <a:prstGeom prst="ellipse">
            <a:avLst/>
          </a:prstGeom>
          <a:solidFill>
            <a:srgbClr val="C9A227">
              <a:alpha val="55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6766560" y="2057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uniquely well</a:t>
            </a:r>
            <a:endParaRPr lang="en-US" sz="860" dirty="0"/>
          </a:p>
        </p:txBody>
      </p:sp>
      <p:sp>
        <p:nvSpPr>
          <p:cNvPr id="28" name="Text 22"/>
          <p:cNvSpPr/>
          <p:nvPr/>
        </p:nvSpPr>
        <p:spPr>
          <a:xfrm>
            <a:off x="8961120" y="2057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competitors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well</a:t>
            </a:r>
            <a:endParaRPr lang="en-US" sz="860" dirty="0"/>
          </a:p>
        </p:txBody>
      </p:sp>
      <p:sp>
        <p:nvSpPr>
          <p:cNvPr id="29" name="Text 23"/>
          <p:cNvSpPr/>
          <p:nvPr/>
        </p:nvSpPr>
        <p:spPr>
          <a:xfrm>
            <a:off x="777240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customers want</a:t>
            </a:r>
            <a:endParaRPr lang="en-US" sz="860" dirty="0"/>
          </a:p>
        </p:txBody>
      </p:sp>
      <p:sp>
        <p:nvSpPr>
          <p:cNvPr id="30" name="Shape 24"/>
          <p:cNvSpPr/>
          <p:nvPr/>
        </p:nvSpPr>
        <p:spPr>
          <a:xfrm>
            <a:off x="7607808" y="2807208"/>
            <a:ext cx="777240" cy="77724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31" name="Text 25"/>
          <p:cNvSpPr/>
          <p:nvPr/>
        </p:nvSpPr>
        <p:spPr>
          <a:xfrm>
            <a:off x="7607808" y="28072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USP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172200" y="4892040"/>
            <a:ext cx="5513832" cy="1417320"/>
          </a:xfrm>
          <a:prstGeom prst="roundRect">
            <a:avLst>
              <a:gd name="adj" fmla="val 4516"/>
            </a:avLst>
          </a:prstGeom>
          <a:solidFill>
            <a:srgbClr val="F7EFD8"/>
          </a:solidFill>
          <a:ln/>
        </p:spPr>
      </p:sp>
      <p:sp>
        <p:nvSpPr>
          <p:cNvPr id="33" name="Text 27"/>
          <p:cNvSpPr/>
          <p:nvPr/>
        </p:nvSpPr>
        <p:spPr>
          <a:xfrm>
            <a:off x="6446520" y="50474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SELLING PROPOSITION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6446520" y="532180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“Every answer is point-in-time correct and auditable — AI proposes, the Compliance Officer decides.”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502920" y="4434840"/>
            <a:ext cx="5742432" cy="1874520"/>
          </a:xfrm>
          <a:prstGeom prst="roundRect">
            <a:avLst>
              <a:gd name="adj" fmla="val 3415"/>
            </a:avLst>
          </a:prstGeom>
          <a:solidFill>
            <a:srgbClr val="10243E"/>
          </a:solidFill>
          <a:ln/>
        </p:spPr>
      </p:sp>
      <p:sp>
        <p:nvSpPr>
          <p:cNvPr id="36" name="Text 30"/>
          <p:cNvSpPr/>
          <p:nvPr/>
        </p:nvSpPr>
        <p:spPr>
          <a:xfrm>
            <a:off x="777240" y="45902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 THE INTERSECTION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777240" y="4901184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want: trustworthy, current-version, auditable answers</a:t>
            </a:r>
            <a:endParaRPr lang="en-US" sz="1000" dirty="0"/>
          </a:p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uniquely deliver: deterministic temporal engine + evidence trace + human-in-the-loop</a:t>
            </a:r>
            <a:endParaRPr lang="en-US" sz="1000" dirty="0"/>
          </a:p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Competitors: legal DBs have coverage without automation; generic AI has fluency without trust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502920" y="652881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RegVault · VAIC 2026 · Check-point 1: Idea Evaluation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1143000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PROJECT EVALUATION — CRITERION 2 OF 5 (RESOURCES)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— Business Model Canvas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157984" cy="3611880"/>
          </a:xfrm>
          <a:prstGeom prst="roundRect">
            <a:avLst>
              <a:gd name="adj" fmla="val 2966"/>
            </a:avLst>
          </a:prstGeom>
          <a:solidFill>
            <a:srgbClr val="E9F1FA"/>
          </a:solidFill>
          <a:ln/>
        </p:spPr>
      </p:sp>
      <p:sp>
        <p:nvSpPr>
          <p:cNvPr id="5" name="Text 3"/>
          <p:cNvSpPr/>
          <p:nvPr/>
        </p:nvSpPr>
        <p:spPr>
          <a:xfrm>
            <a:off x="630936" y="137160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30936" y="1664208"/>
            <a:ext cx="190195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SBV / VBPL official legal data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SHB — design partner &amp; pilot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 (Anthropic / OpenRouter — swappable)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&amp; cloud infra vendors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mentors, VBA network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>
            <a:off x="2770632" y="1298448"/>
            <a:ext cx="2157984" cy="1737360"/>
          </a:xfrm>
          <a:prstGeom prst="roundRect">
            <a:avLst>
              <a:gd name="adj" fmla="val 3684"/>
            </a:avLst>
          </a:prstGeom>
          <a:solidFill>
            <a:srgbClr val="E9F1FA"/>
          </a:solidFill>
          <a:ln/>
        </p:spPr>
      </p:sp>
      <p:sp>
        <p:nvSpPr>
          <p:cNvPr id="8" name="Text 6"/>
          <p:cNvSpPr/>
          <p:nvPr/>
        </p:nvSpPr>
        <p:spPr>
          <a:xfrm>
            <a:off x="2898648" y="137160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98648" y="1664208"/>
            <a:ext cx="1901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Golden-domain corpus onboarding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&amp; VN normalizer upkeep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hardening, evals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Compliance-team customer success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2770632" y="3172968"/>
            <a:ext cx="2157984" cy="1737360"/>
          </a:xfrm>
          <a:prstGeom prst="roundRect">
            <a:avLst>
              <a:gd name="adj" fmla="val 3684"/>
            </a:avLst>
          </a:prstGeom>
          <a:solidFill>
            <a:srgbClr val="E9F1FA"/>
          </a:solidFill>
          <a:ln/>
        </p:spPr>
      </p:sp>
      <p:sp>
        <p:nvSpPr>
          <p:cNvPr id="11" name="Text 9"/>
          <p:cNvSpPr/>
          <p:nvPr/>
        </p:nvSpPr>
        <p:spPr>
          <a:xfrm>
            <a:off x="2898648" y="324612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98648" y="3538728"/>
            <a:ext cx="1901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graph + deterministic patch engine (moat)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 + golden questions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SBV crawler · 97-test safety net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5038344" y="1298448"/>
            <a:ext cx="2157984" cy="3611880"/>
          </a:xfrm>
          <a:prstGeom prst="roundRect">
            <a:avLst>
              <a:gd name="adj" fmla="val 2966"/>
            </a:avLst>
          </a:prstGeom>
          <a:solidFill>
            <a:srgbClr val="F7EFD8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137160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66360" y="1664208"/>
            <a:ext cx="190195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Point-in-time-correct, auditable compliance answers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impact reports on regulatory change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Claim-level compliance checks of internal documents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h/day saved per officer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Inspection-ready evidence trails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7306056" y="1298448"/>
            <a:ext cx="2157984" cy="1737360"/>
          </a:xfrm>
          <a:prstGeom prst="roundRect">
            <a:avLst>
              <a:gd name="adj" fmla="val 3684"/>
            </a:avLst>
          </a:prstGeom>
          <a:solidFill>
            <a:srgbClr val="E9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7434072" y="137160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34072" y="1664208"/>
            <a:ext cx="1901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1 golden domain (~6 weeks)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license + SLA support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domains &amp; departments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7306056" y="3172968"/>
            <a:ext cx="2157984" cy="1737360"/>
          </a:xfrm>
          <a:prstGeom prst="roundRect">
            <a:avLst>
              <a:gd name="adj" fmla="val 3684"/>
            </a:avLst>
          </a:prstGeom>
          <a:solidFill>
            <a:srgbClr val="E9F1FA"/>
          </a:solidFill>
          <a:ln/>
        </p:spPr>
      </p:sp>
      <p:sp>
        <p:nvSpPr>
          <p:cNvPr id="20" name="Text 18"/>
          <p:cNvSpPr/>
          <p:nvPr/>
        </p:nvSpPr>
        <p:spPr>
          <a:xfrm>
            <a:off x="7434072" y="324612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34072" y="3538728"/>
            <a:ext cx="1901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B2B to Legal &amp; Compliance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Banks Association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VAIC / SHB showcase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Big-4 advisory referrals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9573768" y="1298448"/>
            <a:ext cx="2157984" cy="3611880"/>
          </a:xfrm>
          <a:prstGeom prst="roundRect">
            <a:avLst>
              <a:gd name="adj" fmla="val 2966"/>
            </a:avLst>
          </a:prstGeom>
          <a:solidFill>
            <a:srgbClr val="E9F1FA"/>
          </a:solidFill>
          <a:ln/>
        </p:spPr>
      </p:sp>
      <p:sp>
        <p:nvSpPr>
          <p:cNvPr id="23" name="Text 21"/>
          <p:cNvSpPr/>
          <p:nvPr/>
        </p:nvSpPr>
        <p:spPr>
          <a:xfrm>
            <a:off x="9701784" y="137160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701784" y="1664208"/>
            <a:ext cx="190195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credit institutions — start with joint-stock commercial banks (mid/large)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finance companies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securities, insurance, other regulated industries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502920" y="5047488"/>
            <a:ext cx="5504688" cy="1325880"/>
          </a:xfrm>
          <a:prstGeom prst="roundRect">
            <a:avLst>
              <a:gd name="adj" fmla="val 4828"/>
            </a:avLst>
          </a:prstGeom>
          <a:solidFill>
            <a:srgbClr val="D9E6F5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" y="5120640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936" y="5413248"/>
            <a:ext cx="5248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 · enterprise sales cycle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usage (structurally low: LLM only extracts &amp; explains)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security certification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6227064" y="5047488"/>
            <a:ext cx="5504688" cy="1325880"/>
          </a:xfrm>
          <a:prstGeom prst="roundRect">
            <a:avLst>
              <a:gd name="adj" fmla="val 4828"/>
            </a:avLst>
          </a:prstGeom>
          <a:solidFill>
            <a:srgbClr val="D9E6F5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5120640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55080" y="5413248"/>
            <a:ext cx="5248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platform license per institution (0.5–2 tỷ VND by size)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onboarding fee</a:t>
            </a:r>
            <a:endParaRPr lang="en-US" sz="840" dirty="0"/>
          </a:p>
          <a:p>
            <a:pPr marL="101600" indent="-101600">
              <a:lnSpc>
                <a:spcPct val="104000"/>
              </a:lnSpc>
              <a:spcAft>
                <a:spcPts val="200"/>
              </a:spcAft>
              <a:buSzPct val="100000"/>
              <a:buChar char="•"/>
            </a:pPr>
            <a:r>
              <a:rPr lang="en-US" sz="8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document-review packs (future: per-domain modules)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502920" y="652881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RegVault · VAIC 2026 · Check-point 1: Idea Evaluation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43000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PROJECT EVALUATION — CRITERION 3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Impact — safer banks, transferable AI governance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532120" cy="2286000"/>
          </a:xfrm>
          <a:prstGeom prst="roundRect">
            <a:avLst>
              <a:gd name="adj" fmla="val 2800"/>
            </a:avLst>
          </a:prstGeom>
          <a:solidFill>
            <a:srgbClr val="E9F1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72768"/>
            <a:ext cx="640080" cy="64008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6" name="Image 0" descr="icons/landmar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3278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007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FINANCIAL-SYSTEM SAFETY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the root cause SHB named: decisions made on outdated regulations</a:t>
            </a:r>
            <a:endParaRPr lang="en-US" sz="1030" dirty="0"/>
          </a:p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violations and fines · smoother SBV supervision</a:t>
            </a:r>
            <a:endParaRPr lang="en-US" sz="1030" dirty="0"/>
          </a:p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failures at banks propagate to the whole economy — prevention is systemic impact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6172200" y="1325880"/>
            <a:ext cx="5532120" cy="2286000"/>
          </a:xfrm>
          <a:prstGeom prst="roundRect">
            <a:avLst>
              <a:gd name="adj" fmla="val 2800"/>
            </a:avLst>
          </a:prstGeom>
          <a:solidFill>
            <a:srgbClr val="F7EFD8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572768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icons/clock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173278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7007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PRODUCTIVITY, QUANTIFIED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492240" y="230428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19,000 expert hours / year</a:t>
            </a:r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freed per mid-size bank (30 officers × 2.5 h/day, SHB estimate) ≈ 2.8 tỷ VND/year of expert time — redirected from manual cross-checking to judgment, before counting a single avoided fine.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02920" y="3794760"/>
            <a:ext cx="5532120" cy="2286000"/>
          </a:xfrm>
          <a:prstGeom prst="roundRect">
            <a:avLst>
              <a:gd name="adj" fmla="val 2800"/>
            </a:avLst>
          </a:prstGeom>
          <a:solidFill>
            <a:srgbClr val="E9F1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041648"/>
            <a:ext cx="640080" cy="64008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6" name="Image 2" descr="icons/gavel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201668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696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RESPONSIBLE-AI GOVERNANCE TEMPLATE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22960" y="480060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 proposes, human decides” + full audit trail — a reusable model for AI in high-stakes public domains: tax, customs, healthcare regulation</a:t>
            </a:r>
            <a:endParaRPr lang="en-US" sz="1030" dirty="0"/>
          </a:p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Vietnam’s national digital-transformation agenda</a:t>
            </a:r>
            <a:endParaRPr lang="en-US" sz="1030" dirty="0"/>
          </a:p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Trustworthy-AI pattern: abstain when evidence is missing, never guess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6172200" y="3794760"/>
            <a:ext cx="5532120" cy="2286000"/>
          </a:xfrm>
          <a:prstGeom prst="roundRect">
            <a:avLst>
              <a:gd name="adj" fmla="val 2800"/>
            </a:avLst>
          </a:prstGeom>
          <a:solidFill>
            <a:srgbClr val="E9F1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041648"/>
            <a:ext cx="640080" cy="64008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21" name="Image 3" descr="icons/boo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20166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169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SUSTAINABILITY &amp; ESG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492240" y="480060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knowledge stops living in senior officers’ heads — versions, changes and rationale preserved</a:t>
            </a:r>
            <a:endParaRPr lang="en-US" sz="1030" dirty="0"/>
          </a:p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onboarding · resilient to staff turnover · standardized organizational knowledge (SHB-requested benefit)</a:t>
            </a:r>
            <a:endParaRPr lang="en-US" sz="1030" dirty="0"/>
          </a:p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decision trails strengthen the “G” in ESG and inspection readiness</a:t>
            </a:r>
            <a:endParaRPr lang="en-US" sz="1030" dirty="0"/>
          </a:p>
        </p:txBody>
      </p:sp>
      <p:sp>
        <p:nvSpPr>
          <p:cNvPr id="24" name="Text 18"/>
          <p:cNvSpPr/>
          <p:nvPr/>
        </p:nvSpPr>
        <p:spPr>
          <a:xfrm>
            <a:off x="502920" y="652881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RegVault · VAIC 2026 · Check-point 1: Idea Evaluation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1143000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PROJECT EVALUATION — CRITERION 4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Size — PAM → TAM → SAM → SOM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4114800" cy="4114800"/>
          </a:xfrm>
          <a:prstGeom prst="ellipse">
            <a:avLst/>
          </a:prstGeom>
          <a:solidFill>
            <a:srgbClr val="E9F1FA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3154680"/>
            <a:ext cx="3017520" cy="3017520"/>
          </a:xfrm>
          <a:prstGeom prst="ellipse">
            <a:avLst/>
          </a:prstGeom>
          <a:solidFill>
            <a:srgbClr val="BFD5EC"/>
          </a:solidFill>
          <a:ln/>
        </p:spPr>
      </p:sp>
      <p:sp>
        <p:nvSpPr>
          <p:cNvPr id="6" name="Shape 4"/>
          <p:cNvSpPr/>
          <p:nvPr/>
        </p:nvSpPr>
        <p:spPr>
          <a:xfrm>
            <a:off x="1783080" y="4160520"/>
            <a:ext cx="2011680" cy="2011680"/>
          </a:xfrm>
          <a:prstGeom prst="ellipse">
            <a:avLst/>
          </a:prstGeom>
          <a:solidFill>
            <a:srgbClr val="8FB4DC"/>
          </a:solidFill>
          <a:ln/>
        </p:spPr>
      </p:sp>
      <p:sp>
        <p:nvSpPr>
          <p:cNvPr id="7" name="Shape 5"/>
          <p:cNvSpPr/>
          <p:nvPr/>
        </p:nvSpPr>
        <p:spPr>
          <a:xfrm>
            <a:off x="2221992" y="5038344"/>
            <a:ext cx="1133856" cy="113385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2167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7452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74520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21992" y="5303520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371600"/>
            <a:ext cx="713232" cy="36576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137160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12984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RegTech market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160020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US$22.3B (2026) → US$85.5B (2035), CAGR 16.1% — Asia-Pacific fastest-growing at ~18.5% (Precedence Research)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2487168"/>
            <a:ext cx="713232" cy="365760"/>
          </a:xfrm>
          <a:prstGeom prst="roundRect">
            <a:avLst>
              <a:gd name="adj" fmla="val 20000"/>
            </a:avLst>
          </a:prstGeom>
          <a:solidFill>
            <a:srgbClr val="10243E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24871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24140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~225 VN regulated financial institutions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2715768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banks + ~16 finance cos. + ~80 securities + ~80 insurers → (49 × 2 tỷ) + (176 × 0.5 tỷ) ≈ ~190 tỷ VND/yr (~US$7.5M)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3602736"/>
            <a:ext cx="713232" cy="365760"/>
          </a:xfrm>
          <a:prstGeom prst="roundRect">
            <a:avLst>
              <a:gd name="adj" fmla="val 20000"/>
            </a:avLst>
          </a:prstGeom>
          <a:solidFill>
            <a:srgbClr val="8FB4D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3602736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35295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institutions our channel can reach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3831336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domestic commercial banks + 16 finance companies × avg 1.5 tỷ VND/yr ≈ ~75 tỷ VND/yr (~US$3M)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4718304"/>
            <a:ext cx="713232" cy="36576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471830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46451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customers within 3 years (~20% of SAM)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37960" y="4946904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SHB pilot + 9 institutions × 1.5 tỷ VND ≈ ~15 tỷ VND/yr ARR (~US$600K)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5760720"/>
            <a:ext cx="6016752" cy="658368"/>
          </a:xfrm>
          <a:prstGeom prst="roundRect">
            <a:avLst>
              <a:gd name="adj" fmla="val 9722"/>
            </a:avLst>
          </a:prstGeom>
          <a:solidFill>
            <a:srgbClr val="F7EFD8"/>
          </a:solidFill>
          <a:ln/>
        </p:spPr>
      </p:sp>
      <p:sp>
        <p:nvSpPr>
          <p:cNvPr id="29" name="Text 27"/>
          <p:cNvSpPr/>
          <p:nvPr/>
        </p:nvSpPr>
        <p:spPr>
          <a:xfrm>
            <a:off x="5870448" y="583387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check: </a:t>
            </a:r>
            <a:pPr indent="0" marL="0">
              <a:buNone/>
            </a:pPr>
            <a:r>
              <a:rPr lang="en-US" sz="10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≈ 2.8 tỷ VND/yr per bank vs 1.5 tỷ license → ~1.9× ROI before any avoided fine.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6263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Precedence Research (2026) · bankervn.com bank registry 07/2026 · pricing &amp; team-size assumptions stated in report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" y="652881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RegVault · VAIC 2026 · Check-point 1: Idea Evaluation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43000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PROJECT EVALUATION — CRITERION 5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Scale-up — the engine scales by adding data, not code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743200" cy="2651760"/>
          </a:xfrm>
          <a:prstGeom prst="roundRect">
            <a:avLst>
              <a:gd name="adj" fmla="val 2414"/>
            </a:avLst>
          </a:prstGeom>
          <a:solidFill>
            <a:srgbClr val="F7EFD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SHB pilot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50592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golden domain (credit), deep</a:t>
            </a:r>
            <a:endParaRPr lang="en-US" sz="940" dirty="0"/>
          </a:p>
          <a:p>
            <a:pPr marL="101600" indent="-1016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Inspection-ready evidence trails</a:t>
            </a:r>
            <a:endParaRPr lang="en-US" sz="940" dirty="0"/>
          </a:p>
          <a:p>
            <a:pPr marL="101600" indent="-1016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via our benchmark harness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364992" y="1325880"/>
            <a:ext cx="2743200" cy="2651760"/>
          </a:xfrm>
          <a:prstGeom prst="roundRect">
            <a:avLst>
              <a:gd name="adj" fmla="val 2414"/>
            </a:avLst>
          </a:prstGeom>
          <a:solidFill>
            <a:srgbClr val="E9F1FA"/>
          </a:solidFill>
          <a:ln/>
        </p:spPr>
      </p:sp>
      <p:sp>
        <p:nvSpPr>
          <p:cNvPr id="10" name="Shape 8"/>
          <p:cNvSpPr/>
          <p:nvPr/>
        </p:nvSpPr>
        <p:spPr>
          <a:xfrm>
            <a:off x="3547872" y="15087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10243E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5087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47872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Vietnamese banking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47872" y="2450592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institutions (SOM target)</a:t>
            </a:r>
            <a:endParaRPr lang="en-US" sz="940" dirty="0"/>
          </a:p>
          <a:p>
            <a:pPr marL="101600" indent="-1016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domains: FX, AML, capital</a:t>
            </a:r>
            <a:endParaRPr lang="en-US" sz="940" dirty="0"/>
          </a:p>
          <a:p>
            <a:pPr marL="101600" indent="-1016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scans · DOCX/PDF export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6227064" y="1325880"/>
            <a:ext cx="2743200" cy="2651760"/>
          </a:xfrm>
          <a:prstGeom prst="roundRect">
            <a:avLst>
              <a:gd name="adj" fmla="val 2414"/>
            </a:avLst>
          </a:prstGeom>
          <a:solidFill>
            <a:srgbClr val="E9F1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9944" y="15087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10243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9944" y="15087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9944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Regulated verticals VN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9944" y="2450592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Securities, insurance, pharma, energy</a:t>
            </a:r>
            <a:endParaRPr lang="en-US" sz="940" dirty="0"/>
          </a:p>
          <a:p>
            <a:pPr marL="101600" indent="-1016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— new corpora</a:t>
            </a:r>
            <a:endParaRPr lang="en-US" sz="940" dirty="0"/>
          </a:p>
          <a:p>
            <a:pPr marL="101600" indent="-1016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Per-document review API pricing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9089136" y="1325880"/>
            <a:ext cx="2743200" cy="2651760"/>
          </a:xfrm>
          <a:prstGeom prst="roundRect">
            <a:avLst>
              <a:gd name="adj" fmla="val 2414"/>
            </a:avLst>
          </a:prstGeom>
          <a:solidFill>
            <a:srgbClr val="E9F1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272016" y="15087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10243E"/>
          </a:solidFill>
          <a:ln/>
        </p:spPr>
      </p:sp>
      <p:sp>
        <p:nvSpPr>
          <p:cNvPr id="21" name="Text 19"/>
          <p:cNvSpPr/>
          <p:nvPr/>
        </p:nvSpPr>
        <p:spPr>
          <a:xfrm>
            <a:off x="9272016" y="15087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72016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ASEAN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72016" y="2450592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Language-agnostic core</a:t>
            </a:r>
            <a:endParaRPr lang="en-US" sz="940" dirty="0"/>
          </a:p>
          <a:p>
            <a:pPr marL="101600" indent="-1016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normalizer + parser patterns</a:t>
            </a:r>
            <a:endParaRPr lang="en-US" sz="940" dirty="0"/>
          </a:p>
          <a:p>
            <a:pPr marL="101600" indent="-1016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= fastest RegTech region (18.5%)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502920" y="4251960"/>
            <a:ext cx="5532120" cy="2057400"/>
          </a:xfrm>
          <a:prstGeom prst="roundRect">
            <a:avLst>
              <a:gd name="adj" fmla="val 3111"/>
            </a:avLst>
          </a:prstGeom>
          <a:solidFill>
            <a:srgbClr val="10243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4348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SCALES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47548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 new bank or domain = new documents through Workflow A — no new engineering</a:t>
            </a:r>
            <a:endParaRPr lang="en-US" sz="1000" dirty="0"/>
          </a:p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separation (authority / policy / review workspace) · outbox sync · PostgreSQL as source of truth</a:t>
            </a:r>
            <a:endParaRPr lang="en-US" sz="1000" dirty="0"/>
          </a:p>
          <a:p>
            <a:pPr marL="101600" indent="-101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per-bank on-premise or multi-tenant SaaS from one codebase · LLM-provider-agnostic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4251960"/>
            <a:ext cx="5532120" cy="2057400"/>
          </a:xfrm>
          <a:prstGeom prst="roundRect">
            <a:avLst>
              <a:gd name="adj" fmla="val 3111"/>
            </a:avLst>
          </a:prstGeom>
          <a:solidFill>
            <a:srgbClr val="E9F1FA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44348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CORE SCALE-UP PRIORITIES — COVERED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46520" y="4754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 </a:t>
            </a:r>
            <a:pPr indent="0" marL="0">
              <a:buNone/>
            </a:pPr>
            <a:r>
              <a:rPr lang="en-US" sz="93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compliance-first vertical AI; auditability = moat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6446520" y="50109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 </a:t>
            </a:r>
            <a:pPr indent="0" marL="0">
              <a:buNone/>
            </a:pPr>
            <a:r>
              <a:rPr lang="en-US" sz="93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headroom — every regulated industry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6446520" y="52669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People:  </a:t>
            </a:r>
            <a:pPr indent="0" marL="0">
              <a:buNone/>
            </a:pPr>
            <a:r>
              <a:rPr lang="en-US" sz="93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SMEs paired with AI engineers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6446520" y="55229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 </a:t>
            </a:r>
            <a:pPr indent="0" marL="0">
              <a:buNone/>
            </a:pPr>
            <a:r>
              <a:rPr lang="en-US" sz="93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· storage- &amp; LLM-agnostic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6446520" y="57790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  </a:t>
            </a:r>
            <a:pPr indent="0" marL="0">
              <a:buNone/>
            </a:pPr>
            <a:r>
              <a:rPr lang="en-US" sz="93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pilot→license playbook (~6 weeks)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6446520" y="6035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 </a:t>
            </a:r>
            <a:pPr indent="0" marL="0">
              <a:buNone/>
            </a:pPr>
            <a:r>
              <a:rPr lang="en-US" sz="93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+ implementation fees fund expansion; LLM cost structurally low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502920" y="652881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RegVault · VAIC 2026 · Check-point 1: Idea Evaluation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43000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MEASURED — AND LIMITS, STATED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21208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Head-to-head vs Standard RAG (22 golden questions)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58521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1280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(LLM-independent)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RegVault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Point-in-time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Cross-reference 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Stale-policy detection 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Superseded-evidence rate (lower = better)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Abstention accuracy (refuse when no evidence)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262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metrics are decided by deterministic code + graph — they hold regardless of which LLM writes the prose. Reproduce: python -m eval.run_eval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5257800"/>
            <a:ext cx="5852160" cy="1051560"/>
          </a:xfrm>
          <a:prstGeom prst="roundRect">
            <a:avLst>
              <a:gd name="adj" fmla="val 6087"/>
            </a:avLst>
          </a:prstGeom>
          <a:solidFill>
            <a:srgbClr val="E9F1F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413248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 deterministic acceptance checks pass live: </a:t>
            </a:r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answers, correct citations, abstention, conflict flag (700 vs 600), stale-policy radar, head-to-head.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6720840" y="1417320"/>
            <a:ext cx="4965192" cy="4892040"/>
          </a:xfrm>
          <a:prstGeom prst="roundRect">
            <a:avLst>
              <a:gd name="adj" fmla="val 1308"/>
            </a:avLst>
          </a:prstGeom>
          <a:solidFill>
            <a:srgbClr val="10243E"/>
          </a:solidFill>
          <a:ln/>
        </p:spPr>
      </p:sp>
      <p:sp>
        <p:nvSpPr>
          <p:cNvPr id="9" name="Text 6"/>
          <p:cNvSpPr/>
          <p:nvPr/>
        </p:nvSpPr>
        <p:spPr>
          <a:xfrm>
            <a:off x="7022592" y="1627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NOT CLAIM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22592" y="2057400"/>
            <a:ext cx="4389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“GraphRAG chatbot” — a compliance workflow platform</a:t>
            </a:r>
            <a:endParaRPr lang="en-US" sz="1030" dirty="0"/>
          </a:p>
          <a:p>
            <a:pPr marL="101600" indent="-101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final legal conclusions: AI proposes, the Compliance Officer decides</a:t>
            </a:r>
            <a:endParaRPr lang="en-US" sz="1030" dirty="0"/>
          </a:p>
          <a:p>
            <a:pPr marL="101600" indent="-101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files are never auto-added to the knowledge base</a:t>
            </a:r>
            <a:endParaRPr lang="en-US" sz="1030" dirty="0"/>
          </a:p>
          <a:p>
            <a:pPr marL="101600" indent="-101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&amp; impact outputs are candidates for human review, not verdicts</a:t>
            </a:r>
            <a:endParaRPr lang="en-US" sz="1030" dirty="0"/>
          </a:p>
          <a:p>
            <a:pPr marL="101600" indent="-101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Generation-dependent benchmark numbers were measured with an offline mock LLM — a lower bound, stated honestly</a:t>
            </a:r>
            <a:endParaRPr lang="en-US" sz="1030" dirty="0"/>
          </a:p>
          <a:p>
            <a:pPr marL="101600" indent="-101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limits: OCR for old scanned fonts pending · purely semantic claims route to human review · DOCX/PDF export on roadmap</a:t>
            </a:r>
            <a:endParaRPr lang="en-US" sz="1030" dirty="0"/>
          </a:p>
        </p:txBody>
      </p:sp>
      <p:sp>
        <p:nvSpPr>
          <p:cNvPr id="11" name="Text 8"/>
          <p:cNvSpPr/>
          <p:nvPr/>
        </p:nvSpPr>
        <p:spPr>
          <a:xfrm>
            <a:off x="7022592" y="5897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 about limits is itself a compliance feature.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652881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RegVault · VAIC 2026 · Check-point 1: Idea Evaluation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430000" y="6528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0136" y="868680"/>
            <a:ext cx="868680" cy="8686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icons/shield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2" y="1088136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057400"/>
            <a:ext cx="9811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flow verifies regulations before they enter the vault.</a:t>
            </a:r>
            <a:endParaRPr lang="en-US" sz="2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flow uses the verified vault to check every policy and report.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828800" y="3429000"/>
            <a:ext cx="8531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FD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 becomes ground truth just because it was uploaded — and every answer can face an auditor.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880360" y="4343400"/>
            <a:ext cx="6428232" cy="777240"/>
          </a:xfrm>
          <a:prstGeom prst="roundRect">
            <a:avLst>
              <a:gd name="adj" fmla="val 11765"/>
            </a:avLst>
          </a:prstGeom>
          <a:solidFill>
            <a:srgbClr val="C9A227"/>
          </a:solidFill>
          <a:ln/>
        </p:spPr>
      </p:sp>
      <p:sp>
        <p:nvSpPr>
          <p:cNvPr id="7" name="Text 4"/>
          <p:cNvSpPr/>
          <p:nvPr/>
        </p:nvSpPr>
        <p:spPr>
          <a:xfrm>
            <a:off x="2880360" y="4343400"/>
            <a:ext cx="6428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pilot with SHB: one golden domain, inspection-ready, in 6 weeks.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88720" y="5989320"/>
            <a:ext cx="9811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REGVAULT  ·  VAIC 2026  ·  PROBLEM SHB1          Live demo: runs offline — no Docker, no API keys  ·  97 tests  ·  python -m eval.run_eval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2026-07-18T10:25:22Z</dcterms:created>
  <dcterms:modified xsi:type="dcterms:W3CDTF">2026-07-18T10:25:22Z</dcterms:modified>
</cp:coreProperties>
</file>